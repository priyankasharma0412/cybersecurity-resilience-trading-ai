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82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322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stating the dissertation title and the central claim: this work is not only about predicting downside risk, but about evaluating whether a financial AI system remains useful when market conditions become disturbed. The claim supported by the full presentation is that an integrated pipeline reveals strengths and failure modes that a single headline metric would hide. Link forward by telling the examiner that the talk follows the dissertation chapter by chapter.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control the room early. Explain that the structure mirrors the dissertation: first the problem, then the research design, then the evidence, then the evaluation and conclusion. The most important defence decision is that Chapter 4 receives the largest share of time because the examiner will care most about what the system actually achieved. Link forward by moving into the research problem.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from the need, not from the code. The research problem is that financial AI can appear successful under ordinary metrics while still being unsafe or unhelpful when rare events matter most. State the three questions clearly because the rest of the defence answers them one by one. The slide supports the claim that the dissertation is evaluative, not merely a model-building exercise. Link forward by explaining what the literature had already solved and what it still left fragmented.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replaces the earlier mistake of showing a methodology pipeline in the literature-review section. Explain that Chapter 2 finds many useful strands in prior work, but the gap is their separation. The matrix on the right is used as a conceptual bridge: each research question maps to an evaluation layer and to evidence later produced in Chapter 4. A likely challenge is whether this is really novel; answer that the contribution is not a brand-new classifier, but the integrated evaluation of prediction, alerts, robustness, explanations, and governance-relevant artefacts. Link forward by showing how the methodology was built to close that gap.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correct home for Figure 3.1. Walk through the pipeline from market data to feature engineering, model training, alert generation, robustness testing, explainability, and governance artefacts. Emphasise that each later result is produced from the same pipeline, which prevents disconnected claims. The slide supports the methodological integrity of the study. Link forward by zooming into the data, target, and chronological split.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this in beginner-friendly language if asked: the system learns from earlier dates and is tested on later dates, just as it would be in practice. That is what chronological split means, and it avoids accidentally letting the model learn from the future. The left visual shows how raw market records become engineered features; the right visual shows the target distribution and split used in the experiment. Link forward by explaining the model families and the evaluation design.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how the dissertation moves beyond one model and one score. The left figure distinguishes supervised and event-detection mechanisms; the right figure shows the six-part robustness evaluation. If challenged on why so many tests were needed, answer that a financial AI system can fail in more than one way: it may misclassify, degrade under noise, become unstable in its explanations, or trigger poor operational behaviour. Link forward into the results chapter, where these tests begin with the baseline models.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main lesson: for imbalanced downside-risk classification, accuracy is the wrong headline metric. Logistic Regression found 764 of 1,025 test events with recall 0.745, while Random Forest achieved high accuracy but only 0.006 recall, meaning it nearly ignored the events that mattered most. This slide supports RQ1 and justifies the later threshold and alert analysis. A likely challenge is whether the weaker model should be discarded; answer that the result demonstrates why evaluation must be aligned to operational risk, not cosmetic accuracy. Link forward by showing how alert fusion turns model outputs into visible decisions.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makes the alert system tangible. Explain that alerting is not based solely on the five-day fall label; the system combines model outputs, anomaly evidence, and alert logic. The left workflow shows the operational process, and the right plot demonstrates real flagged instances on a stock chart. Fusion OR reached 0.957 recall, while consensus produced a more selective F1 of 0.357, so the trade-off is coverage versus alert burden. Link forward by asking the next defence question: what happens when the environment is deliberately disturbed?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show that robustness was actively tested rather than claimed. The first two figures show F1 degradation under noisy and stressed conditions; the workflow figure explains how the adversarial and defence logic fits into the evaluation. This supports RQ3 by demonstrating what changes when data quality or market behaviour worsens. If challenged on whether the model is robust, answer precisely: it is only partially robust, and the dissertation's value is that it quantifies the degradation instead of hiding it. Link forward by moving from output stability to explanation stability and monitoring over time.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 technically correct prediction is still not enough if the explanation becomes unreliable, the alert arrives too late, or the model quietly drifts after deployment. These three evaluations extend the dissertation from model performance into operational usefulness. The slide supports the broader RQ3 argument that robustness includes explanation stability and monitoring, not only classification scores. Link forward by showing how the dissertation also considered hostile cyber scenarios and implementation coverage.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protects you from an examiner treating the dissertation as only a stock-prediction exercise. It shows that cyber-resilience scenarios and implementation coverage were explicitly considered. The important distinction is that the work delivers a functional research prototype and deployment-ready artefacts, not a production-authorised trading system. A likely challenge is overclaiming readiness; answer that the dissertation itself states further engineering, validation, and governance are required. Link forward by summarising the findings against the three research questions.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your synthesis slide. Answer the research questions directly rather than leaving the examiner to infer the answer. RQ1 is supported, but only when the right metrics are used. RQ2 is supported because alert fusion improves suspicious-behaviour coverage, though the precision burden remains. RQ3 is only partly positive because the system remains evaluable under disturbance, but the tests also reveal degradation. The dissertation's broader implication is that financial AI evaluation must be multidimensional. Link forward into the conclusion, contribution, limitations, and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Conclude with balance. State the contribution clearly, but also state the boundaries clearly so the examiner does not need to force them out of you. The work contributes an integrated evaluation framework and concrete artefacts, but it is limited by data scope and by prototype status. The recommendations follow directly from the evidence: use recall-sensitive metrics, maintain drift monitoring, and preserve human review. Link forward to the final closing slide.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cleanly. If the examiner opens with a broad question, return to the defence anchor on the slide: prediction, alerting, degradation, and trust. This final slide does not introduce new evidence; it gives the room one concise sentence to remember.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49808"/>
            <a:ext cx="9875520" cy="713232"/>
          </a:xfrm>
          <a:prstGeom prst="rect">
            <a:avLst/>
          </a:prstGeom>
          <a:noFill/>
        </p:spPr>
        <p:txBody>
          <a:bodyPr wrap="square">
            <a:spAutoFit/>
          </a:bodyPr>
          <a:lstStyle/>
          <a:p>
            <a:pPr algn="l"/>
            <a:r>
              <a:rPr sz="2800" b="1">
                <a:solidFill>
                  <a:srgbClr val="FFFFFF"/>
                </a:solidFill>
                <a:latin typeface="Aptos"/>
              </a:rPr>
              <a:t>Financial AI Robustness Evaluation</a:t>
            </a:r>
          </a:p>
        </p:txBody>
      </p:sp>
      <p:sp>
        <p:nvSpPr>
          <p:cNvPr id="4" name="TextBox 3"/>
          <p:cNvSpPr txBox="1"/>
          <p:nvPr/>
        </p:nvSpPr>
        <p:spPr>
          <a:xfrm>
            <a:off x="640080" y="1572768"/>
            <a:ext cx="9784080" cy="731520"/>
          </a:xfrm>
          <a:prstGeom prst="rect">
            <a:avLst/>
          </a:prstGeom>
          <a:noFill/>
        </p:spPr>
        <p:txBody>
          <a:bodyPr wrap="square">
            <a:spAutoFit/>
          </a:bodyPr>
          <a:lstStyle/>
          <a:p>
            <a:pPr algn="l"/>
            <a:r>
              <a:rPr sz="1900" b="0">
                <a:solidFill>
                  <a:srgbClr val="FFFFFF"/>
                </a:solidFill>
                <a:latin typeface="Aptos"/>
              </a:rPr>
              <a:t>An integrated framework for downside-risk prediction, alert fusion, robustness, explainability, and cyber resilience</a:t>
            </a:r>
          </a:p>
        </p:txBody>
      </p:sp>
      <p:sp>
        <p:nvSpPr>
          <p:cNvPr id="5" name="Rectangle 4"/>
          <p:cNvSpPr/>
          <p:nvPr/>
        </p:nvSpPr>
        <p:spPr>
          <a:xfrm>
            <a:off x="640080" y="2487168"/>
            <a:ext cx="292608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761488"/>
            <a:ext cx="4754880" cy="292608"/>
          </a:xfrm>
          <a:prstGeom prst="rect">
            <a:avLst/>
          </a:prstGeom>
          <a:noFill/>
        </p:spPr>
        <p:txBody>
          <a:bodyPr wrap="square">
            <a:spAutoFit/>
          </a:bodyPr>
          <a:lstStyle/>
          <a:p>
            <a:pPr algn="l"/>
            <a:r>
              <a:rPr sz="1500" b="1">
                <a:solidFill>
                  <a:srgbClr val="D6DFEC"/>
                </a:solidFill>
                <a:latin typeface="Aptos"/>
              </a:rPr>
              <a:t>Dissertation defence presentation</a:t>
            </a:r>
          </a:p>
        </p:txBody>
      </p:sp>
      <p:sp>
        <p:nvSpPr>
          <p:cNvPr id="7" name="TextBox 6"/>
          <p:cNvSpPr txBox="1"/>
          <p:nvPr/>
        </p:nvSpPr>
        <p:spPr>
          <a:xfrm>
            <a:off x="640080" y="5321808"/>
            <a:ext cx="2743200" cy="274320"/>
          </a:xfrm>
          <a:prstGeom prst="rect">
            <a:avLst/>
          </a:prstGeom>
          <a:noFill/>
        </p:spPr>
        <p:txBody>
          <a:bodyPr wrap="square">
            <a:spAutoFit/>
          </a:bodyPr>
          <a:lstStyle/>
          <a:p>
            <a:pPr algn="l"/>
            <a:r>
              <a:rPr sz="1600" b="1">
                <a:solidFill>
                  <a:srgbClr val="FFFFFF"/>
                </a:solidFill>
                <a:latin typeface="Aptos"/>
              </a:rPr>
              <a:t>Priyanka</a:t>
            </a:r>
          </a:p>
        </p:txBody>
      </p:sp>
      <p:sp>
        <p:nvSpPr>
          <p:cNvPr id="8" name="TextBox 7"/>
          <p:cNvSpPr txBox="1"/>
          <p:nvPr/>
        </p:nvSpPr>
        <p:spPr>
          <a:xfrm>
            <a:off x="640080" y="5650992"/>
            <a:ext cx="3840480" cy="219456"/>
          </a:xfrm>
          <a:prstGeom prst="rect">
            <a:avLst/>
          </a:prstGeom>
          <a:noFill/>
        </p:spPr>
        <p:txBody>
          <a:bodyPr wrap="square">
            <a:spAutoFit/>
          </a:bodyPr>
          <a:lstStyle/>
          <a:p>
            <a:pPr algn="l"/>
            <a:r>
              <a:rPr sz="1200" b="0">
                <a:solidFill>
                  <a:srgbClr val="D6DFEC"/>
                </a:solidFill>
                <a:latin typeface="Aptos"/>
              </a:rPr>
              <a:t>Chapter-wise defence deck</a:t>
            </a:r>
          </a:p>
        </p:txBody>
      </p:sp>
      <p:sp>
        <p:nvSpPr>
          <p:cNvPr id="9" name="TextBox 8"/>
          <p:cNvSpPr txBox="1"/>
          <p:nvPr/>
        </p:nvSpPr>
        <p:spPr>
          <a:xfrm>
            <a:off x="8732520" y="5650992"/>
            <a:ext cx="2743200" cy="219456"/>
          </a:xfrm>
          <a:prstGeom prst="rect">
            <a:avLst/>
          </a:prstGeom>
          <a:noFill/>
        </p:spPr>
        <p:txBody>
          <a:bodyPr wrap="square">
            <a:spAutoFit/>
          </a:bodyPr>
          <a:lstStyle/>
          <a:p>
            <a:pPr algn="r"/>
            <a:r>
              <a:rPr sz="1200" b="0">
                <a:solidFill>
                  <a:srgbClr val="D6DFEC"/>
                </a:solidFill>
                <a:latin typeface="Aptos"/>
              </a:rPr>
              <a:t>15-slide academic presentation</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Roadmap</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How the defence is organised</a:t>
            </a:r>
          </a:p>
        </p:txBody>
      </p:sp>
      <p:sp>
        <p:nvSpPr>
          <p:cNvPr id="4" name="Rectangle 3"/>
          <p:cNvSpPr/>
          <p:nvPr/>
        </p:nvSpPr>
        <p:spPr>
          <a:xfrm>
            <a:off x="502920" y="1225296"/>
            <a:ext cx="1110996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dissertation is presented in the same order as the written work.</a:t>
            </a:r>
          </a:p>
        </p:txBody>
      </p:sp>
      <p:sp>
        <p:nvSpPr>
          <p:cNvPr id="6" name="Rounded Rectangle 5"/>
          <p:cNvSpPr/>
          <p:nvPr/>
        </p:nvSpPr>
        <p:spPr>
          <a:xfrm>
            <a:off x="685800" y="1828800"/>
            <a:ext cx="2331720" cy="2103120"/>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 y="1993392"/>
            <a:ext cx="320040" cy="320040"/>
          </a:xfrm>
          <a:prstGeom prst="rect">
            <a:avLst/>
          </a:prstGeom>
          <a:noFill/>
        </p:spPr>
        <p:txBody>
          <a:bodyPr wrap="square">
            <a:spAutoFit/>
          </a:bodyPr>
          <a:lstStyle/>
          <a:p>
            <a:pPr algn="l"/>
            <a:r>
              <a:rPr sz="2200" b="1">
                <a:solidFill>
                  <a:srgbClr val="29628E"/>
                </a:solidFill>
                <a:latin typeface="Aptos"/>
              </a:rPr>
              <a:t>1</a:t>
            </a:r>
          </a:p>
        </p:txBody>
      </p:sp>
      <p:sp>
        <p:nvSpPr>
          <p:cNvPr id="8" name="TextBox 7"/>
          <p:cNvSpPr txBox="1"/>
          <p:nvPr/>
        </p:nvSpPr>
        <p:spPr>
          <a:xfrm>
            <a:off x="832104" y="2432304"/>
            <a:ext cx="1920240" cy="274320"/>
          </a:xfrm>
          <a:prstGeom prst="rect">
            <a:avLst/>
          </a:prstGeom>
          <a:noFill/>
        </p:spPr>
        <p:txBody>
          <a:bodyPr wrap="square">
            <a:spAutoFit/>
          </a:bodyPr>
          <a:lstStyle/>
          <a:p>
            <a:pPr algn="l"/>
            <a:r>
              <a:rPr sz="1800" b="1">
                <a:solidFill>
                  <a:srgbClr val="12253F"/>
                </a:solidFill>
                <a:latin typeface="Aptos"/>
              </a:rPr>
              <a:t>Problem</a:t>
            </a:r>
          </a:p>
        </p:txBody>
      </p:sp>
      <p:sp>
        <p:nvSpPr>
          <p:cNvPr id="9" name="TextBox 8"/>
          <p:cNvSpPr txBox="1"/>
          <p:nvPr/>
        </p:nvSpPr>
        <p:spPr>
          <a:xfrm>
            <a:off x="832104" y="2889504"/>
            <a:ext cx="1920240" cy="694944"/>
          </a:xfrm>
          <a:prstGeom prst="rect">
            <a:avLst/>
          </a:prstGeom>
          <a:noFill/>
        </p:spPr>
        <p:txBody>
          <a:bodyPr wrap="square">
            <a:spAutoFit/>
          </a:bodyPr>
          <a:lstStyle/>
          <a:p>
            <a:pPr algn="l"/>
            <a:r>
              <a:rPr sz="1400" b="0">
                <a:solidFill>
                  <a:srgbClr val="1F2B3D"/>
                </a:solidFill>
                <a:latin typeface="Aptos"/>
              </a:rPr>
              <a:t>Aim, gap, research questions</a:t>
            </a:r>
          </a:p>
        </p:txBody>
      </p:sp>
      <p:sp>
        <p:nvSpPr>
          <p:cNvPr id="10" name="Rounded Rectangle 9"/>
          <p:cNvSpPr/>
          <p:nvPr/>
        </p:nvSpPr>
        <p:spPr>
          <a:xfrm>
            <a:off x="3520440" y="1828800"/>
            <a:ext cx="2331720" cy="2103120"/>
          </a:xfrm>
          <a:prstGeom prst="roundRect">
            <a:avLst/>
          </a:prstGeom>
          <a:solidFill>
            <a:srgbClr val="FFFFFF"/>
          </a:solidFill>
          <a:ln>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66744" y="1993392"/>
            <a:ext cx="320040" cy="320040"/>
          </a:xfrm>
          <a:prstGeom prst="rect">
            <a:avLst/>
          </a:prstGeom>
          <a:noFill/>
        </p:spPr>
        <p:txBody>
          <a:bodyPr wrap="square">
            <a:spAutoFit/>
          </a:bodyPr>
          <a:lstStyle/>
          <a:p>
            <a:pPr algn="l"/>
            <a:r>
              <a:rPr sz="2200" b="1">
                <a:solidFill>
                  <a:srgbClr val="1C847E"/>
                </a:solidFill>
                <a:latin typeface="Aptos"/>
              </a:rPr>
              <a:t>2</a:t>
            </a:r>
          </a:p>
        </p:txBody>
      </p:sp>
      <p:sp>
        <p:nvSpPr>
          <p:cNvPr id="12" name="TextBox 11"/>
          <p:cNvSpPr txBox="1"/>
          <p:nvPr/>
        </p:nvSpPr>
        <p:spPr>
          <a:xfrm>
            <a:off x="3666744" y="2432304"/>
            <a:ext cx="1920240" cy="274320"/>
          </a:xfrm>
          <a:prstGeom prst="rect">
            <a:avLst/>
          </a:prstGeom>
          <a:noFill/>
        </p:spPr>
        <p:txBody>
          <a:bodyPr wrap="square">
            <a:spAutoFit/>
          </a:bodyPr>
          <a:lstStyle/>
          <a:p>
            <a:pPr algn="l"/>
            <a:r>
              <a:rPr sz="1800" b="1">
                <a:solidFill>
                  <a:srgbClr val="12253F"/>
                </a:solidFill>
                <a:latin typeface="Aptos"/>
              </a:rPr>
              <a:t>Method</a:t>
            </a:r>
          </a:p>
        </p:txBody>
      </p:sp>
      <p:sp>
        <p:nvSpPr>
          <p:cNvPr id="13" name="TextBox 12"/>
          <p:cNvSpPr txBox="1"/>
          <p:nvPr/>
        </p:nvSpPr>
        <p:spPr>
          <a:xfrm>
            <a:off x="3666744" y="2889504"/>
            <a:ext cx="1920240" cy="694944"/>
          </a:xfrm>
          <a:prstGeom prst="rect">
            <a:avLst/>
          </a:prstGeom>
          <a:noFill/>
        </p:spPr>
        <p:txBody>
          <a:bodyPr wrap="square">
            <a:spAutoFit/>
          </a:bodyPr>
          <a:lstStyle/>
          <a:p>
            <a:pPr algn="l"/>
            <a:r>
              <a:rPr sz="1400" b="0">
                <a:solidFill>
                  <a:srgbClr val="1F2B3D"/>
                </a:solidFill>
                <a:latin typeface="Aptos"/>
              </a:rPr>
              <a:t>Data, features, models, evaluation design</a:t>
            </a:r>
          </a:p>
        </p:txBody>
      </p:sp>
      <p:sp>
        <p:nvSpPr>
          <p:cNvPr id="14" name="Rounded Rectangle 13"/>
          <p:cNvSpPr/>
          <p:nvPr/>
        </p:nvSpPr>
        <p:spPr>
          <a:xfrm>
            <a:off x="6355080" y="1828800"/>
            <a:ext cx="2331720" cy="2103120"/>
          </a:xfrm>
          <a:prstGeom prst="roundRect">
            <a:avLst/>
          </a:prstGeom>
          <a:solidFill>
            <a:srgbClr val="FFFFFF"/>
          </a:solidFill>
          <a:ln>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993392"/>
            <a:ext cx="320040" cy="320040"/>
          </a:xfrm>
          <a:prstGeom prst="rect">
            <a:avLst/>
          </a:prstGeom>
          <a:noFill/>
        </p:spPr>
        <p:txBody>
          <a:bodyPr wrap="square">
            <a:spAutoFit/>
          </a:bodyPr>
          <a:lstStyle/>
          <a:p>
            <a:pPr algn="l"/>
            <a:r>
              <a:rPr sz="2200" b="1">
                <a:solidFill>
                  <a:srgbClr val="BB8420"/>
                </a:solidFill>
                <a:latin typeface="Aptos"/>
              </a:rPr>
              <a:t>3</a:t>
            </a:r>
          </a:p>
        </p:txBody>
      </p:sp>
      <p:sp>
        <p:nvSpPr>
          <p:cNvPr id="16" name="TextBox 15"/>
          <p:cNvSpPr txBox="1"/>
          <p:nvPr/>
        </p:nvSpPr>
        <p:spPr>
          <a:xfrm>
            <a:off x="6501384" y="2432304"/>
            <a:ext cx="1920240" cy="274320"/>
          </a:xfrm>
          <a:prstGeom prst="rect">
            <a:avLst/>
          </a:prstGeom>
          <a:noFill/>
        </p:spPr>
        <p:txBody>
          <a:bodyPr wrap="square">
            <a:spAutoFit/>
          </a:bodyPr>
          <a:lstStyle/>
          <a:p>
            <a:pPr algn="l"/>
            <a:r>
              <a:rPr sz="1800" b="1">
                <a:solidFill>
                  <a:srgbClr val="12253F"/>
                </a:solidFill>
                <a:latin typeface="Aptos"/>
              </a:rPr>
              <a:t>Results</a:t>
            </a:r>
          </a:p>
        </p:txBody>
      </p:sp>
      <p:sp>
        <p:nvSpPr>
          <p:cNvPr id="17" name="TextBox 16"/>
          <p:cNvSpPr txBox="1"/>
          <p:nvPr/>
        </p:nvSpPr>
        <p:spPr>
          <a:xfrm>
            <a:off x="6501384" y="2889504"/>
            <a:ext cx="1920240" cy="694944"/>
          </a:xfrm>
          <a:prstGeom prst="rect">
            <a:avLst/>
          </a:prstGeom>
          <a:noFill/>
        </p:spPr>
        <p:txBody>
          <a:bodyPr wrap="square">
            <a:spAutoFit/>
          </a:bodyPr>
          <a:lstStyle/>
          <a:p>
            <a:pPr algn="l"/>
            <a:r>
              <a:rPr sz="1400" b="0">
                <a:solidFill>
                  <a:srgbClr val="1F2B3D"/>
                </a:solidFill>
                <a:latin typeface="Aptos"/>
              </a:rPr>
              <a:t>Performance, alerts, robustness, explainability</a:t>
            </a:r>
          </a:p>
        </p:txBody>
      </p:sp>
      <p:sp>
        <p:nvSpPr>
          <p:cNvPr id="18" name="Rounded Rectangle 17"/>
          <p:cNvSpPr/>
          <p:nvPr/>
        </p:nvSpPr>
        <p:spPr>
          <a:xfrm>
            <a:off x="9189720" y="1828800"/>
            <a:ext cx="2331720" cy="2103120"/>
          </a:xfrm>
          <a:prstGeom prst="roundRect">
            <a:avLst/>
          </a:prstGeom>
          <a:solidFill>
            <a:srgbClr val="FFFFFF"/>
          </a:solidFill>
          <a:ln>
            <a:solidFill>
              <a:srgbClr val="B2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36024" y="1993392"/>
            <a:ext cx="320040" cy="320040"/>
          </a:xfrm>
          <a:prstGeom prst="rect">
            <a:avLst/>
          </a:prstGeom>
          <a:noFill/>
        </p:spPr>
        <p:txBody>
          <a:bodyPr wrap="square">
            <a:spAutoFit/>
          </a:bodyPr>
          <a:lstStyle/>
          <a:p>
            <a:pPr algn="l"/>
            <a:r>
              <a:rPr sz="2200" b="1">
                <a:solidFill>
                  <a:srgbClr val="B24C4C"/>
                </a:solidFill>
                <a:latin typeface="Aptos"/>
              </a:rPr>
              <a:t>4</a:t>
            </a:r>
          </a:p>
        </p:txBody>
      </p:sp>
      <p:sp>
        <p:nvSpPr>
          <p:cNvPr id="20" name="TextBox 19"/>
          <p:cNvSpPr txBox="1"/>
          <p:nvPr/>
        </p:nvSpPr>
        <p:spPr>
          <a:xfrm>
            <a:off x="9336024" y="2432304"/>
            <a:ext cx="1920240" cy="274320"/>
          </a:xfrm>
          <a:prstGeom prst="rect">
            <a:avLst/>
          </a:prstGeom>
          <a:noFill/>
        </p:spPr>
        <p:txBody>
          <a:bodyPr wrap="square">
            <a:spAutoFit/>
          </a:bodyPr>
          <a:lstStyle/>
          <a:p>
            <a:pPr algn="l"/>
            <a:r>
              <a:rPr sz="1800" b="1">
                <a:solidFill>
                  <a:srgbClr val="12253F"/>
                </a:solidFill>
                <a:latin typeface="Aptos"/>
              </a:rPr>
              <a:t>Evaluation</a:t>
            </a:r>
          </a:p>
        </p:txBody>
      </p:sp>
      <p:sp>
        <p:nvSpPr>
          <p:cNvPr id="21" name="TextBox 20"/>
          <p:cNvSpPr txBox="1"/>
          <p:nvPr/>
        </p:nvSpPr>
        <p:spPr>
          <a:xfrm>
            <a:off x="9336024" y="2889504"/>
            <a:ext cx="1920240" cy="694944"/>
          </a:xfrm>
          <a:prstGeom prst="rect">
            <a:avLst/>
          </a:prstGeom>
          <a:noFill/>
        </p:spPr>
        <p:txBody>
          <a:bodyPr wrap="square">
            <a:spAutoFit/>
          </a:bodyPr>
          <a:lstStyle/>
          <a:p>
            <a:pPr algn="l"/>
            <a:r>
              <a:rPr sz="1400" b="0">
                <a:solidFill>
                  <a:srgbClr val="1F2B3D"/>
                </a:solidFill>
                <a:latin typeface="Aptos"/>
              </a:rPr>
              <a:t>RQ answers, implications, recommendations</a:t>
            </a:r>
          </a:p>
        </p:txBody>
      </p:sp>
      <p:sp>
        <p:nvSpPr>
          <p:cNvPr id="22" name="TextBox 21"/>
          <p:cNvSpPr txBox="1"/>
          <p:nvPr/>
        </p:nvSpPr>
        <p:spPr>
          <a:xfrm>
            <a:off x="685800" y="4754880"/>
            <a:ext cx="10789920" cy="274320"/>
          </a:xfrm>
          <a:prstGeom prst="rect">
            <a:avLst/>
          </a:prstGeom>
          <a:noFill/>
        </p:spPr>
        <p:txBody>
          <a:bodyPr wrap="square">
            <a:spAutoFit/>
          </a:bodyPr>
          <a:lstStyle/>
          <a:p>
            <a:pPr algn="l"/>
            <a:r>
              <a:rPr sz="1800" b="1">
                <a:solidFill>
                  <a:srgbClr val="12253F"/>
                </a:solidFill>
                <a:latin typeface="Aptos"/>
              </a:rPr>
              <a:t>Chapter 4 receives the most time because it contains the evidence used to defend the dissertation.</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1</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Aim, problem, and research questions</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Why the study was needed before any modelling began.</a:t>
            </a:r>
          </a:p>
        </p:txBody>
      </p:sp>
      <p:sp>
        <p:nvSpPr>
          <p:cNvPr id="6" name="TextBox 5"/>
          <p:cNvSpPr txBox="1"/>
          <p:nvPr/>
        </p:nvSpPr>
        <p:spPr>
          <a:xfrm>
            <a:off x="594360" y="1783080"/>
            <a:ext cx="1828800" cy="228600"/>
          </a:xfrm>
          <a:prstGeom prst="rect">
            <a:avLst/>
          </a:prstGeom>
          <a:noFill/>
        </p:spPr>
        <p:txBody>
          <a:bodyPr wrap="square">
            <a:spAutoFit/>
          </a:bodyPr>
          <a:lstStyle/>
          <a:p>
            <a:pPr algn="l"/>
            <a:r>
              <a:rPr sz="1700" b="1">
                <a:solidFill>
                  <a:srgbClr val="12253F"/>
                </a:solidFill>
                <a:latin typeface="Aptos"/>
              </a:rPr>
              <a:t>Core problem</a:t>
            </a:r>
          </a:p>
        </p:txBody>
      </p:sp>
      <p:sp>
        <p:nvSpPr>
          <p:cNvPr id="7" name="TextBox 6"/>
          <p:cNvSpPr txBox="1"/>
          <p:nvPr/>
        </p:nvSpPr>
        <p:spPr>
          <a:xfrm>
            <a:off x="594360" y="2084831"/>
            <a:ext cx="5120640" cy="1828800"/>
          </a:xfrm>
          <a:prstGeom prst="rect">
            <a:avLst/>
          </a:prstGeom>
          <a:noFill/>
        </p:spPr>
        <p:txBody>
          <a:bodyPr wrap="square" lIns="73152" rIns="73152">
            <a:spAutoFit/>
          </a:bodyPr>
          <a:lstStyle/>
          <a:p>
            <a:pPr>
              <a:spcAft>
                <a:spcPts val="800"/>
              </a:spcAft>
              <a:defRPr sz="1800">
                <a:solidFill>
                  <a:srgbClr val="1F2B3D"/>
                </a:solidFill>
                <a:latin typeface="Aptos"/>
              </a:defRPr>
            </a:pPr>
            <a:r>
              <a:t>• Financial AI systems can look accurate while missing rare but important downside events.</a:t>
            </a:r>
          </a:p>
          <a:p>
            <a:pPr>
              <a:spcAft>
                <a:spcPts val="800"/>
              </a:spcAft>
              <a:defRPr sz="1800">
                <a:solidFill>
                  <a:srgbClr val="1F2B3D"/>
                </a:solidFill>
                <a:latin typeface="Aptos"/>
              </a:defRPr>
            </a:pPr>
            <a:r>
              <a:t>• Performance alone is insufficient if alerts, explanations, and robustness fail under disturbance.</a:t>
            </a:r>
          </a:p>
          <a:p>
            <a:pPr>
              <a:spcAft>
                <a:spcPts val="800"/>
              </a:spcAft>
              <a:defRPr sz="1800">
                <a:solidFill>
                  <a:srgbClr val="1F2B3D"/>
                </a:solidFill>
                <a:latin typeface="Aptos"/>
              </a:defRPr>
            </a:pPr>
            <a:r>
              <a:t>• The dissertation asks whether these checks can be evaluated together in one framework.</a:t>
            </a:r>
          </a:p>
        </p:txBody>
      </p:sp>
      <p:sp>
        <p:nvSpPr>
          <p:cNvPr id="8" name="TextBox 7"/>
          <p:cNvSpPr txBox="1"/>
          <p:nvPr/>
        </p:nvSpPr>
        <p:spPr>
          <a:xfrm>
            <a:off x="6172200" y="1783080"/>
            <a:ext cx="2011680" cy="228600"/>
          </a:xfrm>
          <a:prstGeom prst="rect">
            <a:avLst/>
          </a:prstGeom>
          <a:noFill/>
        </p:spPr>
        <p:txBody>
          <a:bodyPr wrap="square">
            <a:spAutoFit/>
          </a:bodyPr>
          <a:lstStyle/>
          <a:p>
            <a:pPr algn="l"/>
            <a:r>
              <a:rPr sz="1700" b="1">
                <a:solidFill>
                  <a:srgbClr val="12253F"/>
                </a:solidFill>
                <a:latin typeface="Aptos"/>
              </a:rPr>
              <a:t>Research questions</a:t>
            </a:r>
          </a:p>
        </p:txBody>
      </p:sp>
      <p:sp>
        <p:nvSpPr>
          <p:cNvPr id="9" name="Rounded Rectangle 8"/>
          <p:cNvSpPr/>
          <p:nvPr/>
        </p:nvSpPr>
        <p:spPr>
          <a:xfrm>
            <a:off x="6172200" y="2048256"/>
            <a:ext cx="5394960" cy="2157984"/>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64224" y="2267712"/>
            <a:ext cx="4983480" cy="1572768"/>
          </a:xfrm>
          <a:prstGeom prst="rect">
            <a:avLst/>
          </a:prstGeom>
          <a:noFill/>
        </p:spPr>
        <p:txBody>
          <a:bodyPr wrap="square" lIns="73152" rIns="73152">
            <a:spAutoFit/>
          </a:bodyPr>
          <a:lstStyle/>
          <a:p>
            <a:pPr>
              <a:spcAft>
                <a:spcPts val="800"/>
              </a:spcAft>
              <a:defRPr sz="1700">
                <a:solidFill>
                  <a:srgbClr val="1F2B3D"/>
                </a:solidFill>
                <a:latin typeface="Aptos"/>
              </a:defRPr>
            </a:pPr>
            <a:r>
              <a:t>• RQ1: Can AI predict downside-risk events?</a:t>
            </a:r>
          </a:p>
          <a:p>
            <a:pPr>
              <a:spcAft>
                <a:spcPts val="800"/>
              </a:spcAft>
              <a:defRPr sz="1700">
                <a:solidFill>
                  <a:srgbClr val="1F2B3D"/>
                </a:solidFill>
                <a:latin typeface="Aptos"/>
              </a:defRPr>
            </a:pPr>
            <a:r>
              <a:t>• RQ2: Can monitoring and alerting identify suspicious behaviour?</a:t>
            </a:r>
          </a:p>
          <a:p>
            <a:pPr>
              <a:spcAft>
                <a:spcPts val="800"/>
              </a:spcAft>
              <a:defRPr sz="1700">
                <a:solidFill>
                  <a:srgbClr val="1F2B3D"/>
                </a:solidFill>
                <a:latin typeface="Aptos"/>
              </a:defRPr>
            </a:pPr>
            <a:r>
              <a:t>• RQ3: Does the system remain useful under disturbed conditions?</a:t>
            </a:r>
          </a:p>
        </p:txBody>
      </p:sp>
      <p:sp>
        <p:nvSpPr>
          <p:cNvPr id="11" name="Rounded Rectangle 10"/>
          <p:cNvSpPr/>
          <p:nvPr/>
        </p:nvSpPr>
        <p:spPr>
          <a:xfrm>
            <a:off x="685800" y="4791456"/>
            <a:ext cx="1417320" cy="749808"/>
          </a:xfrm>
          <a:prstGeom prst="roundRect">
            <a:avLst/>
          </a:prstGeom>
          <a:solidFill>
            <a:srgbClr val="FFFFFF"/>
          </a:solidFill>
          <a:ln w="15875">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4864608"/>
            <a:ext cx="1271016" cy="256032"/>
          </a:xfrm>
          <a:prstGeom prst="rect">
            <a:avLst/>
          </a:prstGeom>
          <a:noFill/>
        </p:spPr>
        <p:txBody>
          <a:bodyPr wrap="square">
            <a:spAutoFit/>
          </a:bodyPr>
          <a:lstStyle/>
          <a:p>
            <a:pPr algn="l"/>
            <a:r>
              <a:rPr sz="2000" b="1">
                <a:solidFill>
                  <a:srgbClr val="29628E"/>
                </a:solidFill>
                <a:latin typeface="Aptos"/>
              </a:rPr>
              <a:t>5 parts</a:t>
            </a:r>
          </a:p>
        </p:txBody>
      </p:sp>
      <p:sp>
        <p:nvSpPr>
          <p:cNvPr id="13" name="TextBox 12"/>
          <p:cNvSpPr txBox="1"/>
          <p:nvPr/>
        </p:nvSpPr>
        <p:spPr>
          <a:xfrm>
            <a:off x="758952" y="5175504"/>
            <a:ext cx="1271016" cy="164592"/>
          </a:xfrm>
          <a:prstGeom prst="rect">
            <a:avLst/>
          </a:prstGeom>
          <a:noFill/>
        </p:spPr>
        <p:txBody>
          <a:bodyPr wrap="square">
            <a:spAutoFit/>
          </a:bodyPr>
          <a:lstStyle/>
          <a:p>
            <a:pPr algn="l"/>
            <a:r>
              <a:rPr sz="1000" b="0">
                <a:solidFill>
                  <a:srgbClr val="59687C"/>
                </a:solidFill>
                <a:latin typeface="Aptos"/>
              </a:rPr>
              <a:t>prediction → resilience</a:t>
            </a:r>
          </a:p>
        </p:txBody>
      </p:sp>
      <p:sp>
        <p:nvSpPr>
          <p:cNvPr id="14" name="Rounded Rectangle 13"/>
          <p:cNvSpPr/>
          <p:nvPr/>
        </p:nvSpPr>
        <p:spPr>
          <a:xfrm>
            <a:off x="2331720" y="4791456"/>
            <a:ext cx="1417320" cy="749808"/>
          </a:xfrm>
          <a:prstGeom prst="roundRect">
            <a:avLst/>
          </a:prstGeom>
          <a:solidFill>
            <a:srgbClr val="FFFFFF"/>
          </a:solidFill>
          <a:ln w="15875">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04872" y="4864608"/>
            <a:ext cx="1271016" cy="256032"/>
          </a:xfrm>
          <a:prstGeom prst="rect">
            <a:avLst/>
          </a:prstGeom>
          <a:noFill/>
        </p:spPr>
        <p:txBody>
          <a:bodyPr wrap="square">
            <a:spAutoFit/>
          </a:bodyPr>
          <a:lstStyle/>
          <a:p>
            <a:pPr algn="l"/>
            <a:r>
              <a:rPr sz="2000" b="1">
                <a:solidFill>
                  <a:srgbClr val="1C847E"/>
                </a:solidFill>
                <a:latin typeface="Aptos"/>
              </a:rPr>
              <a:t>3 RQs</a:t>
            </a:r>
          </a:p>
        </p:txBody>
      </p:sp>
      <p:sp>
        <p:nvSpPr>
          <p:cNvPr id="16" name="TextBox 15"/>
          <p:cNvSpPr txBox="1"/>
          <p:nvPr/>
        </p:nvSpPr>
        <p:spPr>
          <a:xfrm>
            <a:off x="2404872" y="5175504"/>
            <a:ext cx="1271016" cy="164592"/>
          </a:xfrm>
          <a:prstGeom prst="rect">
            <a:avLst/>
          </a:prstGeom>
          <a:noFill/>
        </p:spPr>
        <p:txBody>
          <a:bodyPr wrap="square">
            <a:spAutoFit/>
          </a:bodyPr>
          <a:lstStyle/>
          <a:p>
            <a:pPr algn="l"/>
            <a:r>
              <a:rPr sz="1000" b="0">
                <a:solidFill>
                  <a:srgbClr val="59687C"/>
                </a:solidFill>
                <a:latin typeface="Aptos"/>
              </a:rPr>
              <a:t>directly evaluated</a:t>
            </a:r>
          </a:p>
        </p:txBody>
      </p:sp>
      <p:sp>
        <p:nvSpPr>
          <p:cNvPr id="17" name="Rounded Rectangle 16"/>
          <p:cNvSpPr/>
          <p:nvPr/>
        </p:nvSpPr>
        <p:spPr>
          <a:xfrm>
            <a:off x="3977639" y="4791456"/>
            <a:ext cx="1417320" cy="749808"/>
          </a:xfrm>
          <a:prstGeom prst="roundRect">
            <a:avLst/>
          </a:prstGeom>
          <a:solidFill>
            <a:srgbClr val="FFFFFF"/>
          </a:solidFill>
          <a:ln w="15875">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50791" y="4864608"/>
            <a:ext cx="1271016" cy="256032"/>
          </a:xfrm>
          <a:prstGeom prst="rect">
            <a:avLst/>
          </a:prstGeom>
          <a:noFill/>
        </p:spPr>
        <p:txBody>
          <a:bodyPr wrap="square">
            <a:spAutoFit/>
          </a:bodyPr>
          <a:lstStyle/>
          <a:p>
            <a:pPr algn="l"/>
            <a:r>
              <a:rPr sz="2000" b="1">
                <a:solidFill>
                  <a:srgbClr val="BB8420"/>
                </a:solidFill>
                <a:latin typeface="Aptos"/>
              </a:rPr>
              <a:t>1</a:t>
            </a:r>
          </a:p>
        </p:txBody>
      </p:sp>
      <p:sp>
        <p:nvSpPr>
          <p:cNvPr id="19" name="TextBox 18"/>
          <p:cNvSpPr txBox="1"/>
          <p:nvPr/>
        </p:nvSpPr>
        <p:spPr>
          <a:xfrm>
            <a:off x="4050791" y="5175504"/>
            <a:ext cx="1271016" cy="164592"/>
          </a:xfrm>
          <a:prstGeom prst="rect">
            <a:avLst/>
          </a:prstGeom>
          <a:noFill/>
        </p:spPr>
        <p:txBody>
          <a:bodyPr wrap="square">
            <a:spAutoFit/>
          </a:bodyPr>
          <a:lstStyle/>
          <a:p>
            <a:pPr algn="l"/>
            <a:r>
              <a:rPr sz="1000" b="0">
                <a:solidFill>
                  <a:srgbClr val="59687C"/>
                </a:solidFill>
                <a:latin typeface="Aptos"/>
              </a:rPr>
              <a:t>shared pipeline</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2</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Literature review and research gap</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Existing studies solve pieces of the problem, but rarely evaluate them together.</a:t>
            </a:r>
          </a:p>
        </p:txBody>
      </p:sp>
      <p:sp>
        <p:nvSpPr>
          <p:cNvPr id="6" name="TextBox 5"/>
          <p:cNvSpPr txBox="1"/>
          <p:nvPr/>
        </p:nvSpPr>
        <p:spPr>
          <a:xfrm>
            <a:off x="594360" y="1810512"/>
            <a:ext cx="3017520" cy="228600"/>
          </a:xfrm>
          <a:prstGeom prst="rect">
            <a:avLst/>
          </a:prstGeom>
          <a:noFill/>
        </p:spPr>
        <p:txBody>
          <a:bodyPr wrap="square">
            <a:spAutoFit/>
          </a:bodyPr>
          <a:lstStyle/>
          <a:p>
            <a:pPr algn="l"/>
            <a:r>
              <a:rPr sz="1700" b="1">
                <a:solidFill>
                  <a:srgbClr val="12253F"/>
                </a:solidFill>
                <a:latin typeface="Aptos"/>
              </a:rPr>
              <a:t>What prior work usually covers</a:t>
            </a:r>
          </a:p>
        </p:txBody>
      </p:sp>
      <p:sp>
        <p:nvSpPr>
          <p:cNvPr id="7" name="TextBox 6"/>
          <p:cNvSpPr txBox="1"/>
          <p:nvPr/>
        </p:nvSpPr>
        <p:spPr>
          <a:xfrm>
            <a:off x="594360" y="2249424"/>
            <a:ext cx="2560320" cy="1828800"/>
          </a:xfrm>
          <a:prstGeom prst="rect">
            <a:avLst/>
          </a:prstGeom>
          <a:noFill/>
        </p:spPr>
        <p:txBody>
          <a:bodyPr wrap="square" lIns="73152" rIns="73152">
            <a:spAutoFit/>
          </a:bodyPr>
          <a:lstStyle/>
          <a:p>
            <a:pPr>
              <a:spcAft>
                <a:spcPts val="800"/>
              </a:spcAft>
              <a:defRPr sz="1800">
                <a:solidFill>
                  <a:srgbClr val="1F2B3D"/>
                </a:solidFill>
                <a:latin typeface="Aptos"/>
              </a:defRPr>
            </a:pPr>
            <a:r>
              <a:t>• Prediction quality</a:t>
            </a:r>
          </a:p>
          <a:p>
            <a:pPr>
              <a:spcAft>
                <a:spcPts val="800"/>
              </a:spcAft>
              <a:defRPr sz="1800">
                <a:solidFill>
                  <a:srgbClr val="1F2B3D"/>
                </a:solidFill>
                <a:latin typeface="Aptos"/>
              </a:defRPr>
            </a:pPr>
            <a:r>
              <a:t>• Explainability</a:t>
            </a:r>
          </a:p>
          <a:p>
            <a:pPr>
              <a:spcAft>
                <a:spcPts val="800"/>
              </a:spcAft>
              <a:defRPr sz="1800">
                <a:solidFill>
                  <a:srgbClr val="1F2B3D"/>
                </a:solidFill>
                <a:latin typeface="Aptos"/>
              </a:defRPr>
            </a:pPr>
            <a:r>
              <a:t>• Adversarial robustness</a:t>
            </a:r>
          </a:p>
          <a:p>
            <a:pPr>
              <a:spcAft>
                <a:spcPts val="800"/>
              </a:spcAft>
              <a:defRPr sz="1800">
                <a:solidFill>
                  <a:srgbClr val="1F2B3D"/>
                </a:solidFill>
                <a:latin typeface="Aptos"/>
              </a:defRPr>
            </a:pPr>
            <a:r>
              <a:t>• Drift monitoring</a:t>
            </a:r>
          </a:p>
          <a:p>
            <a:pPr>
              <a:spcAft>
                <a:spcPts val="800"/>
              </a:spcAft>
              <a:defRPr sz="1800">
                <a:solidFill>
                  <a:srgbClr val="1F2B3D"/>
                </a:solidFill>
                <a:latin typeface="Aptos"/>
              </a:defRPr>
            </a:pPr>
            <a:r>
              <a:t>• Governance</a:t>
            </a:r>
          </a:p>
        </p:txBody>
      </p:sp>
      <p:sp>
        <p:nvSpPr>
          <p:cNvPr id="8" name="TextBox 7"/>
          <p:cNvSpPr txBox="1"/>
          <p:nvPr/>
        </p:nvSpPr>
        <p:spPr>
          <a:xfrm>
            <a:off x="3246120" y="1810512"/>
            <a:ext cx="1828800" cy="228600"/>
          </a:xfrm>
          <a:prstGeom prst="rect">
            <a:avLst/>
          </a:prstGeom>
          <a:noFill/>
        </p:spPr>
        <p:txBody>
          <a:bodyPr wrap="square">
            <a:spAutoFit/>
          </a:bodyPr>
          <a:lstStyle/>
          <a:p>
            <a:pPr algn="l"/>
            <a:r>
              <a:rPr sz="1700" b="1">
                <a:solidFill>
                  <a:srgbClr val="12253F"/>
                </a:solidFill>
                <a:latin typeface="Aptos"/>
              </a:rPr>
              <a:t>Research gap</a:t>
            </a:r>
          </a:p>
        </p:txBody>
      </p:sp>
      <p:sp>
        <p:nvSpPr>
          <p:cNvPr id="9" name="Rounded Rectangle 8"/>
          <p:cNvSpPr/>
          <p:nvPr/>
        </p:nvSpPr>
        <p:spPr>
          <a:xfrm>
            <a:off x="3215640" y="2313432"/>
            <a:ext cx="2880360" cy="2752344"/>
          </a:xfrm>
          <a:prstGeom prst="roundRect">
            <a:avLst/>
          </a:prstGeom>
          <a:solidFill>
            <a:srgbClr val="FFFFFF"/>
          </a:solidFill>
          <a:ln>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0" y="2313432"/>
            <a:ext cx="2450592" cy="1554480"/>
          </a:xfrm>
          <a:prstGeom prst="rect">
            <a:avLst/>
          </a:prstGeom>
          <a:noFill/>
        </p:spPr>
        <p:txBody>
          <a:bodyPr wrap="square">
            <a:spAutoFit/>
          </a:bodyPr>
          <a:lstStyle/>
          <a:p>
            <a:pPr algn="l"/>
            <a:r>
              <a:rPr sz="1700" b="1" dirty="0">
                <a:solidFill>
                  <a:srgbClr val="1F2B3D"/>
                </a:solidFill>
                <a:latin typeface="Aptos"/>
              </a:rPr>
              <a:t>The literature is strong in fragments,
but weaker on integrated evidence:
Can the same system remain predictive,
explainable, </a:t>
            </a:r>
            <a:r>
              <a:rPr sz="1700" b="1" dirty="0" err="1">
                <a:solidFill>
                  <a:srgbClr val="1F2B3D"/>
                </a:solidFill>
                <a:latin typeface="Aptos"/>
              </a:rPr>
              <a:t>alertable</a:t>
            </a:r>
            <a:r>
              <a:rPr sz="1700" b="1" dirty="0">
                <a:solidFill>
                  <a:srgbClr val="1F2B3D"/>
                </a:solidFill>
                <a:latin typeface="Aptos"/>
              </a:rPr>
              <a:t>, and resilient
under disturbance?</a:t>
            </a:r>
          </a:p>
        </p:txBody>
      </p:sp>
      <p:pic>
        <p:nvPicPr>
          <p:cNvPr id="11" name="Picture 10" descr="figure_4_24_integrated_evaluation_matrix.png"/>
          <p:cNvPicPr>
            <a:picLocks noChangeAspect="1"/>
          </p:cNvPicPr>
          <p:nvPr/>
        </p:nvPicPr>
        <p:blipFill>
          <a:blip r:embed="rId3"/>
          <a:stretch>
            <a:fillRect/>
          </a:stretch>
        </p:blipFill>
        <p:spPr>
          <a:xfrm>
            <a:off x="6400800" y="2084050"/>
            <a:ext cx="5257800" cy="2369858"/>
          </a:xfrm>
          <a:prstGeom prst="rect">
            <a:avLst/>
          </a:prstGeom>
        </p:spPr>
      </p:pic>
      <p:sp>
        <p:nvSpPr>
          <p:cNvPr id="12" name="TextBox 11"/>
          <p:cNvSpPr txBox="1"/>
          <p:nvPr/>
        </p:nvSpPr>
        <p:spPr>
          <a:xfrm>
            <a:off x="6428232" y="4791456"/>
            <a:ext cx="5120640" cy="274320"/>
          </a:xfrm>
          <a:prstGeom prst="rect">
            <a:avLst/>
          </a:prstGeom>
          <a:noFill/>
        </p:spPr>
        <p:txBody>
          <a:bodyPr wrap="square">
            <a:spAutoFit/>
          </a:bodyPr>
          <a:lstStyle/>
          <a:p>
            <a:pPr algn="l"/>
            <a:r>
              <a:rPr sz="1200" b="0">
                <a:solidFill>
                  <a:srgbClr val="59687C"/>
                </a:solidFill>
                <a:latin typeface="Aptos"/>
              </a:rPr>
              <a:t>Used here as the conceptual bridge from literature gap to dissertation evaluation design.</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3</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Methodology overview</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One integrated workflow rather than isolated experiments.</a:t>
            </a:r>
          </a:p>
        </p:txBody>
      </p:sp>
      <p:pic>
        <p:nvPicPr>
          <p:cNvPr id="6" name="Picture 5" descr="figure_3_1_integrated_methodology_pipeline.png"/>
          <p:cNvPicPr>
            <a:picLocks noChangeAspect="1"/>
          </p:cNvPicPr>
          <p:nvPr/>
        </p:nvPicPr>
        <p:blipFill>
          <a:blip r:embed="rId3"/>
          <a:stretch>
            <a:fillRect/>
          </a:stretch>
        </p:blipFill>
        <p:spPr>
          <a:xfrm>
            <a:off x="1871343" y="1783080"/>
            <a:ext cx="8418833" cy="452628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3</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Data, features, target, and chronological split</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system is trained and tested in time order to avoid future information leakage.</a:t>
            </a:r>
          </a:p>
        </p:txBody>
      </p:sp>
      <p:pic>
        <p:nvPicPr>
          <p:cNvPr id="6" name="Picture 5" descr="figure_3_2_preprocessing_feature_engineering_workflow.png"/>
          <p:cNvPicPr>
            <a:picLocks noChangeAspect="1"/>
          </p:cNvPicPr>
          <p:nvPr/>
        </p:nvPicPr>
        <p:blipFill>
          <a:blip r:embed="rId3"/>
          <a:stretch>
            <a:fillRect/>
          </a:stretch>
        </p:blipFill>
        <p:spPr>
          <a:xfrm>
            <a:off x="697247" y="1783080"/>
            <a:ext cx="6377904" cy="3429000"/>
          </a:xfrm>
          <a:prstGeom prst="rect">
            <a:avLst/>
          </a:prstGeom>
        </p:spPr>
      </p:pic>
      <p:pic>
        <p:nvPicPr>
          <p:cNvPr id="7" name="Picture 6" descr="figure_4_3_dataset_split_target_distribution.png"/>
          <p:cNvPicPr>
            <a:picLocks noChangeAspect="1"/>
          </p:cNvPicPr>
          <p:nvPr/>
        </p:nvPicPr>
        <p:blipFill>
          <a:blip r:embed="rId4"/>
          <a:stretch>
            <a:fillRect/>
          </a:stretch>
        </p:blipFill>
        <p:spPr>
          <a:xfrm>
            <a:off x="7388352" y="2272563"/>
            <a:ext cx="4297680" cy="2450033"/>
          </a:xfrm>
          <a:prstGeom prst="rect">
            <a:avLst/>
          </a:prstGeom>
        </p:spPr>
      </p:pic>
      <p:sp>
        <p:nvSpPr>
          <p:cNvPr id="8" name="TextBox 7"/>
          <p:cNvSpPr txBox="1"/>
          <p:nvPr/>
        </p:nvSpPr>
        <p:spPr>
          <a:xfrm>
            <a:off x="640080" y="5285232"/>
            <a:ext cx="10972800" cy="868680"/>
          </a:xfrm>
          <a:prstGeom prst="rect">
            <a:avLst/>
          </a:prstGeom>
          <a:noFill/>
        </p:spPr>
        <p:txBody>
          <a:bodyPr wrap="square" lIns="73152" rIns="73152">
            <a:spAutoFit/>
          </a:bodyPr>
          <a:lstStyle/>
          <a:p>
            <a:pPr>
              <a:spcAft>
                <a:spcPts val="800"/>
              </a:spcAft>
              <a:defRPr sz="1700">
                <a:solidFill>
                  <a:srgbClr val="1F2B3D"/>
                </a:solidFill>
                <a:latin typeface="Aptos"/>
              </a:defRPr>
            </a:pPr>
            <a:r>
              <a:t>• Public market data transformed into technical, volatility, volume, and drawdown features.</a:t>
            </a:r>
          </a:p>
          <a:p>
            <a:pPr>
              <a:spcAft>
                <a:spcPts val="800"/>
              </a:spcAft>
              <a:defRPr sz="1700">
                <a:solidFill>
                  <a:srgbClr val="1F2B3D"/>
                </a:solidFill>
                <a:latin typeface="Aptos"/>
              </a:defRPr>
            </a:pPr>
            <a:r>
              <a:t>• Target: financially meaningful future downside-risk event.</a:t>
            </a:r>
          </a:p>
          <a:p>
            <a:pPr>
              <a:spcAft>
                <a:spcPts val="800"/>
              </a:spcAft>
              <a:defRPr sz="1700">
                <a:solidFill>
                  <a:srgbClr val="1F2B3D"/>
                </a:solidFill>
                <a:latin typeface="Aptos"/>
              </a:defRPr>
            </a:pPr>
            <a:r>
              <a:t>• Chronological split preserves the real deployment direction: past → future.</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3</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Model development and evaluation design</a:t>
            </a:r>
          </a:p>
        </p:txBody>
      </p:sp>
      <p:sp>
        <p:nvSpPr>
          <p:cNvPr id="4" name="Rectangle 3"/>
          <p:cNvSpPr/>
          <p:nvPr/>
        </p:nvSpPr>
        <p:spPr>
          <a:xfrm>
            <a:off x="502920" y="1225296"/>
            <a:ext cx="1110996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study compares detectors, then deliberately perturbs the system.</a:t>
            </a:r>
          </a:p>
        </p:txBody>
      </p:sp>
      <p:pic>
        <p:nvPicPr>
          <p:cNvPr id="6" name="Picture 5" descr="figure_3_3_detection_mechanism_comparison.png"/>
          <p:cNvPicPr>
            <a:picLocks noChangeAspect="1"/>
          </p:cNvPicPr>
          <p:nvPr/>
        </p:nvPicPr>
        <p:blipFill>
          <a:blip r:embed="rId3"/>
          <a:stretch>
            <a:fillRect/>
          </a:stretch>
        </p:blipFill>
        <p:spPr>
          <a:xfrm>
            <a:off x="502920" y="2063880"/>
            <a:ext cx="5486400" cy="2949694"/>
          </a:xfrm>
          <a:prstGeom prst="rect">
            <a:avLst/>
          </a:prstGeom>
        </p:spPr>
      </p:pic>
      <p:pic>
        <p:nvPicPr>
          <p:cNvPr id="7" name="Picture 6" descr="figure_3_4a_six_part_robustness_evaluation_design.png"/>
          <p:cNvPicPr>
            <a:picLocks noChangeAspect="1"/>
          </p:cNvPicPr>
          <p:nvPr/>
        </p:nvPicPr>
        <p:blipFill>
          <a:blip r:embed="rId4"/>
          <a:stretch>
            <a:fillRect/>
          </a:stretch>
        </p:blipFill>
        <p:spPr>
          <a:xfrm>
            <a:off x="6199632" y="2076171"/>
            <a:ext cx="5440680" cy="2925113"/>
          </a:xfrm>
          <a:prstGeom prst="rect">
            <a:avLst/>
          </a:prstGeom>
        </p:spPr>
      </p:pic>
      <p:sp>
        <p:nvSpPr>
          <p:cNvPr id="8" name="TextBox 7"/>
          <p:cNvSpPr txBox="1"/>
          <p:nvPr/>
        </p:nvSpPr>
        <p:spPr>
          <a:xfrm>
            <a:off x="594360" y="5440680"/>
            <a:ext cx="1645920" cy="228600"/>
          </a:xfrm>
          <a:prstGeom prst="rect">
            <a:avLst/>
          </a:prstGeom>
          <a:noFill/>
        </p:spPr>
        <p:txBody>
          <a:bodyPr wrap="square">
            <a:spAutoFit/>
          </a:bodyPr>
          <a:lstStyle/>
          <a:p>
            <a:pPr algn="l"/>
            <a:r>
              <a:rPr sz="1600" b="1">
                <a:solidFill>
                  <a:srgbClr val="12253F"/>
                </a:solidFill>
                <a:latin typeface="Aptos"/>
              </a:rPr>
              <a:t>Evaluation layers</a:t>
            </a:r>
          </a:p>
        </p:txBody>
      </p:sp>
      <p:sp>
        <p:nvSpPr>
          <p:cNvPr id="9" name="TextBox 8"/>
          <p:cNvSpPr txBox="1"/>
          <p:nvPr/>
        </p:nvSpPr>
        <p:spPr>
          <a:xfrm>
            <a:off x="1920240" y="5376672"/>
            <a:ext cx="9509760" cy="566928"/>
          </a:xfrm>
          <a:prstGeom prst="rect">
            <a:avLst/>
          </a:prstGeom>
          <a:noFill/>
        </p:spPr>
        <p:txBody>
          <a:bodyPr wrap="square" lIns="73152" rIns="73152">
            <a:spAutoFit/>
          </a:bodyPr>
          <a:lstStyle/>
          <a:p>
            <a:pPr>
              <a:spcAft>
                <a:spcPts val="800"/>
              </a:spcAft>
              <a:defRPr sz="1600">
                <a:solidFill>
                  <a:srgbClr val="1F2B3D"/>
                </a:solidFill>
                <a:latin typeface="Aptos"/>
              </a:defRPr>
            </a:pPr>
            <a:r>
              <a:t>• Baseline classification</a:t>
            </a:r>
          </a:p>
          <a:p>
            <a:pPr>
              <a:spcAft>
                <a:spcPts val="800"/>
              </a:spcAft>
              <a:defRPr sz="1600">
                <a:solidFill>
                  <a:srgbClr val="1F2B3D"/>
                </a:solidFill>
                <a:latin typeface="Aptos"/>
              </a:defRPr>
            </a:pPr>
            <a:r>
              <a:t>• Threshold optimisation</a:t>
            </a:r>
          </a:p>
          <a:p>
            <a:pPr>
              <a:spcAft>
                <a:spcPts val="800"/>
              </a:spcAft>
              <a:defRPr sz="1600">
                <a:solidFill>
                  <a:srgbClr val="1F2B3D"/>
                </a:solidFill>
                <a:latin typeface="Aptos"/>
              </a:defRPr>
            </a:pPr>
            <a:r>
              <a:t>• Alert fusion</a:t>
            </a:r>
          </a:p>
          <a:p>
            <a:pPr>
              <a:spcAft>
                <a:spcPts val="800"/>
              </a:spcAft>
              <a:defRPr sz="1600">
                <a:solidFill>
                  <a:srgbClr val="1F2B3D"/>
                </a:solidFill>
                <a:latin typeface="Aptos"/>
              </a:defRPr>
            </a:pPr>
            <a:r>
              <a:t>• Noise, stress, adversarial, explainability, drift, cyber-resilience checks</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Baseline results and threshold interpretation</a:t>
            </a:r>
          </a:p>
        </p:txBody>
      </p:sp>
      <p:sp>
        <p:nvSpPr>
          <p:cNvPr id="4" name="Rectangle 3"/>
          <p:cNvSpPr/>
          <p:nvPr/>
        </p:nvSpPr>
        <p:spPr>
          <a:xfrm>
            <a:off x="502920" y="1225296"/>
            <a:ext cx="11109960" cy="36576"/>
          </a:xfrm>
          <a:prstGeom prst="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Accuracy alone hid the real behaviour of the models.</a:t>
            </a:r>
          </a:p>
        </p:txBody>
      </p:sp>
      <p:pic>
        <p:nvPicPr>
          <p:cNvPr id="6" name="Picture 5" descr="supervised_model_test_metrics.png"/>
          <p:cNvPicPr>
            <a:picLocks noChangeAspect="1"/>
          </p:cNvPicPr>
          <p:nvPr/>
        </p:nvPicPr>
        <p:blipFill>
          <a:blip r:embed="rId3"/>
          <a:stretch>
            <a:fillRect/>
          </a:stretch>
        </p:blipFill>
        <p:spPr>
          <a:xfrm>
            <a:off x="502920" y="1981962"/>
            <a:ext cx="5074920" cy="2537460"/>
          </a:xfrm>
          <a:prstGeom prst="rect">
            <a:avLst/>
          </a:prstGeom>
        </p:spPr>
      </p:pic>
      <p:pic>
        <p:nvPicPr>
          <p:cNvPr id="7" name="Picture 6" descr="confusion_matrix_heatmaps_supervised.png"/>
          <p:cNvPicPr>
            <a:picLocks noChangeAspect="1"/>
          </p:cNvPicPr>
          <p:nvPr/>
        </p:nvPicPr>
        <p:blipFill>
          <a:blip r:embed="rId4"/>
          <a:stretch>
            <a:fillRect/>
          </a:stretch>
        </p:blipFill>
        <p:spPr>
          <a:xfrm>
            <a:off x="5650992" y="2352294"/>
            <a:ext cx="5989320" cy="1796795"/>
          </a:xfrm>
          <a:prstGeom prst="rect">
            <a:avLst/>
          </a:prstGeom>
        </p:spPr>
      </p:pic>
      <p:sp>
        <p:nvSpPr>
          <p:cNvPr id="8" name="Rounded Rectangle 7"/>
          <p:cNvSpPr/>
          <p:nvPr/>
        </p:nvSpPr>
        <p:spPr>
          <a:xfrm>
            <a:off x="658368" y="5074920"/>
            <a:ext cx="1325880" cy="749808"/>
          </a:xfrm>
          <a:prstGeom prst="roundRect">
            <a:avLst/>
          </a:prstGeom>
          <a:solidFill>
            <a:srgbClr val="FFFFFF"/>
          </a:solidFill>
          <a:ln w="15875">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5148072"/>
            <a:ext cx="1179576" cy="256032"/>
          </a:xfrm>
          <a:prstGeom prst="rect">
            <a:avLst/>
          </a:prstGeom>
          <a:noFill/>
        </p:spPr>
        <p:txBody>
          <a:bodyPr wrap="square">
            <a:spAutoFit/>
          </a:bodyPr>
          <a:lstStyle/>
          <a:p>
            <a:pPr algn="l"/>
            <a:r>
              <a:rPr sz="2000" b="1">
                <a:solidFill>
                  <a:srgbClr val="29628E"/>
                </a:solidFill>
                <a:latin typeface="Aptos"/>
              </a:rPr>
              <a:t>0.745</a:t>
            </a:r>
          </a:p>
        </p:txBody>
      </p:sp>
      <p:sp>
        <p:nvSpPr>
          <p:cNvPr id="10" name="TextBox 9"/>
          <p:cNvSpPr txBox="1"/>
          <p:nvPr/>
        </p:nvSpPr>
        <p:spPr>
          <a:xfrm>
            <a:off x="731519" y="5458968"/>
            <a:ext cx="1179576" cy="164592"/>
          </a:xfrm>
          <a:prstGeom prst="rect">
            <a:avLst/>
          </a:prstGeom>
          <a:noFill/>
        </p:spPr>
        <p:txBody>
          <a:bodyPr wrap="square">
            <a:spAutoFit/>
          </a:bodyPr>
          <a:lstStyle/>
          <a:p>
            <a:pPr algn="l"/>
            <a:r>
              <a:rPr sz="1000" b="0">
                <a:solidFill>
                  <a:srgbClr val="59687C"/>
                </a:solidFill>
                <a:latin typeface="Aptos"/>
              </a:rPr>
              <a:t>LogReg recall</a:t>
            </a:r>
          </a:p>
        </p:txBody>
      </p:sp>
      <p:sp>
        <p:nvSpPr>
          <p:cNvPr id="11" name="Rounded Rectangle 10"/>
          <p:cNvSpPr/>
          <p:nvPr/>
        </p:nvSpPr>
        <p:spPr>
          <a:xfrm>
            <a:off x="2176272" y="5074920"/>
            <a:ext cx="1325880" cy="749808"/>
          </a:xfrm>
          <a:prstGeom prst="roundRect">
            <a:avLst/>
          </a:prstGeom>
          <a:solidFill>
            <a:srgbClr val="FFFFFF"/>
          </a:solidFill>
          <a:ln w="15875">
            <a:solidFill>
              <a:srgbClr val="B2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49424" y="5148072"/>
            <a:ext cx="1179576" cy="256032"/>
          </a:xfrm>
          <a:prstGeom prst="rect">
            <a:avLst/>
          </a:prstGeom>
          <a:noFill/>
        </p:spPr>
        <p:txBody>
          <a:bodyPr wrap="square">
            <a:spAutoFit/>
          </a:bodyPr>
          <a:lstStyle/>
          <a:p>
            <a:pPr algn="l"/>
            <a:r>
              <a:rPr sz="2000" b="1">
                <a:solidFill>
                  <a:srgbClr val="B24C4C"/>
                </a:solidFill>
                <a:latin typeface="Aptos"/>
              </a:rPr>
              <a:t>0.006</a:t>
            </a:r>
          </a:p>
        </p:txBody>
      </p:sp>
      <p:sp>
        <p:nvSpPr>
          <p:cNvPr id="13" name="TextBox 12"/>
          <p:cNvSpPr txBox="1"/>
          <p:nvPr/>
        </p:nvSpPr>
        <p:spPr>
          <a:xfrm>
            <a:off x="2249424" y="5458968"/>
            <a:ext cx="1179576" cy="164592"/>
          </a:xfrm>
          <a:prstGeom prst="rect">
            <a:avLst/>
          </a:prstGeom>
          <a:noFill/>
        </p:spPr>
        <p:txBody>
          <a:bodyPr wrap="square">
            <a:spAutoFit/>
          </a:bodyPr>
          <a:lstStyle/>
          <a:p>
            <a:pPr algn="l"/>
            <a:r>
              <a:rPr sz="1000" b="0">
                <a:solidFill>
                  <a:srgbClr val="59687C"/>
                </a:solidFill>
                <a:latin typeface="Aptos"/>
              </a:rPr>
              <a:t>RF recall</a:t>
            </a:r>
          </a:p>
        </p:txBody>
      </p:sp>
      <p:sp>
        <p:nvSpPr>
          <p:cNvPr id="14" name="Rounded Rectangle 13"/>
          <p:cNvSpPr/>
          <p:nvPr/>
        </p:nvSpPr>
        <p:spPr>
          <a:xfrm>
            <a:off x="3694176" y="5074920"/>
            <a:ext cx="1417320" cy="749808"/>
          </a:xfrm>
          <a:prstGeom prst="roundRect">
            <a:avLst/>
          </a:prstGeom>
          <a:solidFill>
            <a:srgbClr val="FFFFFF"/>
          </a:solidFill>
          <a:ln w="15875">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67328" y="5148072"/>
            <a:ext cx="1271016" cy="256032"/>
          </a:xfrm>
          <a:prstGeom prst="rect">
            <a:avLst/>
          </a:prstGeom>
          <a:noFill/>
        </p:spPr>
        <p:txBody>
          <a:bodyPr wrap="square">
            <a:spAutoFit/>
          </a:bodyPr>
          <a:lstStyle/>
          <a:p>
            <a:pPr algn="l"/>
            <a:r>
              <a:rPr sz="2000" b="1">
                <a:solidFill>
                  <a:srgbClr val="1C847E"/>
                </a:solidFill>
                <a:latin typeface="Aptos"/>
              </a:rPr>
              <a:t>764 / 1025</a:t>
            </a:r>
          </a:p>
        </p:txBody>
      </p:sp>
      <p:sp>
        <p:nvSpPr>
          <p:cNvPr id="16" name="TextBox 15"/>
          <p:cNvSpPr txBox="1"/>
          <p:nvPr/>
        </p:nvSpPr>
        <p:spPr>
          <a:xfrm>
            <a:off x="3767328" y="5458968"/>
            <a:ext cx="1271016" cy="164592"/>
          </a:xfrm>
          <a:prstGeom prst="rect">
            <a:avLst/>
          </a:prstGeom>
          <a:noFill/>
        </p:spPr>
        <p:txBody>
          <a:bodyPr wrap="square">
            <a:spAutoFit/>
          </a:bodyPr>
          <a:lstStyle/>
          <a:p>
            <a:pPr algn="l"/>
            <a:r>
              <a:rPr sz="1000" b="0">
                <a:solidFill>
                  <a:srgbClr val="59687C"/>
                </a:solidFill>
                <a:latin typeface="Aptos"/>
              </a:rPr>
              <a:t>events found</a:t>
            </a:r>
          </a:p>
        </p:txBody>
      </p:sp>
      <p:sp>
        <p:nvSpPr>
          <p:cNvPr id="17" name="TextBox 16"/>
          <p:cNvSpPr txBox="1"/>
          <p:nvPr/>
        </p:nvSpPr>
        <p:spPr>
          <a:xfrm>
            <a:off x="5715000" y="5074920"/>
            <a:ext cx="5577840" cy="658368"/>
          </a:xfrm>
          <a:prstGeom prst="rect">
            <a:avLst/>
          </a:prstGeom>
          <a:noFill/>
        </p:spPr>
        <p:txBody>
          <a:bodyPr wrap="square">
            <a:spAutoFit/>
          </a:bodyPr>
          <a:lstStyle/>
          <a:p>
            <a:pPr algn="l"/>
            <a:r>
              <a:rPr sz="1700" b="1">
                <a:solidFill>
                  <a:srgbClr val="12253F"/>
                </a:solidFill>
                <a:latin typeface="Aptos"/>
              </a:rPr>
              <a:t>Interpretation: the seemingly stronger accuracy of Random Forest was misleading because it almost never found the rare downside events.</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Event detection, alert fusion, and visible alert evidence</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system produces concrete flags, not only aggregate metrics.</a:t>
            </a:r>
          </a:p>
        </p:txBody>
      </p:sp>
      <p:pic>
        <p:nvPicPr>
          <p:cNvPr id="6" name="Picture 5" descr="figure_4_8_operational_alert_workflow.png"/>
          <p:cNvPicPr>
            <a:picLocks noChangeAspect="1"/>
          </p:cNvPicPr>
          <p:nvPr/>
        </p:nvPicPr>
        <p:blipFill>
          <a:blip r:embed="rId3"/>
          <a:stretch>
            <a:fillRect/>
          </a:stretch>
        </p:blipFill>
        <p:spPr>
          <a:xfrm>
            <a:off x="502920" y="1998436"/>
            <a:ext cx="5257800" cy="1434662"/>
          </a:xfrm>
          <a:prstGeom prst="rect">
            <a:avLst/>
          </a:prstGeom>
        </p:spPr>
      </p:pic>
      <p:pic>
        <p:nvPicPr>
          <p:cNvPr id="7" name="Picture 6" descr="alert_flags_nvda_example.png"/>
          <p:cNvPicPr>
            <a:picLocks noChangeAspect="1"/>
          </p:cNvPicPr>
          <p:nvPr/>
        </p:nvPicPr>
        <p:blipFill>
          <a:blip r:embed="rId4"/>
          <a:stretch>
            <a:fillRect/>
          </a:stretch>
        </p:blipFill>
        <p:spPr>
          <a:xfrm>
            <a:off x="5897880" y="1974723"/>
            <a:ext cx="5715000" cy="2762249"/>
          </a:xfrm>
          <a:prstGeom prst="rect">
            <a:avLst/>
          </a:prstGeom>
        </p:spPr>
      </p:pic>
      <p:sp>
        <p:nvSpPr>
          <p:cNvPr id="8" name="Rounded Rectangle 7"/>
          <p:cNvSpPr/>
          <p:nvPr/>
        </p:nvSpPr>
        <p:spPr>
          <a:xfrm>
            <a:off x="658368" y="4041648"/>
            <a:ext cx="1417320" cy="749808"/>
          </a:xfrm>
          <a:prstGeom prst="roundRect">
            <a:avLst/>
          </a:prstGeom>
          <a:solidFill>
            <a:srgbClr val="FFFFFF"/>
          </a:solidFill>
          <a:ln w="15875">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4114800"/>
            <a:ext cx="1271016" cy="256032"/>
          </a:xfrm>
          <a:prstGeom prst="rect">
            <a:avLst/>
          </a:prstGeom>
          <a:noFill/>
        </p:spPr>
        <p:txBody>
          <a:bodyPr wrap="square">
            <a:spAutoFit/>
          </a:bodyPr>
          <a:lstStyle/>
          <a:p>
            <a:pPr algn="l"/>
            <a:r>
              <a:rPr sz="2000" b="1">
                <a:solidFill>
                  <a:srgbClr val="1C847E"/>
                </a:solidFill>
                <a:latin typeface="Aptos"/>
              </a:rPr>
              <a:t>0.957</a:t>
            </a:r>
          </a:p>
        </p:txBody>
      </p:sp>
      <p:sp>
        <p:nvSpPr>
          <p:cNvPr id="10" name="TextBox 9"/>
          <p:cNvSpPr txBox="1"/>
          <p:nvPr/>
        </p:nvSpPr>
        <p:spPr>
          <a:xfrm>
            <a:off x="731519" y="4425696"/>
            <a:ext cx="1271016" cy="164592"/>
          </a:xfrm>
          <a:prstGeom prst="rect">
            <a:avLst/>
          </a:prstGeom>
          <a:noFill/>
        </p:spPr>
        <p:txBody>
          <a:bodyPr wrap="square">
            <a:spAutoFit/>
          </a:bodyPr>
          <a:lstStyle/>
          <a:p>
            <a:pPr algn="l"/>
            <a:r>
              <a:rPr sz="1000" b="0">
                <a:solidFill>
                  <a:srgbClr val="59687C"/>
                </a:solidFill>
                <a:latin typeface="Aptos"/>
              </a:rPr>
              <a:t>Fusion OR recall</a:t>
            </a:r>
          </a:p>
        </p:txBody>
      </p:sp>
      <p:sp>
        <p:nvSpPr>
          <p:cNvPr id="11" name="Rounded Rectangle 10"/>
          <p:cNvSpPr/>
          <p:nvPr/>
        </p:nvSpPr>
        <p:spPr>
          <a:xfrm>
            <a:off x="2304288" y="4041648"/>
            <a:ext cx="1417320" cy="749808"/>
          </a:xfrm>
          <a:prstGeom prst="roundRect">
            <a:avLst/>
          </a:prstGeom>
          <a:solidFill>
            <a:srgbClr val="FFFFFF"/>
          </a:solidFill>
          <a:ln w="15875">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77440" y="4114800"/>
            <a:ext cx="1271016" cy="256032"/>
          </a:xfrm>
          <a:prstGeom prst="rect">
            <a:avLst/>
          </a:prstGeom>
          <a:noFill/>
        </p:spPr>
        <p:txBody>
          <a:bodyPr wrap="square">
            <a:spAutoFit/>
          </a:bodyPr>
          <a:lstStyle/>
          <a:p>
            <a:pPr algn="l"/>
            <a:r>
              <a:rPr sz="2000" b="1">
                <a:solidFill>
                  <a:srgbClr val="BB8420"/>
                </a:solidFill>
                <a:latin typeface="Aptos"/>
              </a:rPr>
              <a:t>0.357</a:t>
            </a:r>
          </a:p>
        </p:txBody>
      </p:sp>
      <p:sp>
        <p:nvSpPr>
          <p:cNvPr id="13" name="TextBox 12"/>
          <p:cNvSpPr txBox="1"/>
          <p:nvPr/>
        </p:nvSpPr>
        <p:spPr>
          <a:xfrm>
            <a:off x="2377440" y="4425696"/>
            <a:ext cx="1271016" cy="164592"/>
          </a:xfrm>
          <a:prstGeom prst="rect">
            <a:avLst/>
          </a:prstGeom>
          <a:noFill/>
        </p:spPr>
        <p:txBody>
          <a:bodyPr wrap="square">
            <a:spAutoFit/>
          </a:bodyPr>
          <a:lstStyle/>
          <a:p>
            <a:pPr algn="l"/>
            <a:r>
              <a:rPr sz="1000" b="0">
                <a:solidFill>
                  <a:srgbClr val="59687C"/>
                </a:solidFill>
                <a:latin typeface="Aptos"/>
              </a:rPr>
              <a:t>Consensus F1</a:t>
            </a:r>
          </a:p>
        </p:txBody>
      </p:sp>
      <p:sp>
        <p:nvSpPr>
          <p:cNvPr id="14" name="TextBox 13"/>
          <p:cNvSpPr txBox="1"/>
          <p:nvPr/>
        </p:nvSpPr>
        <p:spPr>
          <a:xfrm>
            <a:off x="658368" y="5084064"/>
            <a:ext cx="4983480" cy="731520"/>
          </a:xfrm>
          <a:prstGeom prst="rect">
            <a:avLst/>
          </a:prstGeom>
          <a:noFill/>
        </p:spPr>
        <p:txBody>
          <a:bodyPr wrap="square">
            <a:spAutoFit/>
          </a:bodyPr>
          <a:lstStyle/>
          <a:p>
            <a:pPr algn="l"/>
            <a:r>
              <a:rPr sz="1700" b="1">
                <a:solidFill>
                  <a:srgbClr val="12253F"/>
                </a:solidFill>
                <a:latin typeface="Aptos"/>
              </a:rPr>
              <a:t>Visible example: flagged dates are overlaid on the stock path, making the alerting subsystem explainable in a presentation and auditable in practice.</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Robustness, stress, and adversarial testing</a:t>
            </a:r>
          </a:p>
        </p:txBody>
      </p:sp>
      <p:sp>
        <p:nvSpPr>
          <p:cNvPr id="4" name="Rectangle 3"/>
          <p:cNvSpPr/>
          <p:nvPr/>
        </p:nvSpPr>
        <p:spPr>
          <a:xfrm>
            <a:off x="502920" y="1225296"/>
            <a:ext cx="1110996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study measures how performance changes when conditions worsen.</a:t>
            </a:r>
          </a:p>
        </p:txBody>
      </p:sp>
      <p:pic>
        <p:nvPicPr>
          <p:cNvPr id="6" name="Picture 5" descr="supervised_f1_drop_under_noise.png"/>
          <p:cNvPicPr>
            <a:picLocks noChangeAspect="1"/>
          </p:cNvPicPr>
          <p:nvPr/>
        </p:nvPicPr>
        <p:blipFill>
          <a:blip r:embed="rId3"/>
          <a:stretch>
            <a:fillRect/>
          </a:stretch>
        </p:blipFill>
        <p:spPr>
          <a:xfrm>
            <a:off x="502920" y="2350008"/>
            <a:ext cx="3703320" cy="2057400"/>
          </a:xfrm>
          <a:prstGeom prst="rect">
            <a:avLst/>
          </a:prstGeom>
        </p:spPr>
      </p:pic>
      <p:pic>
        <p:nvPicPr>
          <p:cNvPr id="7" name="Picture 6" descr="supervised_stress_scenario_f1_comparison.png"/>
          <p:cNvPicPr>
            <a:picLocks noChangeAspect="1"/>
          </p:cNvPicPr>
          <p:nvPr/>
        </p:nvPicPr>
        <p:blipFill>
          <a:blip r:embed="rId4"/>
          <a:stretch>
            <a:fillRect/>
          </a:stretch>
        </p:blipFill>
        <p:spPr>
          <a:xfrm>
            <a:off x="4315968" y="2267712"/>
            <a:ext cx="3703320" cy="2221991"/>
          </a:xfrm>
          <a:prstGeom prst="rect">
            <a:avLst/>
          </a:prstGeom>
        </p:spPr>
      </p:pic>
      <p:pic>
        <p:nvPicPr>
          <p:cNvPr id="8" name="Picture 7" descr="figure_3_4b_noise_stress_adversarial_defence_workflow.png"/>
          <p:cNvPicPr>
            <a:picLocks noChangeAspect="1"/>
          </p:cNvPicPr>
          <p:nvPr/>
        </p:nvPicPr>
        <p:blipFill>
          <a:blip r:embed="rId5"/>
          <a:stretch>
            <a:fillRect/>
          </a:stretch>
        </p:blipFill>
        <p:spPr>
          <a:xfrm>
            <a:off x="8119872" y="2432347"/>
            <a:ext cx="3520440" cy="1892720"/>
          </a:xfrm>
          <a:prstGeom prst="rect">
            <a:avLst/>
          </a:prstGeom>
        </p:spPr>
      </p:pic>
      <p:sp>
        <p:nvSpPr>
          <p:cNvPr id="9" name="TextBox 8"/>
          <p:cNvSpPr txBox="1"/>
          <p:nvPr/>
        </p:nvSpPr>
        <p:spPr>
          <a:xfrm>
            <a:off x="658368" y="5230368"/>
            <a:ext cx="10972800" cy="713232"/>
          </a:xfrm>
          <a:prstGeom prst="rect">
            <a:avLst/>
          </a:prstGeom>
          <a:noFill/>
        </p:spPr>
        <p:txBody>
          <a:bodyPr wrap="square" lIns="73152" rIns="73152">
            <a:spAutoFit/>
          </a:bodyPr>
          <a:lstStyle/>
          <a:p>
            <a:pPr>
              <a:spcAft>
                <a:spcPts val="800"/>
              </a:spcAft>
              <a:defRPr sz="1700">
                <a:solidFill>
                  <a:srgbClr val="1F2B3D"/>
                </a:solidFill>
                <a:latin typeface="Aptos"/>
              </a:defRPr>
            </a:pPr>
            <a:r>
              <a:t>• Noise and stress expose performance degradation.</a:t>
            </a:r>
          </a:p>
          <a:p>
            <a:pPr>
              <a:spcAft>
                <a:spcPts val="800"/>
              </a:spcAft>
              <a:defRPr sz="1700">
                <a:solidFill>
                  <a:srgbClr val="1F2B3D"/>
                </a:solidFill>
                <a:latin typeface="Aptos"/>
              </a:defRPr>
            </a:pPr>
            <a:r>
              <a:t>• Adversarial tests reveal vulnerability beyond ordinary market variation.</a:t>
            </a:r>
          </a:p>
          <a:p>
            <a:pPr>
              <a:spcAft>
                <a:spcPts val="800"/>
              </a:spcAft>
              <a:defRPr sz="1700">
                <a:solidFill>
                  <a:srgbClr val="1F2B3D"/>
                </a:solidFill>
                <a:latin typeface="Aptos"/>
              </a:defRPr>
            </a:pPr>
            <a:r>
              <a:t>• The contribution is measured resilience, not an assumption of resilience.</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Explainability, time-to-detection, and drift monitoring</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Operational usefulness requires more than a prediction at one timestamp.</a:t>
            </a:r>
          </a:p>
        </p:txBody>
      </p:sp>
      <p:pic>
        <p:nvPicPr>
          <p:cNvPr id="6" name="Picture 5" descr="figure_4_18_shap_stability.png"/>
          <p:cNvPicPr>
            <a:picLocks noChangeAspect="1"/>
          </p:cNvPicPr>
          <p:nvPr/>
        </p:nvPicPr>
        <p:blipFill>
          <a:blip r:embed="rId3"/>
          <a:stretch>
            <a:fillRect/>
          </a:stretch>
        </p:blipFill>
        <p:spPr>
          <a:xfrm>
            <a:off x="502920" y="2242515"/>
            <a:ext cx="3840480" cy="2153512"/>
          </a:xfrm>
          <a:prstGeom prst="rect">
            <a:avLst/>
          </a:prstGeom>
        </p:spPr>
      </p:pic>
      <p:pic>
        <p:nvPicPr>
          <p:cNvPr id="7" name="Picture 6" descr="figure_3_4d_telemetry_time_to_detection_measurement.png"/>
          <p:cNvPicPr>
            <a:picLocks noChangeAspect="1"/>
          </p:cNvPicPr>
          <p:nvPr/>
        </p:nvPicPr>
        <p:blipFill>
          <a:blip r:embed="rId4"/>
          <a:stretch>
            <a:fillRect/>
          </a:stretch>
        </p:blipFill>
        <p:spPr>
          <a:xfrm>
            <a:off x="4498848" y="2397492"/>
            <a:ext cx="3429000" cy="1843558"/>
          </a:xfrm>
          <a:prstGeom prst="rect">
            <a:avLst/>
          </a:prstGeom>
        </p:spPr>
      </p:pic>
      <p:pic>
        <p:nvPicPr>
          <p:cNvPr id="8" name="Picture 7" descr="figure_3_4_robustness_adversarial_drift_framework.png"/>
          <p:cNvPicPr>
            <a:picLocks noChangeAspect="1"/>
          </p:cNvPicPr>
          <p:nvPr/>
        </p:nvPicPr>
        <p:blipFill>
          <a:blip r:embed="rId5"/>
          <a:stretch>
            <a:fillRect/>
          </a:stretch>
        </p:blipFill>
        <p:spPr>
          <a:xfrm>
            <a:off x="8083296" y="2360621"/>
            <a:ext cx="3566160" cy="1917301"/>
          </a:xfrm>
          <a:prstGeom prst="rect">
            <a:avLst/>
          </a:prstGeom>
        </p:spPr>
      </p:pic>
      <p:sp>
        <p:nvSpPr>
          <p:cNvPr id="9" name="TextBox 8"/>
          <p:cNvSpPr txBox="1"/>
          <p:nvPr/>
        </p:nvSpPr>
        <p:spPr>
          <a:xfrm>
            <a:off x="658368" y="5102352"/>
            <a:ext cx="10972800" cy="822960"/>
          </a:xfrm>
          <a:prstGeom prst="rect">
            <a:avLst/>
          </a:prstGeom>
          <a:noFill/>
        </p:spPr>
        <p:txBody>
          <a:bodyPr wrap="square" lIns="73152" rIns="73152">
            <a:spAutoFit/>
          </a:bodyPr>
          <a:lstStyle/>
          <a:p>
            <a:pPr>
              <a:spcAft>
                <a:spcPts val="800"/>
              </a:spcAft>
              <a:defRPr sz="1700">
                <a:solidFill>
                  <a:srgbClr val="1F2B3D"/>
                </a:solidFill>
                <a:latin typeface="Aptos"/>
              </a:defRPr>
            </a:pPr>
            <a:r>
              <a:t>• SHAP checks whether explanations remain stable under disturbance.</a:t>
            </a:r>
          </a:p>
          <a:p>
            <a:pPr>
              <a:spcAft>
                <a:spcPts val="800"/>
              </a:spcAft>
              <a:defRPr sz="1700">
                <a:solidFill>
                  <a:srgbClr val="1F2B3D"/>
                </a:solidFill>
                <a:latin typeface="Aptos"/>
              </a:defRPr>
            </a:pPr>
            <a:r>
              <a:t>• Time-to-detection checks whether alerts arrive early enough to matter.</a:t>
            </a:r>
          </a:p>
          <a:p>
            <a:pPr>
              <a:spcAft>
                <a:spcPts val="800"/>
              </a:spcAft>
              <a:defRPr sz="1700">
                <a:solidFill>
                  <a:srgbClr val="1F2B3D"/>
                </a:solidFill>
                <a:latin typeface="Aptos"/>
              </a:defRPr>
            </a:pPr>
            <a:r>
              <a:t>• Drift monitoring creates a governance trigger for review or retraining.</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4</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Cybersecurity resilience and implementation coverage</a:t>
            </a:r>
          </a:p>
        </p:txBody>
      </p:sp>
      <p:sp>
        <p:nvSpPr>
          <p:cNvPr id="4" name="Rectangle 3"/>
          <p:cNvSpPr/>
          <p:nvPr/>
        </p:nvSpPr>
        <p:spPr>
          <a:xfrm>
            <a:off x="502920" y="1225296"/>
            <a:ext cx="11109960" cy="36576"/>
          </a:xfrm>
          <a:prstGeom prst="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prototype was evaluated as a system, not only as a classifier.</a:t>
            </a:r>
          </a:p>
        </p:txBody>
      </p:sp>
      <p:pic>
        <p:nvPicPr>
          <p:cNvPr id="6" name="Picture 5" descr="figure_3_4c_cybersecurity_resilience_scorecard_layers.png"/>
          <p:cNvPicPr>
            <a:picLocks noChangeAspect="1"/>
          </p:cNvPicPr>
          <p:nvPr/>
        </p:nvPicPr>
        <p:blipFill>
          <a:blip r:embed="rId3"/>
          <a:stretch>
            <a:fillRect/>
          </a:stretch>
        </p:blipFill>
        <p:spPr>
          <a:xfrm>
            <a:off x="502920" y="2314015"/>
            <a:ext cx="3977639" cy="2138528"/>
          </a:xfrm>
          <a:prstGeom prst="rect">
            <a:avLst/>
          </a:prstGeom>
        </p:spPr>
      </p:pic>
      <p:pic>
        <p:nvPicPr>
          <p:cNvPr id="7" name="Picture 6" descr="cyber_attack_detection_rates_by_type.png"/>
          <p:cNvPicPr>
            <a:picLocks noChangeAspect="1"/>
          </p:cNvPicPr>
          <p:nvPr/>
        </p:nvPicPr>
        <p:blipFill>
          <a:blip r:embed="rId4"/>
          <a:stretch>
            <a:fillRect/>
          </a:stretch>
        </p:blipFill>
        <p:spPr>
          <a:xfrm>
            <a:off x="4608576" y="2559926"/>
            <a:ext cx="3337560" cy="1646707"/>
          </a:xfrm>
          <a:prstGeom prst="rect">
            <a:avLst/>
          </a:prstGeom>
        </p:spPr>
      </p:pic>
      <p:pic>
        <p:nvPicPr>
          <p:cNvPr id="8" name="Picture 7" descr="figure_4_24_integrated_evaluation_matrix.png"/>
          <p:cNvPicPr>
            <a:picLocks noChangeAspect="1"/>
          </p:cNvPicPr>
          <p:nvPr/>
        </p:nvPicPr>
        <p:blipFill>
          <a:blip r:embed="rId5"/>
          <a:stretch>
            <a:fillRect/>
          </a:stretch>
        </p:blipFill>
        <p:spPr>
          <a:xfrm>
            <a:off x="8101583" y="2587831"/>
            <a:ext cx="3529584" cy="1590896"/>
          </a:xfrm>
          <a:prstGeom prst="rect">
            <a:avLst/>
          </a:prstGeom>
        </p:spPr>
      </p:pic>
      <p:sp>
        <p:nvSpPr>
          <p:cNvPr id="9" name="TextBox 8"/>
          <p:cNvSpPr txBox="1"/>
          <p:nvPr/>
        </p:nvSpPr>
        <p:spPr>
          <a:xfrm>
            <a:off x="658368" y="5230368"/>
            <a:ext cx="10972800" cy="731520"/>
          </a:xfrm>
          <a:prstGeom prst="rect">
            <a:avLst/>
          </a:prstGeom>
          <a:noFill/>
        </p:spPr>
        <p:txBody>
          <a:bodyPr wrap="square" lIns="73152" rIns="73152">
            <a:spAutoFit/>
          </a:bodyPr>
          <a:lstStyle/>
          <a:p>
            <a:pPr>
              <a:spcAft>
                <a:spcPts val="800"/>
              </a:spcAft>
              <a:defRPr sz="1700">
                <a:solidFill>
                  <a:srgbClr val="1F2B3D"/>
                </a:solidFill>
                <a:latin typeface="Aptos"/>
              </a:defRPr>
            </a:pPr>
            <a:r>
              <a:t>• Cyber scenarios test suspicious behaviour coverage.</a:t>
            </a:r>
          </a:p>
          <a:p>
            <a:pPr>
              <a:spcAft>
                <a:spcPts val="800"/>
              </a:spcAft>
              <a:defRPr sz="1700">
                <a:solidFill>
                  <a:srgbClr val="1F2B3D"/>
                </a:solidFill>
                <a:latin typeface="Aptos"/>
              </a:defRPr>
            </a:pPr>
            <a:r>
              <a:t>• Layered resilience separates what is implemented from what remains governance work.</a:t>
            </a:r>
          </a:p>
          <a:p>
            <a:pPr>
              <a:spcAft>
                <a:spcPts val="800"/>
              </a:spcAft>
              <a:defRPr sz="1700">
                <a:solidFill>
                  <a:srgbClr val="1F2B3D"/>
                </a:solidFill>
                <a:latin typeface="Aptos"/>
              </a:defRPr>
            </a:pPr>
            <a:r>
              <a:t>• The integrated matrix confirms that every RQ is supported by explicit evidence.</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5</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RQ-by-RQ evaluation and broader implications</a:t>
            </a:r>
          </a:p>
        </p:txBody>
      </p:sp>
      <p:sp>
        <p:nvSpPr>
          <p:cNvPr id="4" name="Rectangle 3"/>
          <p:cNvSpPr/>
          <p:nvPr/>
        </p:nvSpPr>
        <p:spPr>
          <a:xfrm>
            <a:off x="502920" y="1225296"/>
            <a:ext cx="11109960" cy="36576"/>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The findings answer the questions, but with important trade-offs.</a:t>
            </a:r>
          </a:p>
        </p:txBody>
      </p:sp>
      <p:sp>
        <p:nvSpPr>
          <p:cNvPr id="6" name="Rounded Rectangle 5"/>
          <p:cNvSpPr/>
          <p:nvPr/>
        </p:nvSpPr>
        <p:spPr>
          <a:xfrm>
            <a:off x="594360" y="1783080"/>
            <a:ext cx="11018520" cy="1024128"/>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956816"/>
            <a:ext cx="640080" cy="256032"/>
          </a:xfrm>
          <a:prstGeom prst="rect">
            <a:avLst/>
          </a:prstGeom>
          <a:noFill/>
        </p:spPr>
        <p:txBody>
          <a:bodyPr wrap="square">
            <a:spAutoFit/>
          </a:bodyPr>
          <a:lstStyle/>
          <a:p>
            <a:pPr algn="l"/>
            <a:r>
              <a:rPr sz="2000" b="1">
                <a:solidFill>
                  <a:srgbClr val="29628E"/>
                </a:solidFill>
                <a:latin typeface="Aptos"/>
              </a:rPr>
              <a:t>RQ1</a:t>
            </a:r>
          </a:p>
        </p:txBody>
      </p:sp>
      <p:sp>
        <p:nvSpPr>
          <p:cNvPr id="8" name="TextBox 7"/>
          <p:cNvSpPr txBox="1"/>
          <p:nvPr/>
        </p:nvSpPr>
        <p:spPr>
          <a:xfrm>
            <a:off x="1600200" y="1929384"/>
            <a:ext cx="3108960" cy="256032"/>
          </a:xfrm>
          <a:prstGeom prst="rect">
            <a:avLst/>
          </a:prstGeom>
          <a:noFill/>
        </p:spPr>
        <p:txBody>
          <a:bodyPr wrap="square">
            <a:spAutoFit/>
          </a:bodyPr>
          <a:lstStyle/>
          <a:p>
            <a:pPr algn="l"/>
            <a:r>
              <a:rPr sz="1800" b="1">
                <a:solidFill>
                  <a:srgbClr val="12253F"/>
                </a:solidFill>
                <a:latin typeface="Aptos"/>
              </a:rPr>
              <a:t>Yes, but metric choice matters</a:t>
            </a:r>
          </a:p>
        </p:txBody>
      </p:sp>
      <p:sp>
        <p:nvSpPr>
          <p:cNvPr id="9" name="TextBox 8"/>
          <p:cNvSpPr txBox="1"/>
          <p:nvPr/>
        </p:nvSpPr>
        <p:spPr>
          <a:xfrm>
            <a:off x="4892040" y="1947672"/>
            <a:ext cx="6355080" cy="420624"/>
          </a:xfrm>
          <a:prstGeom prst="rect">
            <a:avLst/>
          </a:prstGeom>
          <a:noFill/>
        </p:spPr>
        <p:txBody>
          <a:bodyPr wrap="square">
            <a:spAutoFit/>
          </a:bodyPr>
          <a:lstStyle/>
          <a:p>
            <a:pPr algn="l"/>
            <a:r>
              <a:rPr sz="1600" b="0">
                <a:solidFill>
                  <a:srgbClr val="1F2B3D"/>
                </a:solidFill>
                <a:latin typeface="Aptos"/>
              </a:rPr>
              <a:t>Useful downside-risk detection was achieved; accuracy alone misled.</a:t>
            </a:r>
          </a:p>
        </p:txBody>
      </p:sp>
      <p:sp>
        <p:nvSpPr>
          <p:cNvPr id="10" name="Rounded Rectangle 9"/>
          <p:cNvSpPr/>
          <p:nvPr/>
        </p:nvSpPr>
        <p:spPr>
          <a:xfrm>
            <a:off x="594360" y="3008376"/>
            <a:ext cx="11018520" cy="1024128"/>
          </a:xfrm>
          <a:prstGeom prst="roundRect">
            <a:avLst/>
          </a:prstGeom>
          <a:solidFill>
            <a:srgbClr val="FFFFFF"/>
          </a:solidFill>
          <a:ln>
            <a:solidFill>
              <a:srgbClr val="1C8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182112"/>
            <a:ext cx="640080" cy="256032"/>
          </a:xfrm>
          <a:prstGeom prst="rect">
            <a:avLst/>
          </a:prstGeom>
          <a:noFill/>
        </p:spPr>
        <p:txBody>
          <a:bodyPr wrap="square">
            <a:spAutoFit/>
          </a:bodyPr>
          <a:lstStyle/>
          <a:p>
            <a:pPr algn="l"/>
            <a:r>
              <a:rPr sz="2000" b="1">
                <a:solidFill>
                  <a:srgbClr val="1C847E"/>
                </a:solidFill>
                <a:latin typeface="Aptos"/>
              </a:rPr>
              <a:t>RQ2</a:t>
            </a:r>
          </a:p>
        </p:txBody>
      </p:sp>
      <p:sp>
        <p:nvSpPr>
          <p:cNvPr id="12" name="TextBox 11"/>
          <p:cNvSpPr txBox="1"/>
          <p:nvPr/>
        </p:nvSpPr>
        <p:spPr>
          <a:xfrm>
            <a:off x="1600200" y="3154680"/>
            <a:ext cx="3108960" cy="256032"/>
          </a:xfrm>
          <a:prstGeom prst="rect">
            <a:avLst/>
          </a:prstGeom>
          <a:noFill/>
        </p:spPr>
        <p:txBody>
          <a:bodyPr wrap="square">
            <a:spAutoFit/>
          </a:bodyPr>
          <a:lstStyle/>
          <a:p>
            <a:pPr algn="l"/>
            <a:r>
              <a:rPr sz="1800" b="1">
                <a:solidFill>
                  <a:srgbClr val="12253F"/>
                </a:solidFill>
                <a:latin typeface="Aptos"/>
              </a:rPr>
              <a:t>Yes, with alert trade-offs</a:t>
            </a:r>
          </a:p>
        </p:txBody>
      </p:sp>
      <p:sp>
        <p:nvSpPr>
          <p:cNvPr id="13" name="TextBox 12"/>
          <p:cNvSpPr txBox="1"/>
          <p:nvPr/>
        </p:nvSpPr>
        <p:spPr>
          <a:xfrm>
            <a:off x="4892040" y="3172968"/>
            <a:ext cx="6355080" cy="420624"/>
          </a:xfrm>
          <a:prstGeom prst="rect">
            <a:avLst/>
          </a:prstGeom>
          <a:noFill/>
        </p:spPr>
        <p:txBody>
          <a:bodyPr wrap="square">
            <a:spAutoFit/>
          </a:bodyPr>
          <a:lstStyle/>
          <a:p>
            <a:pPr algn="l"/>
            <a:r>
              <a:rPr sz="1600" b="0">
                <a:solidFill>
                  <a:srgbClr val="1F2B3D"/>
                </a:solidFill>
                <a:latin typeface="Aptos"/>
              </a:rPr>
              <a:t>Fusion improved coverage, while precision and alert burden still matter.</a:t>
            </a:r>
          </a:p>
        </p:txBody>
      </p:sp>
      <p:sp>
        <p:nvSpPr>
          <p:cNvPr id="14" name="Rounded Rectangle 13"/>
          <p:cNvSpPr/>
          <p:nvPr/>
        </p:nvSpPr>
        <p:spPr>
          <a:xfrm>
            <a:off x="594360" y="4233672"/>
            <a:ext cx="11018520" cy="1024128"/>
          </a:xfrm>
          <a:prstGeom prst="roundRect">
            <a:avLst/>
          </a:prstGeom>
          <a:solidFill>
            <a:srgbClr val="FFFFFF"/>
          </a:solidFill>
          <a:ln>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407408"/>
            <a:ext cx="640080" cy="256032"/>
          </a:xfrm>
          <a:prstGeom prst="rect">
            <a:avLst/>
          </a:prstGeom>
          <a:noFill/>
        </p:spPr>
        <p:txBody>
          <a:bodyPr wrap="square">
            <a:spAutoFit/>
          </a:bodyPr>
          <a:lstStyle/>
          <a:p>
            <a:pPr algn="l"/>
            <a:r>
              <a:rPr sz="2000" b="1">
                <a:solidFill>
                  <a:srgbClr val="BB8420"/>
                </a:solidFill>
                <a:latin typeface="Aptos"/>
              </a:rPr>
              <a:t>RQ3</a:t>
            </a:r>
          </a:p>
        </p:txBody>
      </p:sp>
      <p:sp>
        <p:nvSpPr>
          <p:cNvPr id="16" name="TextBox 15"/>
          <p:cNvSpPr txBox="1"/>
          <p:nvPr/>
        </p:nvSpPr>
        <p:spPr>
          <a:xfrm>
            <a:off x="1600200" y="4379976"/>
            <a:ext cx="3108960" cy="256032"/>
          </a:xfrm>
          <a:prstGeom prst="rect">
            <a:avLst/>
          </a:prstGeom>
          <a:noFill/>
        </p:spPr>
        <p:txBody>
          <a:bodyPr wrap="square">
            <a:spAutoFit/>
          </a:bodyPr>
          <a:lstStyle/>
          <a:p>
            <a:pPr algn="l"/>
            <a:r>
              <a:rPr sz="1800" b="1">
                <a:solidFill>
                  <a:srgbClr val="12253F"/>
                </a:solidFill>
                <a:latin typeface="Aptos"/>
              </a:rPr>
              <a:t>Partly, and measurably</a:t>
            </a:r>
          </a:p>
        </p:txBody>
      </p:sp>
      <p:sp>
        <p:nvSpPr>
          <p:cNvPr id="17" name="TextBox 16"/>
          <p:cNvSpPr txBox="1"/>
          <p:nvPr/>
        </p:nvSpPr>
        <p:spPr>
          <a:xfrm>
            <a:off x="4892040" y="4398264"/>
            <a:ext cx="6355080" cy="420624"/>
          </a:xfrm>
          <a:prstGeom prst="rect">
            <a:avLst/>
          </a:prstGeom>
          <a:noFill/>
        </p:spPr>
        <p:txBody>
          <a:bodyPr wrap="square">
            <a:spAutoFit/>
          </a:bodyPr>
          <a:lstStyle/>
          <a:p>
            <a:pPr algn="l"/>
            <a:r>
              <a:rPr sz="1600" b="0">
                <a:solidFill>
                  <a:srgbClr val="1F2B3D"/>
                </a:solidFill>
                <a:latin typeface="Aptos"/>
              </a:rPr>
              <a:t>Robustness, explanations, and drift degraded under disturbance.</a:t>
            </a:r>
          </a:p>
        </p:txBody>
      </p:sp>
      <p:sp>
        <p:nvSpPr>
          <p:cNvPr id="18" name="TextBox 17"/>
          <p:cNvSpPr txBox="1"/>
          <p:nvPr/>
        </p:nvSpPr>
        <p:spPr>
          <a:xfrm>
            <a:off x="658368" y="5650992"/>
            <a:ext cx="10789920" cy="365760"/>
          </a:xfrm>
          <a:prstGeom prst="rect">
            <a:avLst/>
          </a:prstGeom>
          <a:noFill/>
        </p:spPr>
        <p:txBody>
          <a:bodyPr wrap="square">
            <a:spAutoFit/>
          </a:bodyPr>
          <a:lstStyle/>
          <a:p>
            <a:pPr algn="l"/>
            <a:r>
              <a:rPr sz="1800" b="1">
                <a:solidFill>
                  <a:srgbClr val="12253F"/>
                </a:solidFill>
                <a:latin typeface="Aptos"/>
              </a:rPr>
              <a:t>Broader implication: financial AI should be judged by prediction, monitoring, resilience, explanation stability, and governance together.</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ounded Rectangle 1"/>
          <p:cNvSpPr/>
          <p:nvPr/>
        </p:nvSpPr>
        <p:spPr>
          <a:xfrm>
            <a:off x="502920" y="292608"/>
            <a:ext cx="1417320" cy="310896"/>
          </a:xfrm>
          <a:prstGeom prst="round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Chapter 6</a:t>
            </a:r>
          </a:p>
        </p:txBody>
      </p:sp>
      <p:sp>
        <p:nvSpPr>
          <p:cNvPr id="3" name="TextBox 2"/>
          <p:cNvSpPr txBox="1"/>
          <p:nvPr/>
        </p:nvSpPr>
        <p:spPr>
          <a:xfrm>
            <a:off x="502920" y="676656"/>
            <a:ext cx="11064240" cy="475488"/>
          </a:xfrm>
          <a:prstGeom prst="rect">
            <a:avLst/>
          </a:prstGeom>
          <a:noFill/>
        </p:spPr>
        <p:txBody>
          <a:bodyPr wrap="square">
            <a:spAutoFit/>
          </a:bodyPr>
          <a:lstStyle/>
          <a:p>
            <a:pPr algn="l"/>
            <a:r>
              <a:rPr sz="2600" b="1">
                <a:solidFill>
                  <a:srgbClr val="12253F"/>
                </a:solidFill>
                <a:latin typeface="Aptos"/>
              </a:rPr>
              <a:t>Conclusion, contribution, limitations, recommendations</a:t>
            </a:r>
          </a:p>
        </p:txBody>
      </p:sp>
      <p:sp>
        <p:nvSpPr>
          <p:cNvPr id="4" name="Rectangle 3"/>
          <p:cNvSpPr/>
          <p:nvPr/>
        </p:nvSpPr>
        <p:spPr>
          <a:xfrm>
            <a:off x="502920" y="1225296"/>
            <a:ext cx="11109960" cy="36576"/>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53312"/>
            <a:ext cx="11064240" cy="256032"/>
          </a:xfrm>
          <a:prstGeom prst="rect">
            <a:avLst/>
          </a:prstGeom>
          <a:noFill/>
        </p:spPr>
        <p:txBody>
          <a:bodyPr wrap="square">
            <a:spAutoFit/>
          </a:bodyPr>
          <a:lstStyle/>
          <a:p>
            <a:pPr algn="l"/>
            <a:r>
              <a:rPr sz="1200" b="0">
                <a:solidFill>
                  <a:srgbClr val="59687C"/>
                </a:solidFill>
                <a:latin typeface="Aptos"/>
              </a:rPr>
              <a:t>A strong conclusion is precise about both achievement and boundary.</a:t>
            </a:r>
          </a:p>
        </p:txBody>
      </p:sp>
      <p:sp>
        <p:nvSpPr>
          <p:cNvPr id="6" name="Rounded Rectangle 5"/>
          <p:cNvSpPr/>
          <p:nvPr/>
        </p:nvSpPr>
        <p:spPr>
          <a:xfrm>
            <a:off x="594360" y="1828800"/>
            <a:ext cx="3154680" cy="3246120"/>
          </a:xfrm>
          <a:prstGeom prst="roundRect">
            <a:avLst/>
          </a:prstGeom>
          <a:solidFill>
            <a:srgbClr val="FFFFFF"/>
          </a:solidFill>
          <a:ln>
            <a:solidFill>
              <a:srgbClr val="2962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029968"/>
            <a:ext cx="2651760" cy="228600"/>
          </a:xfrm>
          <a:prstGeom prst="rect">
            <a:avLst/>
          </a:prstGeom>
          <a:noFill/>
        </p:spPr>
        <p:txBody>
          <a:bodyPr wrap="square">
            <a:spAutoFit/>
          </a:bodyPr>
          <a:lstStyle/>
          <a:p>
            <a:pPr algn="l"/>
            <a:r>
              <a:rPr sz="1800" b="1">
                <a:solidFill>
                  <a:srgbClr val="29628E"/>
                </a:solidFill>
                <a:latin typeface="Aptos"/>
              </a:rPr>
              <a:t>Contribution</a:t>
            </a:r>
          </a:p>
        </p:txBody>
      </p:sp>
      <p:sp>
        <p:nvSpPr>
          <p:cNvPr id="8" name="TextBox 7"/>
          <p:cNvSpPr txBox="1"/>
          <p:nvPr/>
        </p:nvSpPr>
        <p:spPr>
          <a:xfrm>
            <a:off x="758952" y="2487168"/>
            <a:ext cx="2697480" cy="1600200"/>
          </a:xfrm>
          <a:prstGeom prst="rect">
            <a:avLst/>
          </a:prstGeom>
          <a:noFill/>
        </p:spPr>
        <p:txBody>
          <a:bodyPr wrap="square" lIns="73152" rIns="73152">
            <a:spAutoFit/>
          </a:bodyPr>
          <a:lstStyle/>
          <a:p>
            <a:pPr>
              <a:spcAft>
                <a:spcPts val="800"/>
              </a:spcAft>
              <a:defRPr sz="1600">
                <a:solidFill>
                  <a:srgbClr val="1F2B3D"/>
                </a:solidFill>
                <a:latin typeface="Aptos"/>
              </a:defRPr>
            </a:pPr>
            <a:r>
              <a:t>• Integrated evaluation framework</a:t>
            </a:r>
          </a:p>
          <a:p>
            <a:pPr>
              <a:spcAft>
                <a:spcPts val="800"/>
              </a:spcAft>
              <a:defRPr sz="1600">
                <a:solidFill>
                  <a:srgbClr val="1F2B3D"/>
                </a:solidFill>
                <a:latin typeface="Aptos"/>
              </a:defRPr>
            </a:pPr>
            <a:r>
              <a:t>• Visible alert evidence</a:t>
            </a:r>
          </a:p>
          <a:p>
            <a:pPr>
              <a:spcAft>
                <a:spcPts val="800"/>
              </a:spcAft>
              <a:defRPr sz="1600">
                <a:solidFill>
                  <a:srgbClr val="1F2B3D"/>
                </a:solidFill>
                <a:latin typeface="Aptos"/>
              </a:defRPr>
            </a:pPr>
            <a:r>
              <a:t>• Deployment-oriented artefacts</a:t>
            </a:r>
          </a:p>
        </p:txBody>
      </p:sp>
      <p:sp>
        <p:nvSpPr>
          <p:cNvPr id="9" name="Rounded Rectangle 8"/>
          <p:cNvSpPr/>
          <p:nvPr/>
        </p:nvSpPr>
        <p:spPr>
          <a:xfrm>
            <a:off x="4050791" y="1828800"/>
            <a:ext cx="3154680" cy="3246120"/>
          </a:xfrm>
          <a:prstGeom prst="roundRect">
            <a:avLst/>
          </a:prstGeom>
          <a:solidFill>
            <a:srgbClr val="FFFFFF"/>
          </a:solidFill>
          <a:ln>
            <a:solidFill>
              <a:srgbClr val="B2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15383" y="2029968"/>
            <a:ext cx="2651760" cy="228600"/>
          </a:xfrm>
          <a:prstGeom prst="rect">
            <a:avLst/>
          </a:prstGeom>
          <a:noFill/>
        </p:spPr>
        <p:txBody>
          <a:bodyPr wrap="square">
            <a:spAutoFit/>
          </a:bodyPr>
          <a:lstStyle/>
          <a:p>
            <a:pPr algn="l"/>
            <a:r>
              <a:rPr sz="1800" b="1">
                <a:solidFill>
                  <a:srgbClr val="B24C4C"/>
                </a:solidFill>
                <a:latin typeface="Aptos"/>
              </a:rPr>
              <a:t>Limitations</a:t>
            </a:r>
          </a:p>
        </p:txBody>
      </p:sp>
      <p:sp>
        <p:nvSpPr>
          <p:cNvPr id="11" name="TextBox 10"/>
          <p:cNvSpPr txBox="1"/>
          <p:nvPr/>
        </p:nvSpPr>
        <p:spPr>
          <a:xfrm>
            <a:off x="4215383" y="2487168"/>
            <a:ext cx="2697480" cy="1600200"/>
          </a:xfrm>
          <a:prstGeom prst="rect">
            <a:avLst/>
          </a:prstGeom>
          <a:noFill/>
        </p:spPr>
        <p:txBody>
          <a:bodyPr wrap="square" lIns="73152" rIns="73152">
            <a:spAutoFit/>
          </a:bodyPr>
          <a:lstStyle/>
          <a:p>
            <a:pPr>
              <a:spcAft>
                <a:spcPts val="800"/>
              </a:spcAft>
              <a:defRPr sz="1600">
                <a:solidFill>
                  <a:srgbClr val="1F2B3D"/>
                </a:solidFill>
                <a:latin typeface="Aptos"/>
              </a:defRPr>
            </a:pPr>
            <a:r>
              <a:t>• US large-cap scope</a:t>
            </a:r>
          </a:p>
          <a:p>
            <a:pPr>
              <a:spcAft>
                <a:spcPts val="800"/>
              </a:spcAft>
              <a:defRPr sz="1600">
                <a:solidFill>
                  <a:srgbClr val="1F2B3D"/>
                </a:solidFill>
                <a:latin typeface="Aptos"/>
              </a:defRPr>
            </a:pPr>
            <a:r>
              <a:t>• Public data source</a:t>
            </a:r>
          </a:p>
          <a:p>
            <a:pPr>
              <a:spcAft>
                <a:spcPts val="800"/>
              </a:spcAft>
              <a:defRPr sz="1600">
                <a:solidFill>
                  <a:srgbClr val="1F2B3D"/>
                </a:solidFill>
                <a:latin typeface="Aptos"/>
              </a:defRPr>
            </a:pPr>
            <a:r>
              <a:t>• Prototype, not production</a:t>
            </a:r>
          </a:p>
        </p:txBody>
      </p:sp>
      <p:sp>
        <p:nvSpPr>
          <p:cNvPr id="12" name="Rounded Rectangle 11"/>
          <p:cNvSpPr/>
          <p:nvPr/>
        </p:nvSpPr>
        <p:spPr>
          <a:xfrm>
            <a:off x="7507224" y="1828800"/>
            <a:ext cx="3154680" cy="3246120"/>
          </a:xfrm>
          <a:prstGeom prst="roundRect">
            <a:avLst/>
          </a:prstGeom>
          <a:solidFill>
            <a:srgbClr val="FFFFFF"/>
          </a:solidFill>
          <a:ln>
            <a:solidFill>
              <a:srgbClr val="BB84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71816" y="2029968"/>
            <a:ext cx="2651760" cy="228600"/>
          </a:xfrm>
          <a:prstGeom prst="rect">
            <a:avLst/>
          </a:prstGeom>
          <a:noFill/>
        </p:spPr>
        <p:txBody>
          <a:bodyPr wrap="square">
            <a:spAutoFit/>
          </a:bodyPr>
          <a:lstStyle/>
          <a:p>
            <a:pPr algn="l"/>
            <a:r>
              <a:rPr sz="1800" b="1">
                <a:solidFill>
                  <a:srgbClr val="BB8420"/>
                </a:solidFill>
                <a:latin typeface="Aptos"/>
              </a:rPr>
              <a:t>Recommendations</a:t>
            </a:r>
          </a:p>
        </p:txBody>
      </p:sp>
      <p:sp>
        <p:nvSpPr>
          <p:cNvPr id="14" name="TextBox 13"/>
          <p:cNvSpPr txBox="1"/>
          <p:nvPr/>
        </p:nvSpPr>
        <p:spPr>
          <a:xfrm>
            <a:off x="7671816" y="2487168"/>
            <a:ext cx="2697480" cy="1600200"/>
          </a:xfrm>
          <a:prstGeom prst="rect">
            <a:avLst/>
          </a:prstGeom>
          <a:noFill/>
        </p:spPr>
        <p:txBody>
          <a:bodyPr wrap="square" lIns="73152" rIns="73152">
            <a:spAutoFit/>
          </a:bodyPr>
          <a:lstStyle/>
          <a:p>
            <a:pPr>
              <a:spcAft>
                <a:spcPts val="800"/>
              </a:spcAft>
              <a:defRPr sz="1600">
                <a:solidFill>
                  <a:srgbClr val="1F2B3D"/>
                </a:solidFill>
                <a:latin typeface="Aptos"/>
              </a:defRPr>
            </a:pPr>
            <a:r>
              <a:t>• Use recall-sensitive metrics</a:t>
            </a:r>
          </a:p>
          <a:p>
            <a:pPr>
              <a:spcAft>
                <a:spcPts val="800"/>
              </a:spcAft>
              <a:defRPr sz="1600">
                <a:solidFill>
                  <a:srgbClr val="1F2B3D"/>
                </a:solidFill>
                <a:latin typeface="Aptos"/>
              </a:defRPr>
            </a:pPr>
            <a:r>
              <a:t>• Monitor drift continuously</a:t>
            </a:r>
          </a:p>
          <a:p>
            <a:pPr>
              <a:spcAft>
                <a:spcPts val="800"/>
              </a:spcAft>
              <a:defRPr sz="1600">
                <a:solidFill>
                  <a:srgbClr val="1F2B3D"/>
                </a:solidFill>
                <a:latin typeface="Aptos"/>
              </a:defRPr>
            </a:pPr>
            <a:r>
              <a:t>• Retain human review</a:t>
            </a:r>
          </a:p>
        </p:txBody>
      </p:sp>
      <p:sp>
        <p:nvSpPr>
          <p:cNvPr id="15" name="TextBox 14"/>
          <p:cNvSpPr txBox="1"/>
          <p:nvPr/>
        </p:nvSpPr>
        <p:spPr>
          <a:xfrm>
            <a:off x="658368" y="5413248"/>
            <a:ext cx="10927080" cy="658368"/>
          </a:xfrm>
          <a:prstGeom prst="rect">
            <a:avLst/>
          </a:prstGeom>
          <a:noFill/>
        </p:spPr>
        <p:txBody>
          <a:bodyPr wrap="square">
            <a:spAutoFit/>
          </a:bodyPr>
          <a:lstStyle/>
          <a:p>
            <a:pPr algn="l"/>
            <a:r>
              <a:rPr sz="1800" b="1">
                <a:solidFill>
                  <a:srgbClr val="12253F"/>
                </a:solidFill>
                <a:latin typeface="Aptos"/>
              </a:rPr>
              <a:t>Final claim: the dissertation demonstrates a usable research prototype that exposes when a financial AI system works, when it degrades, and what must be monitored before deployment.</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1060704"/>
            <a:ext cx="3657600" cy="548640"/>
          </a:xfrm>
          <a:prstGeom prst="rect">
            <a:avLst/>
          </a:prstGeom>
          <a:noFill/>
        </p:spPr>
        <p:txBody>
          <a:bodyPr wrap="square">
            <a:spAutoFit/>
          </a:bodyPr>
          <a:lstStyle/>
          <a:p>
            <a:pPr algn="l"/>
            <a:r>
              <a:rPr sz="3000" b="1">
                <a:solidFill>
                  <a:srgbClr val="FFFFFF"/>
                </a:solidFill>
                <a:latin typeface="Aptos"/>
              </a:rPr>
              <a:t>Thank you</a:t>
            </a:r>
          </a:p>
        </p:txBody>
      </p:sp>
      <p:sp>
        <p:nvSpPr>
          <p:cNvPr id="4" name="TextBox 3"/>
          <p:cNvSpPr txBox="1"/>
          <p:nvPr/>
        </p:nvSpPr>
        <p:spPr>
          <a:xfrm>
            <a:off x="685800" y="1810512"/>
            <a:ext cx="4754880" cy="384048"/>
          </a:xfrm>
          <a:prstGeom prst="rect">
            <a:avLst/>
          </a:prstGeom>
          <a:noFill/>
        </p:spPr>
        <p:txBody>
          <a:bodyPr wrap="square">
            <a:spAutoFit/>
          </a:bodyPr>
          <a:lstStyle/>
          <a:p>
            <a:pPr algn="l"/>
            <a:r>
              <a:rPr sz="2100" b="0">
                <a:solidFill>
                  <a:srgbClr val="DDE5EF"/>
                </a:solidFill>
                <a:latin typeface="Aptos"/>
              </a:rPr>
              <a:t>Questions and discussion</a:t>
            </a:r>
          </a:p>
        </p:txBody>
      </p:sp>
      <p:sp>
        <p:nvSpPr>
          <p:cNvPr id="5" name="Rectangle 4"/>
          <p:cNvSpPr/>
          <p:nvPr/>
        </p:nvSpPr>
        <p:spPr>
          <a:xfrm>
            <a:off x="685800" y="2487168"/>
            <a:ext cx="2011680" cy="36576"/>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944368"/>
            <a:ext cx="7315200" cy="1572768"/>
          </a:xfrm>
          <a:prstGeom prst="rect">
            <a:avLst/>
          </a:prstGeom>
          <a:noFill/>
        </p:spPr>
        <p:txBody>
          <a:bodyPr wrap="square">
            <a:spAutoFit/>
          </a:bodyPr>
          <a:lstStyle/>
          <a:p>
            <a:pPr algn="l"/>
            <a:r>
              <a:rPr sz="2200" b="1">
                <a:solidFill>
                  <a:srgbClr val="FFFFFF"/>
                </a:solidFill>
                <a:latin typeface="Aptos"/>
              </a:rPr>
              <a:t>Defence anchor:
A financial AI system should be judged by what it predicts,
what it flags,
how it degrades,
and whether humans can still trust it.</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2926080" cy="228600"/>
          </a:xfrm>
          <a:prstGeom prst="rect">
            <a:avLst/>
          </a:prstGeom>
          <a:noFill/>
        </p:spPr>
        <p:txBody>
          <a:bodyPr wrap="square" lIns="18288" rIns="18288">
            <a:spAutoFit/>
          </a:bodyPr>
          <a:lstStyle/>
          <a:p>
            <a:pPr algn="l">
              <a:defRPr sz="950" b="1">
                <a:solidFill>
                  <a:srgbClr val="1C847E"/>
                </a:solidFill>
                <a:latin typeface="Aptos"/>
              </a:defRPr>
            </a:pPr>
            <a:r>
              <a:t>MIXED PRESENTATION</a:t>
            </a:r>
          </a:p>
        </p:txBody>
      </p:sp>
      <p:sp>
        <p:nvSpPr>
          <p:cNvPr id="3" name="TextBox 2"/>
          <p:cNvSpPr txBox="1"/>
          <p:nvPr/>
        </p:nvSpPr>
        <p:spPr>
          <a:xfrm>
            <a:off x="566928" y="621792"/>
            <a:ext cx="8046720" cy="475488"/>
          </a:xfrm>
          <a:prstGeom prst="rect">
            <a:avLst/>
          </a:prstGeom>
          <a:noFill/>
        </p:spPr>
        <p:txBody>
          <a:bodyPr wrap="square" lIns="18288" rIns="18288">
            <a:spAutoFit/>
          </a:bodyPr>
          <a:lstStyle/>
          <a:p>
            <a:pPr algn="l">
              <a:defRPr sz="2500" b="1">
                <a:solidFill>
                  <a:srgbClr val="12253F"/>
                </a:solidFill>
                <a:latin typeface="Aptos Display"/>
              </a:defRPr>
            </a:pPr>
            <a:r>
              <a:t>Dissertation Structure with Code Evidence</a:t>
            </a:r>
          </a:p>
        </p:txBody>
      </p:sp>
      <p:sp>
        <p:nvSpPr>
          <p:cNvPr id="4" name="TextBox 3"/>
          <p:cNvSpPr txBox="1"/>
          <p:nvPr/>
        </p:nvSpPr>
        <p:spPr>
          <a:xfrm>
            <a:off x="566928" y="1069848"/>
            <a:ext cx="9784080" cy="329184"/>
          </a:xfrm>
          <a:prstGeom prst="rect">
            <a:avLst/>
          </a:prstGeom>
          <a:noFill/>
        </p:spPr>
        <p:txBody>
          <a:bodyPr wrap="square" lIns="18288" rIns="18288">
            <a:spAutoFit/>
          </a:bodyPr>
          <a:lstStyle/>
          <a:p>
            <a:pPr algn="l">
              <a:defRPr sz="1150" b="0">
                <a:solidFill>
                  <a:srgbClr val="59687C"/>
                </a:solidFill>
                <a:latin typeface="Aptos"/>
              </a:defRPr>
            </a:pPr>
            <a:r>
              <a:t>A combined deck based on the defence presentation, enriched with selected reference outputs from the implementation notebook.</a:t>
            </a:r>
          </a:p>
        </p:txBody>
      </p:sp>
      <p:sp>
        <p:nvSpPr>
          <p:cNvPr id="5" name="Rectangle 4"/>
          <p:cNvSpPr/>
          <p:nvPr/>
        </p:nvSpPr>
        <p:spPr>
          <a:xfrm>
            <a:off x="566928" y="1426464"/>
            <a:ext cx="11064240" cy="27432"/>
          </a:xfrm>
          <a:prstGeom prst="rect">
            <a:avLst/>
          </a:prstGeom>
          <a:solidFill>
            <a:srgbClr val="D1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792224"/>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755648"/>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755648"/>
            <a:ext cx="73152" cy="1481328"/>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1938528"/>
            <a:ext cx="411480" cy="237744"/>
          </a:xfrm>
          <a:prstGeom prst="rect">
            <a:avLst/>
          </a:prstGeom>
          <a:noFill/>
        </p:spPr>
        <p:txBody>
          <a:bodyPr wrap="square" lIns="18288" rIns="18288">
            <a:spAutoFit/>
          </a:bodyPr>
          <a:lstStyle/>
          <a:p>
            <a:pPr algn="l">
              <a:defRPr sz="1000" b="1">
                <a:solidFill>
                  <a:srgbClr val="1C847E"/>
                </a:solidFill>
                <a:latin typeface="Aptos"/>
              </a:defRPr>
            </a:pPr>
            <a:r>
              <a:t>01</a:t>
            </a:r>
          </a:p>
        </p:txBody>
      </p:sp>
      <p:sp>
        <p:nvSpPr>
          <p:cNvPr id="10" name="TextBox 9"/>
          <p:cNvSpPr txBox="1"/>
          <p:nvPr/>
        </p:nvSpPr>
        <p:spPr>
          <a:xfrm>
            <a:off x="786384" y="2194560"/>
            <a:ext cx="2148840" cy="256032"/>
          </a:xfrm>
          <a:prstGeom prst="rect">
            <a:avLst/>
          </a:prstGeom>
          <a:noFill/>
        </p:spPr>
        <p:txBody>
          <a:bodyPr wrap="square" lIns="18288" rIns="18288">
            <a:spAutoFit/>
          </a:bodyPr>
          <a:lstStyle/>
          <a:p>
            <a:pPr algn="l">
              <a:defRPr sz="1450" b="1">
                <a:solidFill>
                  <a:srgbClr val="1F2B3D"/>
                </a:solidFill>
                <a:latin typeface="Aptos Display"/>
              </a:defRPr>
            </a:pPr>
            <a:r>
              <a:t>Context</a:t>
            </a:r>
          </a:p>
        </p:txBody>
      </p:sp>
      <p:sp>
        <p:nvSpPr>
          <p:cNvPr id="11" name="TextBox 10"/>
          <p:cNvSpPr txBox="1"/>
          <p:nvPr/>
        </p:nvSpPr>
        <p:spPr>
          <a:xfrm>
            <a:off x="786384" y="2542032"/>
            <a:ext cx="2148840" cy="457200"/>
          </a:xfrm>
          <a:prstGeom prst="rect">
            <a:avLst/>
          </a:prstGeom>
          <a:noFill/>
        </p:spPr>
        <p:txBody>
          <a:bodyPr wrap="square" lIns="18288" rIns="18288">
            <a:spAutoFit/>
          </a:bodyPr>
          <a:lstStyle/>
          <a:p>
            <a:pPr algn="l">
              <a:defRPr sz="940" b="0">
                <a:solidFill>
                  <a:srgbClr val="59687C"/>
                </a:solidFill>
                <a:latin typeface="Aptos"/>
              </a:defRPr>
            </a:pPr>
            <a:r>
              <a:t>Problem setting and need for robust financial AI evaluation.</a:t>
            </a:r>
          </a:p>
        </p:txBody>
      </p:sp>
      <p:sp>
        <p:nvSpPr>
          <p:cNvPr id="12" name="Rounded Rectangle 11"/>
          <p:cNvSpPr/>
          <p:nvPr/>
        </p:nvSpPr>
        <p:spPr>
          <a:xfrm>
            <a:off x="3447288" y="1792224"/>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19856" y="1755648"/>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19856" y="1755648"/>
            <a:ext cx="73152" cy="1481328"/>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9312" y="1938528"/>
            <a:ext cx="411480" cy="237744"/>
          </a:xfrm>
          <a:prstGeom prst="rect">
            <a:avLst/>
          </a:prstGeom>
          <a:noFill/>
        </p:spPr>
        <p:txBody>
          <a:bodyPr wrap="square" lIns="18288" rIns="18288">
            <a:spAutoFit/>
          </a:bodyPr>
          <a:lstStyle/>
          <a:p>
            <a:pPr algn="l">
              <a:defRPr sz="1000" b="1">
                <a:solidFill>
                  <a:srgbClr val="BB8420"/>
                </a:solidFill>
                <a:latin typeface="Aptos"/>
              </a:defRPr>
            </a:pPr>
            <a:r>
              <a:t>02</a:t>
            </a:r>
          </a:p>
        </p:txBody>
      </p:sp>
      <p:sp>
        <p:nvSpPr>
          <p:cNvPr id="16" name="TextBox 15"/>
          <p:cNvSpPr txBox="1"/>
          <p:nvPr/>
        </p:nvSpPr>
        <p:spPr>
          <a:xfrm>
            <a:off x="3639312" y="2194560"/>
            <a:ext cx="2148840" cy="256032"/>
          </a:xfrm>
          <a:prstGeom prst="rect">
            <a:avLst/>
          </a:prstGeom>
          <a:noFill/>
        </p:spPr>
        <p:txBody>
          <a:bodyPr wrap="square" lIns="18288" rIns="18288">
            <a:spAutoFit/>
          </a:bodyPr>
          <a:lstStyle/>
          <a:p>
            <a:pPr algn="l">
              <a:defRPr sz="1450" b="1">
                <a:solidFill>
                  <a:srgbClr val="1F2B3D"/>
                </a:solidFill>
                <a:latin typeface="Aptos Display"/>
              </a:defRPr>
            </a:pPr>
            <a:r>
              <a:t>Gap &amp; RQs</a:t>
            </a:r>
          </a:p>
        </p:txBody>
      </p:sp>
      <p:sp>
        <p:nvSpPr>
          <p:cNvPr id="17" name="TextBox 16"/>
          <p:cNvSpPr txBox="1"/>
          <p:nvPr/>
        </p:nvSpPr>
        <p:spPr>
          <a:xfrm>
            <a:off x="3639312" y="2542032"/>
            <a:ext cx="2148840" cy="457200"/>
          </a:xfrm>
          <a:prstGeom prst="rect">
            <a:avLst/>
          </a:prstGeom>
          <a:noFill/>
        </p:spPr>
        <p:txBody>
          <a:bodyPr wrap="square" lIns="18288" rIns="18288">
            <a:spAutoFit/>
          </a:bodyPr>
          <a:lstStyle/>
          <a:p>
            <a:pPr algn="l">
              <a:defRPr sz="940" b="0">
                <a:solidFill>
                  <a:srgbClr val="59687C"/>
                </a:solidFill>
                <a:latin typeface="Aptos"/>
              </a:defRPr>
            </a:pPr>
            <a:r>
              <a:t>Research questions linked to reliability, stress response, explainability, and resilience.</a:t>
            </a:r>
          </a:p>
        </p:txBody>
      </p:sp>
      <p:sp>
        <p:nvSpPr>
          <p:cNvPr id="18" name="Rounded Rectangle 17"/>
          <p:cNvSpPr/>
          <p:nvPr/>
        </p:nvSpPr>
        <p:spPr>
          <a:xfrm>
            <a:off x="6300216" y="1792224"/>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72784" y="1755648"/>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72784" y="1755648"/>
            <a:ext cx="73152" cy="1481328"/>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1938528"/>
            <a:ext cx="411480" cy="237744"/>
          </a:xfrm>
          <a:prstGeom prst="rect">
            <a:avLst/>
          </a:prstGeom>
          <a:noFill/>
        </p:spPr>
        <p:txBody>
          <a:bodyPr wrap="square" lIns="18288" rIns="18288">
            <a:spAutoFit/>
          </a:bodyPr>
          <a:lstStyle/>
          <a:p>
            <a:pPr algn="l">
              <a:defRPr sz="1000" b="1">
                <a:solidFill>
                  <a:srgbClr val="29628E"/>
                </a:solidFill>
                <a:latin typeface="Aptos"/>
              </a:defRPr>
            </a:pPr>
            <a:r>
              <a:t>03</a:t>
            </a:r>
          </a:p>
        </p:txBody>
      </p:sp>
      <p:sp>
        <p:nvSpPr>
          <p:cNvPr id="22" name="TextBox 21"/>
          <p:cNvSpPr txBox="1"/>
          <p:nvPr/>
        </p:nvSpPr>
        <p:spPr>
          <a:xfrm>
            <a:off x="6492240" y="2194560"/>
            <a:ext cx="2148840" cy="256032"/>
          </a:xfrm>
          <a:prstGeom prst="rect">
            <a:avLst/>
          </a:prstGeom>
          <a:noFill/>
        </p:spPr>
        <p:txBody>
          <a:bodyPr wrap="square" lIns="18288" rIns="18288">
            <a:spAutoFit/>
          </a:bodyPr>
          <a:lstStyle/>
          <a:p>
            <a:pPr algn="l">
              <a:defRPr sz="1450" b="1">
                <a:solidFill>
                  <a:srgbClr val="1F2B3D"/>
                </a:solidFill>
                <a:latin typeface="Aptos Display"/>
              </a:defRPr>
            </a:pPr>
            <a:r>
              <a:t>Method</a:t>
            </a:r>
          </a:p>
        </p:txBody>
      </p:sp>
      <p:sp>
        <p:nvSpPr>
          <p:cNvPr id="23" name="TextBox 22"/>
          <p:cNvSpPr txBox="1"/>
          <p:nvPr/>
        </p:nvSpPr>
        <p:spPr>
          <a:xfrm>
            <a:off x="6492240" y="2542032"/>
            <a:ext cx="2148840" cy="457200"/>
          </a:xfrm>
          <a:prstGeom prst="rect">
            <a:avLst/>
          </a:prstGeom>
          <a:noFill/>
        </p:spPr>
        <p:txBody>
          <a:bodyPr wrap="square" lIns="18288" rIns="18288">
            <a:spAutoFit/>
          </a:bodyPr>
          <a:lstStyle/>
          <a:p>
            <a:pPr algn="l">
              <a:defRPr sz="940" b="0">
                <a:solidFill>
                  <a:srgbClr val="59687C"/>
                </a:solidFill>
                <a:latin typeface="Aptos"/>
              </a:defRPr>
            </a:pPr>
            <a:r>
              <a:t>Chronological split, feature engineering, detector comparison, and integrated pipeline.</a:t>
            </a:r>
          </a:p>
        </p:txBody>
      </p:sp>
      <p:sp>
        <p:nvSpPr>
          <p:cNvPr id="24" name="Rounded Rectangle 23"/>
          <p:cNvSpPr/>
          <p:nvPr/>
        </p:nvSpPr>
        <p:spPr>
          <a:xfrm>
            <a:off x="9153143" y="1792224"/>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125711" y="1755648"/>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25711" y="1755648"/>
            <a:ext cx="73152" cy="1481328"/>
          </a:xfrm>
          <a:prstGeom prst="rect">
            <a:avLst/>
          </a:prstGeom>
          <a:solidFill>
            <a:srgbClr val="2C7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45167" y="1938528"/>
            <a:ext cx="411480" cy="237744"/>
          </a:xfrm>
          <a:prstGeom prst="rect">
            <a:avLst/>
          </a:prstGeom>
          <a:noFill/>
        </p:spPr>
        <p:txBody>
          <a:bodyPr wrap="square" lIns="18288" rIns="18288">
            <a:spAutoFit/>
          </a:bodyPr>
          <a:lstStyle/>
          <a:p>
            <a:pPr algn="l">
              <a:defRPr sz="1000" b="1">
                <a:solidFill>
                  <a:srgbClr val="2C7A46"/>
                </a:solidFill>
                <a:latin typeface="Aptos"/>
              </a:defRPr>
            </a:pPr>
            <a:r>
              <a:t>04</a:t>
            </a:r>
          </a:p>
        </p:txBody>
      </p:sp>
      <p:sp>
        <p:nvSpPr>
          <p:cNvPr id="28" name="TextBox 27"/>
          <p:cNvSpPr txBox="1"/>
          <p:nvPr/>
        </p:nvSpPr>
        <p:spPr>
          <a:xfrm>
            <a:off x="9345167" y="2194560"/>
            <a:ext cx="2148840" cy="256032"/>
          </a:xfrm>
          <a:prstGeom prst="rect">
            <a:avLst/>
          </a:prstGeom>
          <a:noFill/>
        </p:spPr>
        <p:txBody>
          <a:bodyPr wrap="square" lIns="18288" rIns="18288">
            <a:spAutoFit/>
          </a:bodyPr>
          <a:lstStyle/>
          <a:p>
            <a:pPr algn="l">
              <a:defRPr sz="1450" b="1">
                <a:solidFill>
                  <a:srgbClr val="1F2B3D"/>
                </a:solidFill>
                <a:latin typeface="Aptos Display"/>
              </a:defRPr>
            </a:pPr>
            <a:r>
              <a:t>Results</a:t>
            </a:r>
          </a:p>
        </p:txBody>
      </p:sp>
      <p:sp>
        <p:nvSpPr>
          <p:cNvPr id="29" name="TextBox 28"/>
          <p:cNvSpPr txBox="1"/>
          <p:nvPr/>
        </p:nvSpPr>
        <p:spPr>
          <a:xfrm>
            <a:off x="9345167" y="2542032"/>
            <a:ext cx="2148840" cy="457200"/>
          </a:xfrm>
          <a:prstGeom prst="rect">
            <a:avLst/>
          </a:prstGeom>
          <a:noFill/>
        </p:spPr>
        <p:txBody>
          <a:bodyPr wrap="square" lIns="18288" rIns="18288">
            <a:spAutoFit/>
          </a:bodyPr>
          <a:lstStyle/>
          <a:p>
            <a:pPr algn="l">
              <a:defRPr sz="940" b="0">
                <a:solidFill>
                  <a:srgbClr val="59687C"/>
                </a:solidFill>
                <a:latin typeface="Aptos"/>
              </a:defRPr>
            </a:pPr>
            <a:r>
              <a:t>Baseline model behaviour, alert fusion, and operational metrics.</a:t>
            </a:r>
          </a:p>
        </p:txBody>
      </p:sp>
      <p:sp>
        <p:nvSpPr>
          <p:cNvPr id="30" name="Rounded Rectangle 29"/>
          <p:cNvSpPr/>
          <p:nvPr/>
        </p:nvSpPr>
        <p:spPr>
          <a:xfrm>
            <a:off x="594360" y="3657600"/>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66928" y="3621024"/>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66928" y="3621024"/>
            <a:ext cx="73152" cy="1481328"/>
          </a:xfrm>
          <a:prstGeom prst="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6384" y="3803904"/>
            <a:ext cx="411480" cy="237744"/>
          </a:xfrm>
          <a:prstGeom prst="rect">
            <a:avLst/>
          </a:prstGeom>
          <a:noFill/>
        </p:spPr>
        <p:txBody>
          <a:bodyPr wrap="square" lIns="18288" rIns="18288">
            <a:spAutoFit/>
          </a:bodyPr>
          <a:lstStyle/>
          <a:p>
            <a:pPr algn="l">
              <a:defRPr sz="1000" b="1">
                <a:solidFill>
                  <a:srgbClr val="B24C4C"/>
                </a:solidFill>
                <a:latin typeface="Aptos"/>
              </a:defRPr>
            </a:pPr>
            <a:r>
              <a:t>05</a:t>
            </a:r>
          </a:p>
        </p:txBody>
      </p:sp>
      <p:sp>
        <p:nvSpPr>
          <p:cNvPr id="34" name="TextBox 33"/>
          <p:cNvSpPr txBox="1"/>
          <p:nvPr/>
        </p:nvSpPr>
        <p:spPr>
          <a:xfrm>
            <a:off x="786384" y="4059935"/>
            <a:ext cx="2148840" cy="256032"/>
          </a:xfrm>
          <a:prstGeom prst="rect">
            <a:avLst/>
          </a:prstGeom>
          <a:noFill/>
        </p:spPr>
        <p:txBody>
          <a:bodyPr wrap="square" lIns="18288" rIns="18288">
            <a:spAutoFit/>
          </a:bodyPr>
          <a:lstStyle/>
          <a:p>
            <a:pPr algn="l">
              <a:defRPr sz="1450" b="1">
                <a:solidFill>
                  <a:srgbClr val="1F2B3D"/>
                </a:solidFill>
                <a:latin typeface="Aptos Display"/>
              </a:defRPr>
            </a:pPr>
            <a:r>
              <a:t>Stress Tests</a:t>
            </a:r>
          </a:p>
        </p:txBody>
      </p:sp>
      <p:sp>
        <p:nvSpPr>
          <p:cNvPr id="35" name="TextBox 34"/>
          <p:cNvSpPr txBox="1"/>
          <p:nvPr/>
        </p:nvSpPr>
        <p:spPr>
          <a:xfrm>
            <a:off x="786384" y="4407408"/>
            <a:ext cx="2148840" cy="457200"/>
          </a:xfrm>
          <a:prstGeom prst="rect">
            <a:avLst/>
          </a:prstGeom>
          <a:noFill/>
        </p:spPr>
        <p:txBody>
          <a:bodyPr wrap="square" lIns="18288" rIns="18288">
            <a:spAutoFit/>
          </a:bodyPr>
          <a:lstStyle/>
          <a:p>
            <a:pPr algn="l">
              <a:defRPr sz="940" b="0">
                <a:solidFill>
                  <a:srgbClr val="59687C"/>
                </a:solidFill>
                <a:latin typeface="Aptos"/>
              </a:defRPr>
            </a:pPr>
            <a:r>
              <a:t>Noise perturbation, financial stress scenarios, and adversarial manipulation checks.</a:t>
            </a:r>
          </a:p>
        </p:txBody>
      </p:sp>
      <p:sp>
        <p:nvSpPr>
          <p:cNvPr id="36" name="Rounded Rectangle 35"/>
          <p:cNvSpPr/>
          <p:nvPr/>
        </p:nvSpPr>
        <p:spPr>
          <a:xfrm>
            <a:off x="3447288" y="3657600"/>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3419856" y="3621024"/>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419856" y="3621024"/>
            <a:ext cx="73152" cy="1481328"/>
          </a:xfrm>
          <a:prstGeom prst="rect">
            <a:avLst/>
          </a:prstGeom>
          <a:solidFill>
            <a:srgbClr val="655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39312" y="3803904"/>
            <a:ext cx="411480" cy="237744"/>
          </a:xfrm>
          <a:prstGeom prst="rect">
            <a:avLst/>
          </a:prstGeom>
          <a:noFill/>
        </p:spPr>
        <p:txBody>
          <a:bodyPr wrap="square" lIns="18288" rIns="18288">
            <a:spAutoFit/>
          </a:bodyPr>
          <a:lstStyle/>
          <a:p>
            <a:pPr algn="l">
              <a:defRPr sz="1000" b="1">
                <a:solidFill>
                  <a:srgbClr val="6558A5"/>
                </a:solidFill>
                <a:latin typeface="Aptos"/>
              </a:defRPr>
            </a:pPr>
            <a:r>
              <a:t>06</a:t>
            </a:r>
          </a:p>
        </p:txBody>
      </p:sp>
      <p:sp>
        <p:nvSpPr>
          <p:cNvPr id="40" name="TextBox 39"/>
          <p:cNvSpPr txBox="1"/>
          <p:nvPr/>
        </p:nvSpPr>
        <p:spPr>
          <a:xfrm>
            <a:off x="3639312" y="4059935"/>
            <a:ext cx="2148840" cy="256032"/>
          </a:xfrm>
          <a:prstGeom prst="rect">
            <a:avLst/>
          </a:prstGeom>
          <a:noFill/>
        </p:spPr>
        <p:txBody>
          <a:bodyPr wrap="square" lIns="18288" rIns="18288">
            <a:spAutoFit/>
          </a:bodyPr>
          <a:lstStyle/>
          <a:p>
            <a:pPr algn="l">
              <a:defRPr sz="1450" b="1">
                <a:solidFill>
                  <a:srgbClr val="1F2B3D"/>
                </a:solidFill>
                <a:latin typeface="Aptos Display"/>
              </a:defRPr>
            </a:pPr>
            <a:r>
              <a:t>SHAP &amp; Drift</a:t>
            </a:r>
          </a:p>
        </p:txBody>
      </p:sp>
      <p:sp>
        <p:nvSpPr>
          <p:cNvPr id="41" name="TextBox 40"/>
          <p:cNvSpPr txBox="1"/>
          <p:nvPr/>
        </p:nvSpPr>
        <p:spPr>
          <a:xfrm>
            <a:off x="3639312" y="4407408"/>
            <a:ext cx="2148840" cy="457200"/>
          </a:xfrm>
          <a:prstGeom prst="rect">
            <a:avLst/>
          </a:prstGeom>
          <a:noFill/>
        </p:spPr>
        <p:txBody>
          <a:bodyPr wrap="square" lIns="18288" rIns="18288">
            <a:spAutoFit/>
          </a:bodyPr>
          <a:lstStyle/>
          <a:p>
            <a:pPr algn="l">
              <a:defRPr sz="940" b="0">
                <a:solidFill>
                  <a:srgbClr val="59687C"/>
                </a:solidFill>
                <a:latin typeface="Aptos"/>
              </a:defRPr>
            </a:pPr>
            <a:r>
              <a:t>Feature attribution stability and drift monitoring evidence.</a:t>
            </a:r>
          </a:p>
        </p:txBody>
      </p:sp>
      <p:sp>
        <p:nvSpPr>
          <p:cNvPr id="42" name="Rounded Rectangle 41"/>
          <p:cNvSpPr/>
          <p:nvPr/>
        </p:nvSpPr>
        <p:spPr>
          <a:xfrm>
            <a:off x="6300216" y="3657600"/>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272784" y="3621024"/>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72784" y="3621024"/>
            <a:ext cx="73152" cy="1481328"/>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92240" y="3803904"/>
            <a:ext cx="411480" cy="237744"/>
          </a:xfrm>
          <a:prstGeom prst="rect">
            <a:avLst/>
          </a:prstGeom>
          <a:noFill/>
        </p:spPr>
        <p:txBody>
          <a:bodyPr wrap="square" lIns="18288" rIns="18288">
            <a:spAutoFit/>
          </a:bodyPr>
          <a:lstStyle/>
          <a:p>
            <a:pPr algn="l">
              <a:defRPr sz="1000" b="1">
                <a:solidFill>
                  <a:srgbClr val="1C847E"/>
                </a:solidFill>
                <a:latin typeface="Aptos"/>
              </a:defRPr>
            </a:pPr>
            <a:r>
              <a:t>07</a:t>
            </a:r>
          </a:p>
        </p:txBody>
      </p:sp>
      <p:sp>
        <p:nvSpPr>
          <p:cNvPr id="46" name="TextBox 45"/>
          <p:cNvSpPr txBox="1"/>
          <p:nvPr/>
        </p:nvSpPr>
        <p:spPr>
          <a:xfrm>
            <a:off x="6492240" y="4059935"/>
            <a:ext cx="2148840" cy="256032"/>
          </a:xfrm>
          <a:prstGeom prst="rect">
            <a:avLst/>
          </a:prstGeom>
          <a:noFill/>
        </p:spPr>
        <p:txBody>
          <a:bodyPr wrap="square" lIns="18288" rIns="18288">
            <a:spAutoFit/>
          </a:bodyPr>
          <a:lstStyle/>
          <a:p>
            <a:pPr algn="l">
              <a:defRPr sz="1450" b="1">
                <a:solidFill>
                  <a:srgbClr val="1F2B3D"/>
                </a:solidFill>
                <a:latin typeface="Aptos Display"/>
              </a:defRPr>
            </a:pPr>
            <a:r>
              <a:t>Findings</a:t>
            </a:r>
          </a:p>
        </p:txBody>
      </p:sp>
      <p:sp>
        <p:nvSpPr>
          <p:cNvPr id="47" name="TextBox 46"/>
          <p:cNvSpPr txBox="1"/>
          <p:nvPr/>
        </p:nvSpPr>
        <p:spPr>
          <a:xfrm>
            <a:off x="6492240" y="4407408"/>
            <a:ext cx="2148840" cy="457200"/>
          </a:xfrm>
          <a:prstGeom prst="rect">
            <a:avLst/>
          </a:prstGeom>
          <a:noFill/>
        </p:spPr>
        <p:txBody>
          <a:bodyPr wrap="square" lIns="18288" rIns="18288">
            <a:spAutoFit/>
          </a:bodyPr>
          <a:lstStyle/>
          <a:p>
            <a:pPr algn="l">
              <a:defRPr sz="940" b="0">
                <a:solidFill>
                  <a:srgbClr val="59687C"/>
                </a:solidFill>
                <a:latin typeface="Aptos"/>
              </a:defRPr>
            </a:pPr>
            <a:r>
              <a:t>RQ-by-RQ interpretation and practical implications.</a:t>
            </a:r>
          </a:p>
        </p:txBody>
      </p:sp>
      <p:sp>
        <p:nvSpPr>
          <p:cNvPr id="48" name="Rounded Rectangle 47"/>
          <p:cNvSpPr/>
          <p:nvPr/>
        </p:nvSpPr>
        <p:spPr>
          <a:xfrm>
            <a:off x="9153143" y="3657600"/>
            <a:ext cx="2633472" cy="1481328"/>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125711" y="3621024"/>
            <a:ext cx="2633472" cy="1481328"/>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125711" y="3621024"/>
            <a:ext cx="73152" cy="1481328"/>
          </a:xfrm>
          <a:prstGeom prst="rect">
            <a:avLst/>
          </a:prstGeom>
          <a:solidFill>
            <a:srgbClr val="596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345167" y="3803904"/>
            <a:ext cx="411480" cy="237744"/>
          </a:xfrm>
          <a:prstGeom prst="rect">
            <a:avLst/>
          </a:prstGeom>
          <a:noFill/>
        </p:spPr>
        <p:txBody>
          <a:bodyPr wrap="square" lIns="18288" rIns="18288">
            <a:spAutoFit/>
          </a:bodyPr>
          <a:lstStyle/>
          <a:p>
            <a:pPr algn="l">
              <a:defRPr sz="1000" b="1">
                <a:solidFill>
                  <a:srgbClr val="59687C"/>
                </a:solidFill>
                <a:latin typeface="Aptos"/>
              </a:defRPr>
            </a:pPr>
            <a:r>
              <a:t>08</a:t>
            </a:r>
          </a:p>
        </p:txBody>
      </p:sp>
      <p:sp>
        <p:nvSpPr>
          <p:cNvPr id="52" name="TextBox 51"/>
          <p:cNvSpPr txBox="1"/>
          <p:nvPr/>
        </p:nvSpPr>
        <p:spPr>
          <a:xfrm>
            <a:off x="9345167" y="4059935"/>
            <a:ext cx="2148840" cy="256032"/>
          </a:xfrm>
          <a:prstGeom prst="rect">
            <a:avLst/>
          </a:prstGeom>
          <a:noFill/>
        </p:spPr>
        <p:txBody>
          <a:bodyPr wrap="square" lIns="18288" rIns="18288">
            <a:spAutoFit/>
          </a:bodyPr>
          <a:lstStyle/>
          <a:p>
            <a:pPr algn="l">
              <a:defRPr sz="1450" b="1">
                <a:solidFill>
                  <a:srgbClr val="1F2B3D"/>
                </a:solidFill>
                <a:latin typeface="Aptos Display"/>
              </a:defRPr>
            </a:pPr>
            <a:r>
              <a:t>Limits &amp; Future</a:t>
            </a:r>
          </a:p>
        </p:txBody>
      </p:sp>
      <p:sp>
        <p:nvSpPr>
          <p:cNvPr id="53" name="TextBox 52"/>
          <p:cNvSpPr txBox="1"/>
          <p:nvPr/>
        </p:nvSpPr>
        <p:spPr>
          <a:xfrm>
            <a:off x="9345167" y="4407408"/>
            <a:ext cx="2148840" cy="457200"/>
          </a:xfrm>
          <a:prstGeom prst="rect">
            <a:avLst/>
          </a:prstGeom>
          <a:noFill/>
        </p:spPr>
        <p:txBody>
          <a:bodyPr wrap="square" lIns="18288" rIns="18288">
            <a:spAutoFit/>
          </a:bodyPr>
          <a:lstStyle/>
          <a:p>
            <a:pPr algn="l">
              <a:defRPr sz="940" b="0">
                <a:solidFill>
                  <a:srgbClr val="59687C"/>
                </a:solidFill>
                <a:latin typeface="Aptos"/>
              </a:defRPr>
            </a:pPr>
            <a:r>
              <a:t>Scope boundaries, data realism, deployment readiness, and future extensions.</a:t>
            </a:r>
          </a:p>
        </p:txBody>
      </p:sp>
      <p:sp>
        <p:nvSpPr>
          <p:cNvPr id="54" name="TextBox 53"/>
          <p:cNvSpPr txBox="1"/>
          <p:nvPr/>
        </p:nvSpPr>
        <p:spPr>
          <a:xfrm>
            <a:off x="566928" y="6446520"/>
            <a:ext cx="8961120" cy="201168"/>
          </a:xfrm>
          <a:prstGeom prst="rect">
            <a:avLst/>
          </a:prstGeom>
          <a:noFill/>
        </p:spPr>
        <p:txBody>
          <a:bodyPr wrap="square" lIns="18288" rIns="18288">
            <a:spAutoFit/>
          </a:bodyPr>
          <a:lstStyle/>
          <a:p>
            <a:pPr algn="l">
              <a:defRPr sz="850" b="0">
                <a:solidFill>
                  <a:srgbClr val="59687C"/>
                </a:solidFill>
                <a:latin typeface="Aptos"/>
              </a:defRPr>
            </a:pPr>
            <a:r>
              <a:t>This slide bridges the clean dissertation storyline with the implementation evidence included in the appendix.</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2926080" cy="228600"/>
          </a:xfrm>
          <a:prstGeom prst="rect">
            <a:avLst/>
          </a:prstGeom>
          <a:noFill/>
        </p:spPr>
        <p:txBody>
          <a:bodyPr wrap="square" lIns="18288" rIns="18288">
            <a:spAutoFit/>
          </a:bodyPr>
          <a:lstStyle/>
          <a:p>
            <a:pPr algn="l">
              <a:defRPr sz="950" b="1">
                <a:solidFill>
                  <a:srgbClr val="1C847E"/>
                </a:solidFill>
                <a:latin typeface="Aptos"/>
              </a:defRPr>
            </a:pPr>
            <a:r>
              <a:t>DECK MIX</a:t>
            </a:r>
          </a:p>
        </p:txBody>
      </p:sp>
      <p:sp>
        <p:nvSpPr>
          <p:cNvPr id="3" name="TextBox 2"/>
          <p:cNvSpPr txBox="1"/>
          <p:nvPr/>
        </p:nvSpPr>
        <p:spPr>
          <a:xfrm>
            <a:off x="566928" y="621792"/>
            <a:ext cx="8046720" cy="475488"/>
          </a:xfrm>
          <a:prstGeom prst="rect">
            <a:avLst/>
          </a:prstGeom>
          <a:noFill/>
        </p:spPr>
        <p:txBody>
          <a:bodyPr wrap="square" lIns="18288" rIns="18288">
            <a:spAutoFit/>
          </a:bodyPr>
          <a:lstStyle/>
          <a:p>
            <a:pPr algn="l">
              <a:defRPr sz="2500" b="1">
                <a:solidFill>
                  <a:srgbClr val="12253F"/>
                </a:solidFill>
                <a:latin typeface="Aptos Display"/>
              </a:defRPr>
            </a:pPr>
            <a:r>
              <a:t>How the Two Presentations Were Combined</a:t>
            </a:r>
          </a:p>
        </p:txBody>
      </p:sp>
      <p:sp>
        <p:nvSpPr>
          <p:cNvPr id="4" name="TextBox 3"/>
          <p:cNvSpPr txBox="1"/>
          <p:nvPr/>
        </p:nvSpPr>
        <p:spPr>
          <a:xfrm>
            <a:off x="566928" y="1069848"/>
            <a:ext cx="9784080" cy="329184"/>
          </a:xfrm>
          <a:prstGeom prst="rect">
            <a:avLst/>
          </a:prstGeom>
          <a:noFill/>
        </p:spPr>
        <p:txBody>
          <a:bodyPr wrap="square" lIns="18288" rIns="18288">
            <a:spAutoFit/>
          </a:bodyPr>
          <a:lstStyle/>
          <a:p>
            <a:pPr algn="l">
              <a:defRPr sz="1150" b="0">
                <a:solidFill>
                  <a:srgbClr val="59687C"/>
                </a:solidFill>
                <a:latin typeface="Aptos"/>
              </a:defRPr>
            </a:pPr>
            <a:r>
              <a:t>The dissertation defence deck remains the main storyline; the downloaded deck and code outputs inform the evidence appendix.</a:t>
            </a:r>
          </a:p>
        </p:txBody>
      </p:sp>
      <p:sp>
        <p:nvSpPr>
          <p:cNvPr id="5" name="Rectangle 4"/>
          <p:cNvSpPr/>
          <p:nvPr/>
        </p:nvSpPr>
        <p:spPr>
          <a:xfrm>
            <a:off x="566928" y="1426464"/>
            <a:ext cx="11064240" cy="27432"/>
          </a:xfrm>
          <a:prstGeom prst="rect">
            <a:avLst/>
          </a:prstGeom>
          <a:solidFill>
            <a:srgbClr val="D1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13232" y="1865376"/>
            <a:ext cx="3429000" cy="3246120"/>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828800"/>
            <a:ext cx="3429000" cy="3246120"/>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828800"/>
            <a:ext cx="73152" cy="3246120"/>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084831"/>
            <a:ext cx="2834640" cy="320040"/>
          </a:xfrm>
          <a:prstGeom prst="rect">
            <a:avLst/>
          </a:prstGeom>
          <a:noFill/>
        </p:spPr>
        <p:txBody>
          <a:bodyPr wrap="square" lIns="18288" rIns="18288">
            <a:spAutoFit/>
          </a:bodyPr>
          <a:lstStyle/>
          <a:p>
            <a:pPr algn="l">
              <a:defRPr sz="1700" b="1">
                <a:solidFill>
                  <a:srgbClr val="1F2B3D"/>
                </a:solidFill>
                <a:latin typeface="Aptos Display"/>
              </a:defRPr>
            </a:pPr>
            <a:r>
              <a:t>Base dissertation deck</a:t>
            </a:r>
          </a:p>
        </p:txBody>
      </p:sp>
      <p:sp>
        <p:nvSpPr>
          <p:cNvPr id="10" name="TextBox 9"/>
          <p:cNvSpPr txBox="1"/>
          <p:nvPr/>
        </p:nvSpPr>
        <p:spPr>
          <a:xfrm>
            <a:off x="960120" y="2633472"/>
            <a:ext cx="2743200" cy="1737360"/>
          </a:xfrm>
          <a:prstGeom prst="rect">
            <a:avLst/>
          </a:prstGeom>
          <a:noFill/>
        </p:spPr>
        <p:txBody>
          <a:bodyPr wrap="square" lIns="109728" rIns="54864">
            <a:spAutoFit/>
          </a:bodyPr>
          <a:lstStyle/>
          <a:p>
            <a:pPr>
              <a:spcAft>
                <a:spcPts val="500"/>
              </a:spcAft>
              <a:defRPr sz="1250">
                <a:solidFill>
                  <a:srgbClr val="1F2B3D"/>
                </a:solidFill>
                <a:latin typeface="Aptos"/>
              </a:defRPr>
            </a:pPr>
            <a:r>
              <a:t>Keeps the 15-slide chapter-by-chapter defence flow.</a:t>
            </a:r>
          </a:p>
          <a:p>
            <a:pPr>
              <a:spcAft>
                <a:spcPts val="500"/>
              </a:spcAft>
              <a:defRPr sz="1250">
                <a:solidFill>
                  <a:srgbClr val="1F2B3D"/>
                </a:solidFill>
                <a:latin typeface="Aptos"/>
              </a:defRPr>
            </a:pPr>
            <a:r>
              <a:t>Uses the widescreen visual system already built for the dissertation.</a:t>
            </a:r>
          </a:p>
          <a:p>
            <a:pPr>
              <a:spcAft>
                <a:spcPts val="500"/>
              </a:spcAft>
              <a:defRPr sz="1250">
                <a:solidFill>
                  <a:srgbClr val="1F2B3D"/>
                </a:solidFill>
                <a:latin typeface="Aptos"/>
              </a:defRPr>
            </a:pPr>
            <a:r>
              <a:t>Maintains existing narrative anchors and conclusion slides.</a:t>
            </a:r>
          </a:p>
        </p:txBody>
      </p:sp>
      <p:sp>
        <p:nvSpPr>
          <p:cNvPr id="11" name="Rounded Rectangle 10"/>
          <p:cNvSpPr/>
          <p:nvPr/>
        </p:nvSpPr>
        <p:spPr>
          <a:xfrm>
            <a:off x="4416552" y="1865376"/>
            <a:ext cx="3429000" cy="3246120"/>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0" y="1828800"/>
            <a:ext cx="3429000" cy="3246120"/>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28800"/>
            <a:ext cx="73152" cy="3246120"/>
          </a:xfrm>
          <a:prstGeom prst="rect">
            <a:avLst/>
          </a:prstGeom>
          <a:solidFill>
            <a:srgbClr val="BB8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2084831"/>
            <a:ext cx="2834640" cy="320040"/>
          </a:xfrm>
          <a:prstGeom prst="rect">
            <a:avLst/>
          </a:prstGeom>
          <a:noFill/>
        </p:spPr>
        <p:txBody>
          <a:bodyPr wrap="square" lIns="18288" rIns="18288">
            <a:spAutoFit/>
          </a:bodyPr>
          <a:lstStyle/>
          <a:p>
            <a:pPr algn="l">
              <a:defRPr sz="1700" b="1">
                <a:solidFill>
                  <a:srgbClr val="1F2B3D"/>
                </a:solidFill>
                <a:latin typeface="Aptos Display"/>
              </a:defRPr>
            </a:pPr>
            <a:r>
              <a:t>Presentation framing</a:t>
            </a:r>
          </a:p>
        </p:txBody>
      </p:sp>
      <p:sp>
        <p:nvSpPr>
          <p:cNvPr id="15" name="TextBox 14"/>
          <p:cNvSpPr txBox="1"/>
          <p:nvPr/>
        </p:nvSpPr>
        <p:spPr>
          <a:xfrm>
            <a:off x="4663440" y="2633472"/>
            <a:ext cx="2743200" cy="1874519"/>
          </a:xfrm>
          <a:prstGeom prst="rect">
            <a:avLst/>
          </a:prstGeom>
          <a:noFill/>
        </p:spPr>
        <p:txBody>
          <a:bodyPr wrap="square" lIns="109728" rIns="54864">
            <a:spAutoFit/>
          </a:bodyPr>
          <a:lstStyle/>
          <a:p>
            <a:pPr>
              <a:spcAft>
                <a:spcPts val="500"/>
              </a:spcAft>
              <a:defRPr sz="1250">
                <a:solidFill>
                  <a:srgbClr val="1F2B3D"/>
                </a:solidFill>
                <a:latin typeface="Aptos"/>
              </a:defRPr>
            </a:pPr>
            <a:r>
              <a:t>Uses the requested section order: context, gap, RQs, method, results, stress, SHAP, findings, limits.</a:t>
            </a:r>
          </a:p>
          <a:p>
            <a:pPr>
              <a:spcAft>
                <a:spcPts val="500"/>
              </a:spcAft>
              <a:defRPr sz="1250">
                <a:solidFill>
                  <a:srgbClr val="1F2B3D"/>
                </a:solidFill>
                <a:latin typeface="Aptos"/>
              </a:defRPr>
            </a:pPr>
            <a:r>
              <a:t>Preserves thesis-facing language from the dissertation presentation.</a:t>
            </a:r>
          </a:p>
          <a:p>
            <a:pPr>
              <a:spcAft>
                <a:spcPts val="500"/>
              </a:spcAft>
              <a:defRPr sz="1250">
                <a:solidFill>
                  <a:srgbClr val="1F2B3D"/>
                </a:solidFill>
                <a:latin typeface="Aptos"/>
              </a:defRPr>
            </a:pPr>
            <a:r>
              <a:t>Avoids duplicate full-slide copies where content overlaps.</a:t>
            </a:r>
          </a:p>
        </p:txBody>
      </p:sp>
      <p:sp>
        <p:nvSpPr>
          <p:cNvPr id="16" name="Rounded Rectangle 15"/>
          <p:cNvSpPr/>
          <p:nvPr/>
        </p:nvSpPr>
        <p:spPr>
          <a:xfrm>
            <a:off x="8119871" y="1865376"/>
            <a:ext cx="3429000" cy="3246120"/>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92440" y="1828800"/>
            <a:ext cx="3429000" cy="3246120"/>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828800"/>
            <a:ext cx="73152" cy="3246120"/>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66760" y="2084831"/>
            <a:ext cx="2834640" cy="320040"/>
          </a:xfrm>
          <a:prstGeom prst="rect">
            <a:avLst/>
          </a:prstGeom>
          <a:noFill/>
        </p:spPr>
        <p:txBody>
          <a:bodyPr wrap="square" lIns="18288" rIns="18288">
            <a:spAutoFit/>
          </a:bodyPr>
          <a:lstStyle/>
          <a:p>
            <a:pPr algn="l">
              <a:defRPr sz="1700" b="1">
                <a:solidFill>
                  <a:srgbClr val="1F2B3D"/>
                </a:solidFill>
                <a:latin typeface="Aptos Display"/>
              </a:defRPr>
            </a:pPr>
            <a:r>
              <a:t>Code-output reference</a:t>
            </a:r>
          </a:p>
        </p:txBody>
      </p:sp>
      <p:sp>
        <p:nvSpPr>
          <p:cNvPr id="20" name="TextBox 19"/>
          <p:cNvSpPr txBox="1"/>
          <p:nvPr/>
        </p:nvSpPr>
        <p:spPr>
          <a:xfrm>
            <a:off x="8366760" y="2633472"/>
            <a:ext cx="2743200" cy="1874519"/>
          </a:xfrm>
          <a:prstGeom prst="rect">
            <a:avLst/>
          </a:prstGeom>
          <a:noFill/>
        </p:spPr>
        <p:txBody>
          <a:bodyPr wrap="square" lIns="109728" rIns="54864">
            <a:spAutoFit/>
          </a:bodyPr>
          <a:lstStyle/>
          <a:p>
            <a:pPr>
              <a:spcAft>
                <a:spcPts val="500"/>
              </a:spcAft>
              <a:defRPr sz="1250">
                <a:solidFill>
                  <a:srgbClr val="1F2B3D"/>
                </a:solidFill>
                <a:latin typeface="Aptos"/>
              </a:defRPr>
            </a:pPr>
            <a:r>
              <a:t>Adds selected tables and figures exported by the notebook pipeline.</a:t>
            </a:r>
          </a:p>
          <a:p>
            <a:pPr>
              <a:spcAft>
                <a:spcPts val="500"/>
              </a:spcAft>
              <a:defRPr sz="1250">
                <a:solidFill>
                  <a:srgbClr val="1F2B3D"/>
                </a:solidFill>
                <a:latin typeface="Aptos"/>
              </a:defRPr>
            </a:pPr>
            <a:r>
              <a:t>Includes model metrics, stress tests, SHAP, drift, cyber resilience, and alert fusion.</a:t>
            </a:r>
          </a:p>
          <a:p>
            <a:pPr>
              <a:spcAft>
                <a:spcPts val="500"/>
              </a:spcAft>
              <a:defRPr sz="1250">
                <a:solidFill>
                  <a:srgbClr val="1F2B3D"/>
                </a:solidFill>
                <a:latin typeface="Aptos"/>
              </a:defRPr>
            </a:pPr>
            <a:r>
              <a:t>Supports examiner questions without overloading the main talk.</a:t>
            </a:r>
          </a:p>
        </p:txBody>
      </p:sp>
      <p:sp>
        <p:nvSpPr>
          <p:cNvPr id="21" name="TextBox 20"/>
          <p:cNvSpPr txBox="1"/>
          <p:nvPr/>
        </p:nvSpPr>
        <p:spPr>
          <a:xfrm>
            <a:off x="566928" y="6446520"/>
            <a:ext cx="8961120" cy="201168"/>
          </a:xfrm>
          <a:prstGeom prst="rect">
            <a:avLst/>
          </a:prstGeom>
          <a:noFill/>
        </p:spPr>
        <p:txBody>
          <a:bodyPr wrap="square" lIns="18288" rIns="18288">
            <a:spAutoFit/>
          </a:bodyPr>
          <a:lstStyle/>
          <a:p>
            <a:pPr algn="l">
              <a:defRPr sz="850" b="0">
                <a:solidFill>
                  <a:srgbClr val="59687C"/>
                </a:solidFill>
                <a:latin typeface="Aptos"/>
              </a:defRPr>
            </a:pPr>
            <a:r>
              <a:t>Referenced source deck: Priyanka_Dissertation_Presentation.pptx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2926080" cy="228600"/>
          </a:xfrm>
          <a:prstGeom prst="rect">
            <a:avLst/>
          </a:prstGeom>
          <a:noFill/>
        </p:spPr>
        <p:txBody>
          <a:bodyPr wrap="square" lIns="18288" rIns="18288">
            <a:spAutoFit/>
          </a:bodyPr>
          <a:lstStyle/>
          <a:p>
            <a:pPr algn="l">
              <a:defRPr sz="950" b="1">
                <a:solidFill>
                  <a:srgbClr val="1C847E"/>
                </a:solidFill>
                <a:latin typeface="Aptos"/>
              </a:defRPr>
            </a:pPr>
            <a:r>
              <a:t>CODE OUTPUT REFERENCE</a:t>
            </a:r>
          </a:p>
        </p:txBody>
      </p:sp>
      <p:sp>
        <p:nvSpPr>
          <p:cNvPr id="3" name="TextBox 2"/>
          <p:cNvSpPr txBox="1"/>
          <p:nvPr/>
        </p:nvSpPr>
        <p:spPr>
          <a:xfrm>
            <a:off x="566928" y="621792"/>
            <a:ext cx="8046720" cy="475488"/>
          </a:xfrm>
          <a:prstGeom prst="rect">
            <a:avLst/>
          </a:prstGeom>
          <a:noFill/>
        </p:spPr>
        <p:txBody>
          <a:bodyPr wrap="square" lIns="18288" rIns="18288">
            <a:spAutoFit/>
          </a:bodyPr>
          <a:lstStyle/>
          <a:p>
            <a:pPr algn="l">
              <a:defRPr sz="2500" b="1">
                <a:solidFill>
                  <a:srgbClr val="12253F"/>
                </a:solidFill>
                <a:latin typeface="Aptos Display"/>
              </a:defRPr>
            </a:pPr>
            <a:r>
              <a:t>Baseline Supervised Model Metrics</a:t>
            </a:r>
          </a:p>
        </p:txBody>
      </p:sp>
      <p:sp>
        <p:nvSpPr>
          <p:cNvPr id="4" name="TextBox 3"/>
          <p:cNvSpPr txBox="1"/>
          <p:nvPr/>
        </p:nvSpPr>
        <p:spPr>
          <a:xfrm>
            <a:off x="566928" y="1069848"/>
            <a:ext cx="9784080" cy="329184"/>
          </a:xfrm>
          <a:prstGeom prst="rect">
            <a:avLst/>
          </a:prstGeom>
          <a:noFill/>
        </p:spPr>
        <p:txBody>
          <a:bodyPr wrap="square" lIns="18288" rIns="18288">
            <a:spAutoFit/>
          </a:bodyPr>
          <a:lstStyle/>
          <a:p>
            <a:pPr algn="l">
              <a:defRPr sz="1150" b="0">
                <a:solidFill>
                  <a:srgbClr val="59687C"/>
                </a:solidFill>
                <a:latin typeface="Aptos"/>
              </a:defRPr>
            </a:pPr>
            <a:r>
              <a:t>Direct table output from supervised_model_metrics.csv, paired with the exported model-performance heatmap.</a:t>
            </a:r>
          </a:p>
        </p:txBody>
      </p:sp>
      <p:sp>
        <p:nvSpPr>
          <p:cNvPr id="5" name="Rectangle 4"/>
          <p:cNvSpPr/>
          <p:nvPr/>
        </p:nvSpPr>
        <p:spPr>
          <a:xfrm>
            <a:off x="566928" y="1426464"/>
            <a:ext cx="11064240" cy="27432"/>
          </a:xfrm>
          <a:prstGeom prst="rect">
            <a:avLst/>
          </a:prstGeom>
          <a:solidFill>
            <a:srgbClr val="D1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58368" y="1828800"/>
          <a:ext cx="5577840" cy="1325880"/>
        </p:xfrm>
        <a:graphic>
          <a:graphicData uri="http://schemas.openxmlformats.org/drawingml/2006/table">
            <a:tbl>
              <a:tblPr firstRow="1" bandRow="1">
                <a:tableStyleId>{5C22544A-7EE6-4342-B048-85BDC9FD1C3A}</a:tableStyleId>
              </a:tblPr>
              <a:tblGrid>
                <a:gridCol w="697230">
                  <a:extLst>
                    <a:ext uri="{9D8B030D-6E8A-4147-A177-3AD203B41FA5}">
                      <a16:colId xmlns:a16="http://schemas.microsoft.com/office/drawing/2014/main" val="20000"/>
                    </a:ext>
                  </a:extLst>
                </a:gridCol>
                <a:gridCol w="697230">
                  <a:extLst>
                    <a:ext uri="{9D8B030D-6E8A-4147-A177-3AD203B41FA5}">
                      <a16:colId xmlns:a16="http://schemas.microsoft.com/office/drawing/2014/main" val="20001"/>
                    </a:ext>
                  </a:extLst>
                </a:gridCol>
                <a:gridCol w="697230">
                  <a:extLst>
                    <a:ext uri="{9D8B030D-6E8A-4147-A177-3AD203B41FA5}">
                      <a16:colId xmlns:a16="http://schemas.microsoft.com/office/drawing/2014/main" val="20002"/>
                    </a:ext>
                  </a:extLst>
                </a:gridCol>
                <a:gridCol w="697230">
                  <a:extLst>
                    <a:ext uri="{9D8B030D-6E8A-4147-A177-3AD203B41FA5}">
                      <a16:colId xmlns:a16="http://schemas.microsoft.com/office/drawing/2014/main" val="20003"/>
                    </a:ext>
                  </a:extLst>
                </a:gridCol>
                <a:gridCol w="697230">
                  <a:extLst>
                    <a:ext uri="{9D8B030D-6E8A-4147-A177-3AD203B41FA5}">
                      <a16:colId xmlns:a16="http://schemas.microsoft.com/office/drawing/2014/main" val="20004"/>
                    </a:ext>
                  </a:extLst>
                </a:gridCol>
                <a:gridCol w="697230">
                  <a:extLst>
                    <a:ext uri="{9D8B030D-6E8A-4147-A177-3AD203B41FA5}">
                      <a16:colId xmlns:a16="http://schemas.microsoft.com/office/drawing/2014/main" val="20005"/>
                    </a:ext>
                  </a:extLst>
                </a:gridCol>
                <a:gridCol w="697230">
                  <a:extLst>
                    <a:ext uri="{9D8B030D-6E8A-4147-A177-3AD203B41FA5}">
                      <a16:colId xmlns:a16="http://schemas.microsoft.com/office/drawing/2014/main" val="20006"/>
                    </a:ext>
                  </a:extLst>
                </a:gridCol>
                <a:gridCol w="697230">
                  <a:extLst>
                    <a:ext uri="{9D8B030D-6E8A-4147-A177-3AD203B41FA5}">
                      <a16:colId xmlns:a16="http://schemas.microsoft.com/office/drawing/2014/main" val="20007"/>
                    </a:ext>
                  </a:extLst>
                </a:gridCol>
              </a:tblGrid>
              <a:tr h="331470">
                <a:tc>
                  <a:txBody>
                    <a:bodyPr/>
                    <a:lstStyle/>
                    <a:p>
                      <a:pPr algn="ctr">
                        <a:defRPr sz="840" b="1">
                          <a:solidFill>
                            <a:srgbClr val="FFFFFF"/>
                          </a:solidFill>
                          <a:latin typeface="Aptos"/>
                        </a:defRPr>
                      </a:pPr>
                      <a:r>
                        <a:t>Model</a:t>
                      </a:r>
                    </a:p>
                  </a:txBody>
                  <a:tcPr>
                    <a:solidFill>
                      <a:srgbClr val="12253F"/>
                    </a:solidFill>
                  </a:tcPr>
                </a:tc>
                <a:tc>
                  <a:txBody>
                    <a:bodyPr/>
                    <a:lstStyle/>
                    <a:p>
                      <a:pPr algn="ctr">
                        <a:defRPr sz="840" b="1">
                          <a:solidFill>
                            <a:srgbClr val="FFFFFF"/>
                          </a:solidFill>
                          <a:latin typeface="Aptos"/>
                        </a:defRPr>
                      </a:pPr>
                      <a:r>
                        <a:t>Acc.</a:t>
                      </a:r>
                    </a:p>
                  </a:txBody>
                  <a:tcPr>
                    <a:solidFill>
                      <a:srgbClr val="12253F"/>
                    </a:solidFill>
                  </a:tcPr>
                </a:tc>
                <a:tc>
                  <a:txBody>
                    <a:bodyPr/>
                    <a:lstStyle/>
                    <a:p>
                      <a:pPr algn="ctr">
                        <a:defRPr sz="840" b="1">
                          <a:solidFill>
                            <a:srgbClr val="FFFFFF"/>
                          </a:solidFill>
                          <a:latin typeface="Aptos"/>
                        </a:defRPr>
                      </a:pPr>
                      <a:r>
                        <a:t>Prec.</a:t>
                      </a:r>
                    </a:p>
                  </a:txBody>
                  <a:tcPr>
                    <a:solidFill>
                      <a:srgbClr val="12253F"/>
                    </a:solidFill>
                  </a:tcPr>
                </a:tc>
                <a:tc>
                  <a:txBody>
                    <a:bodyPr/>
                    <a:lstStyle/>
                    <a:p>
                      <a:pPr algn="ctr">
                        <a:defRPr sz="840" b="1">
                          <a:solidFill>
                            <a:srgbClr val="FFFFFF"/>
                          </a:solidFill>
                          <a:latin typeface="Aptos"/>
                        </a:defRPr>
                      </a:pPr>
                      <a:r>
                        <a:t>Recall</a:t>
                      </a:r>
                    </a:p>
                  </a:txBody>
                  <a:tcPr>
                    <a:solidFill>
                      <a:srgbClr val="12253F"/>
                    </a:solidFill>
                  </a:tcPr>
                </a:tc>
                <a:tc>
                  <a:txBody>
                    <a:bodyPr/>
                    <a:lstStyle/>
                    <a:p>
                      <a:pPr algn="ctr">
                        <a:defRPr sz="840" b="1">
                          <a:solidFill>
                            <a:srgbClr val="FFFFFF"/>
                          </a:solidFill>
                          <a:latin typeface="Aptos"/>
                        </a:defRPr>
                      </a:pPr>
                      <a:r>
                        <a:t>F1</a:t>
                      </a:r>
                    </a:p>
                  </a:txBody>
                  <a:tcPr>
                    <a:solidFill>
                      <a:srgbClr val="12253F"/>
                    </a:solidFill>
                  </a:tcPr>
                </a:tc>
                <a:tc>
                  <a:txBody>
                    <a:bodyPr/>
                    <a:lstStyle/>
                    <a:p>
                      <a:pPr algn="ctr">
                        <a:defRPr sz="840" b="1">
                          <a:solidFill>
                            <a:srgbClr val="FFFFFF"/>
                          </a:solidFill>
                          <a:latin typeface="Aptos"/>
                        </a:defRPr>
                      </a:pPr>
                      <a:r>
                        <a:t>AUC</a:t>
                      </a:r>
                    </a:p>
                  </a:txBody>
                  <a:tcPr>
                    <a:solidFill>
                      <a:srgbClr val="12253F"/>
                    </a:solidFill>
                  </a:tcPr>
                </a:tc>
                <a:tc>
                  <a:txBody>
                    <a:bodyPr/>
                    <a:lstStyle/>
                    <a:p>
                      <a:pPr algn="ctr">
                        <a:defRPr sz="840" b="1">
                          <a:solidFill>
                            <a:srgbClr val="FFFFFF"/>
                          </a:solidFill>
                          <a:latin typeface="Aptos"/>
                        </a:defRPr>
                      </a:pPr>
                      <a:r>
                        <a:t>FP</a:t>
                      </a:r>
                    </a:p>
                  </a:txBody>
                  <a:tcPr>
                    <a:solidFill>
                      <a:srgbClr val="12253F"/>
                    </a:solidFill>
                  </a:tcPr>
                </a:tc>
                <a:tc>
                  <a:txBody>
                    <a:bodyPr/>
                    <a:lstStyle/>
                    <a:p>
                      <a:pPr algn="ctr">
                        <a:defRPr sz="840" b="1">
                          <a:solidFill>
                            <a:srgbClr val="FFFFFF"/>
                          </a:solidFill>
                          <a:latin typeface="Aptos"/>
                        </a:defRPr>
                      </a:pPr>
                      <a:r>
                        <a:t>FN</a:t>
                      </a:r>
                    </a:p>
                  </a:txBody>
                  <a:tcPr>
                    <a:solidFill>
                      <a:srgbClr val="12253F"/>
                    </a:solidFill>
                  </a:tcPr>
                </a:tc>
                <a:extLst>
                  <a:ext uri="{0D108BD9-81ED-4DB2-BD59-A6C34878D82A}">
                    <a16:rowId xmlns:a16="http://schemas.microsoft.com/office/drawing/2014/main" val="10000"/>
                  </a:ext>
                </a:extLst>
              </a:tr>
              <a:tr h="331470">
                <a:tc>
                  <a:txBody>
                    <a:bodyPr/>
                    <a:lstStyle/>
                    <a:p>
                      <a:pPr algn="l">
                        <a:defRPr sz="840">
                          <a:solidFill>
                            <a:srgbClr val="1F2B3D"/>
                          </a:solidFill>
                          <a:latin typeface="Aptos"/>
                        </a:defRPr>
                      </a:pPr>
                      <a:r>
                        <a:t>Logistic Reg.</a:t>
                      </a:r>
                    </a:p>
                  </a:txBody>
                  <a:tcPr>
                    <a:solidFill>
                      <a:srgbClr val="FFFFFF"/>
                    </a:solidFill>
                  </a:tcPr>
                </a:tc>
                <a:tc>
                  <a:txBody>
                    <a:bodyPr/>
                    <a:lstStyle/>
                    <a:p>
                      <a:pPr algn="ctr">
                        <a:defRPr sz="840">
                          <a:solidFill>
                            <a:srgbClr val="1F2B3D"/>
                          </a:solidFill>
                          <a:latin typeface="Aptos"/>
                        </a:defRPr>
                      </a:pPr>
                      <a:r>
                        <a:t>0.478</a:t>
                      </a:r>
                    </a:p>
                  </a:txBody>
                  <a:tcPr>
                    <a:solidFill>
                      <a:srgbClr val="FFFFFF"/>
                    </a:solidFill>
                  </a:tcPr>
                </a:tc>
                <a:tc>
                  <a:txBody>
                    <a:bodyPr/>
                    <a:lstStyle/>
                    <a:p>
                      <a:pPr algn="ctr">
                        <a:defRPr sz="840">
                          <a:solidFill>
                            <a:srgbClr val="1F2B3D"/>
                          </a:solidFill>
                          <a:latin typeface="Aptos"/>
                        </a:defRPr>
                      </a:pPr>
                      <a:r>
                        <a:t>0.235</a:t>
                      </a:r>
                    </a:p>
                  </a:txBody>
                  <a:tcPr>
                    <a:solidFill>
                      <a:srgbClr val="FFFFFF"/>
                    </a:solidFill>
                  </a:tcPr>
                </a:tc>
                <a:tc>
                  <a:txBody>
                    <a:bodyPr/>
                    <a:lstStyle/>
                    <a:p>
                      <a:pPr algn="ctr">
                        <a:defRPr sz="840">
                          <a:solidFill>
                            <a:srgbClr val="1F2B3D"/>
                          </a:solidFill>
                          <a:latin typeface="Aptos"/>
                        </a:defRPr>
                      </a:pPr>
                      <a:r>
                        <a:t>0.745</a:t>
                      </a:r>
                    </a:p>
                  </a:txBody>
                  <a:tcPr>
                    <a:solidFill>
                      <a:srgbClr val="FFFFFF"/>
                    </a:solidFill>
                  </a:tcPr>
                </a:tc>
                <a:tc>
                  <a:txBody>
                    <a:bodyPr/>
                    <a:lstStyle/>
                    <a:p>
                      <a:pPr algn="ctr">
                        <a:defRPr sz="840">
                          <a:solidFill>
                            <a:srgbClr val="1F2B3D"/>
                          </a:solidFill>
                          <a:latin typeface="Aptos"/>
                        </a:defRPr>
                      </a:pPr>
                      <a:r>
                        <a:t>0.358</a:t>
                      </a:r>
                    </a:p>
                  </a:txBody>
                  <a:tcPr>
                    <a:solidFill>
                      <a:srgbClr val="FFFFFF"/>
                    </a:solidFill>
                  </a:tcPr>
                </a:tc>
                <a:tc>
                  <a:txBody>
                    <a:bodyPr/>
                    <a:lstStyle/>
                    <a:p>
                      <a:pPr algn="ctr">
                        <a:defRPr sz="840">
                          <a:solidFill>
                            <a:srgbClr val="1F2B3D"/>
                          </a:solidFill>
                          <a:latin typeface="Aptos"/>
                        </a:defRPr>
                      </a:pPr>
                      <a:r>
                        <a:t>0.612</a:t>
                      </a:r>
                    </a:p>
                  </a:txBody>
                  <a:tcPr>
                    <a:solidFill>
                      <a:srgbClr val="FFFFFF"/>
                    </a:solidFill>
                  </a:tcPr>
                </a:tc>
                <a:tc>
                  <a:txBody>
                    <a:bodyPr/>
                    <a:lstStyle/>
                    <a:p>
                      <a:pPr algn="ctr">
                        <a:defRPr sz="840">
                          <a:solidFill>
                            <a:srgbClr val="1F2B3D"/>
                          </a:solidFill>
                          <a:latin typeface="Aptos"/>
                        </a:defRPr>
                      </a:pPr>
                      <a:r>
                        <a:t>2,481</a:t>
                      </a:r>
                    </a:p>
                  </a:txBody>
                  <a:tcPr>
                    <a:solidFill>
                      <a:srgbClr val="FFFFFF"/>
                    </a:solidFill>
                  </a:tcPr>
                </a:tc>
                <a:tc>
                  <a:txBody>
                    <a:bodyPr/>
                    <a:lstStyle/>
                    <a:p>
                      <a:pPr algn="ctr">
                        <a:defRPr sz="840">
                          <a:solidFill>
                            <a:srgbClr val="1F2B3D"/>
                          </a:solidFill>
                          <a:latin typeface="Aptos"/>
                        </a:defRPr>
                      </a:pPr>
                      <a:r>
                        <a:t>261.00</a:t>
                      </a:r>
                    </a:p>
                  </a:txBody>
                  <a:tcPr>
                    <a:solidFill>
                      <a:srgbClr val="FFFFFF"/>
                    </a:solidFill>
                  </a:tcPr>
                </a:tc>
                <a:extLst>
                  <a:ext uri="{0D108BD9-81ED-4DB2-BD59-A6C34878D82A}">
                    <a16:rowId xmlns:a16="http://schemas.microsoft.com/office/drawing/2014/main" val="10001"/>
                  </a:ext>
                </a:extLst>
              </a:tr>
              <a:tr h="331470">
                <a:tc>
                  <a:txBody>
                    <a:bodyPr/>
                    <a:lstStyle/>
                    <a:p>
                      <a:pPr algn="l">
                        <a:defRPr sz="840">
                          <a:solidFill>
                            <a:srgbClr val="1F2B3D"/>
                          </a:solidFill>
                          <a:latin typeface="Aptos"/>
                        </a:defRPr>
                      </a:pPr>
                      <a:r>
                        <a:t>Random Forest</a:t>
                      </a:r>
                    </a:p>
                  </a:txBody>
                  <a:tcPr>
                    <a:solidFill>
                      <a:srgbClr val="F2F6FA"/>
                    </a:solidFill>
                  </a:tcPr>
                </a:tc>
                <a:tc>
                  <a:txBody>
                    <a:bodyPr/>
                    <a:lstStyle/>
                    <a:p>
                      <a:pPr algn="ctr">
                        <a:defRPr sz="840">
                          <a:solidFill>
                            <a:srgbClr val="1F2B3D"/>
                          </a:solidFill>
                          <a:latin typeface="Aptos"/>
                        </a:defRPr>
                      </a:pPr>
                      <a:r>
                        <a:t>0.805</a:t>
                      </a:r>
                    </a:p>
                  </a:txBody>
                  <a:tcPr>
                    <a:solidFill>
                      <a:srgbClr val="F2F6FA"/>
                    </a:solidFill>
                  </a:tcPr>
                </a:tc>
                <a:tc>
                  <a:txBody>
                    <a:bodyPr/>
                    <a:lstStyle/>
                    <a:p>
                      <a:pPr algn="ctr">
                        <a:defRPr sz="840">
                          <a:solidFill>
                            <a:srgbClr val="1F2B3D"/>
                          </a:solidFill>
                          <a:latin typeface="Aptos"/>
                        </a:defRPr>
                      </a:pPr>
                      <a:r>
                        <a:t>0.600</a:t>
                      </a:r>
                    </a:p>
                  </a:txBody>
                  <a:tcPr>
                    <a:solidFill>
                      <a:srgbClr val="F2F6FA"/>
                    </a:solidFill>
                  </a:tcPr>
                </a:tc>
                <a:tc>
                  <a:txBody>
                    <a:bodyPr/>
                    <a:lstStyle/>
                    <a:p>
                      <a:pPr algn="ctr">
                        <a:defRPr sz="840">
                          <a:solidFill>
                            <a:srgbClr val="1F2B3D"/>
                          </a:solidFill>
                          <a:latin typeface="Aptos"/>
                        </a:defRPr>
                      </a:pPr>
                      <a:r>
                        <a:t>0.006</a:t>
                      </a:r>
                    </a:p>
                  </a:txBody>
                  <a:tcPr>
                    <a:solidFill>
                      <a:srgbClr val="F2F6FA"/>
                    </a:solidFill>
                  </a:tcPr>
                </a:tc>
                <a:tc>
                  <a:txBody>
                    <a:bodyPr/>
                    <a:lstStyle/>
                    <a:p>
                      <a:pPr algn="ctr">
                        <a:defRPr sz="840">
                          <a:solidFill>
                            <a:srgbClr val="1F2B3D"/>
                          </a:solidFill>
                          <a:latin typeface="Aptos"/>
                        </a:defRPr>
                      </a:pPr>
                      <a:r>
                        <a:t>0.012</a:t>
                      </a:r>
                    </a:p>
                  </a:txBody>
                  <a:tcPr>
                    <a:solidFill>
                      <a:srgbClr val="F2F6FA"/>
                    </a:solidFill>
                  </a:tcPr>
                </a:tc>
                <a:tc>
                  <a:txBody>
                    <a:bodyPr/>
                    <a:lstStyle/>
                    <a:p>
                      <a:pPr algn="ctr">
                        <a:defRPr sz="840">
                          <a:solidFill>
                            <a:srgbClr val="1F2B3D"/>
                          </a:solidFill>
                          <a:latin typeface="Aptos"/>
                        </a:defRPr>
                      </a:pPr>
                      <a:r>
                        <a:t>0.549</a:t>
                      </a:r>
                    </a:p>
                  </a:txBody>
                  <a:tcPr>
                    <a:solidFill>
                      <a:srgbClr val="F2F6FA"/>
                    </a:solidFill>
                  </a:tcPr>
                </a:tc>
                <a:tc>
                  <a:txBody>
                    <a:bodyPr/>
                    <a:lstStyle/>
                    <a:p>
                      <a:pPr algn="ctr">
                        <a:defRPr sz="840">
                          <a:solidFill>
                            <a:srgbClr val="1F2B3D"/>
                          </a:solidFill>
                          <a:latin typeface="Aptos"/>
                        </a:defRPr>
                      </a:pPr>
                      <a:r>
                        <a:t>4.00</a:t>
                      </a:r>
                    </a:p>
                  </a:txBody>
                  <a:tcPr>
                    <a:solidFill>
                      <a:srgbClr val="F2F6FA"/>
                    </a:solidFill>
                  </a:tcPr>
                </a:tc>
                <a:tc>
                  <a:txBody>
                    <a:bodyPr/>
                    <a:lstStyle/>
                    <a:p>
                      <a:pPr algn="ctr">
                        <a:defRPr sz="840">
                          <a:solidFill>
                            <a:srgbClr val="1F2B3D"/>
                          </a:solidFill>
                          <a:latin typeface="Aptos"/>
                        </a:defRPr>
                      </a:pPr>
                      <a:r>
                        <a:t>1,019</a:t>
                      </a:r>
                    </a:p>
                  </a:txBody>
                  <a:tcPr>
                    <a:solidFill>
                      <a:srgbClr val="F2F6FA"/>
                    </a:solidFill>
                  </a:tcPr>
                </a:tc>
                <a:extLst>
                  <a:ext uri="{0D108BD9-81ED-4DB2-BD59-A6C34878D82A}">
                    <a16:rowId xmlns:a16="http://schemas.microsoft.com/office/drawing/2014/main" val="10002"/>
                  </a:ext>
                </a:extLst>
              </a:tr>
              <a:tr h="331470">
                <a:tc>
                  <a:txBody>
                    <a:bodyPr/>
                    <a:lstStyle/>
                    <a:p>
                      <a:pPr algn="l">
                        <a:defRPr sz="840">
                          <a:solidFill>
                            <a:srgbClr val="1F2B3D"/>
                          </a:solidFill>
                          <a:latin typeface="Aptos"/>
                        </a:defRPr>
                      </a:pPr>
                      <a:r>
                        <a:t>GB Fallback</a:t>
                      </a:r>
                    </a:p>
                  </a:txBody>
                  <a:tcPr>
                    <a:solidFill>
                      <a:srgbClr val="FFFFFF"/>
                    </a:solidFill>
                  </a:tcPr>
                </a:tc>
                <a:tc>
                  <a:txBody>
                    <a:bodyPr/>
                    <a:lstStyle/>
                    <a:p>
                      <a:pPr algn="ctr">
                        <a:defRPr sz="840">
                          <a:solidFill>
                            <a:srgbClr val="1F2B3D"/>
                          </a:solidFill>
                          <a:latin typeface="Aptos"/>
                        </a:defRPr>
                      </a:pPr>
                      <a:r>
                        <a:t>0.777</a:t>
                      </a:r>
                    </a:p>
                  </a:txBody>
                  <a:tcPr>
                    <a:solidFill>
                      <a:srgbClr val="FFFFFF"/>
                    </a:solidFill>
                  </a:tcPr>
                </a:tc>
                <a:tc>
                  <a:txBody>
                    <a:bodyPr/>
                    <a:lstStyle/>
                    <a:p>
                      <a:pPr algn="ctr">
                        <a:defRPr sz="840">
                          <a:solidFill>
                            <a:srgbClr val="1F2B3D"/>
                          </a:solidFill>
                          <a:latin typeface="Aptos"/>
                        </a:defRPr>
                      </a:pPr>
                      <a:r>
                        <a:t>0.231</a:t>
                      </a:r>
                    </a:p>
                  </a:txBody>
                  <a:tcPr>
                    <a:solidFill>
                      <a:srgbClr val="FFFFFF"/>
                    </a:solidFill>
                  </a:tcPr>
                </a:tc>
                <a:tc>
                  <a:txBody>
                    <a:bodyPr/>
                    <a:lstStyle/>
                    <a:p>
                      <a:pPr algn="ctr">
                        <a:defRPr sz="840">
                          <a:solidFill>
                            <a:srgbClr val="1F2B3D"/>
                          </a:solidFill>
                          <a:latin typeface="Aptos"/>
                        </a:defRPr>
                      </a:pPr>
                      <a:r>
                        <a:t>0.061</a:t>
                      </a:r>
                    </a:p>
                  </a:txBody>
                  <a:tcPr>
                    <a:solidFill>
                      <a:srgbClr val="FFFFFF"/>
                    </a:solidFill>
                  </a:tcPr>
                </a:tc>
                <a:tc>
                  <a:txBody>
                    <a:bodyPr/>
                    <a:lstStyle/>
                    <a:p>
                      <a:pPr algn="ctr">
                        <a:defRPr sz="840">
                          <a:solidFill>
                            <a:srgbClr val="1F2B3D"/>
                          </a:solidFill>
                          <a:latin typeface="Aptos"/>
                        </a:defRPr>
                      </a:pPr>
                      <a:r>
                        <a:t>0.097</a:t>
                      </a:r>
                    </a:p>
                  </a:txBody>
                  <a:tcPr>
                    <a:solidFill>
                      <a:srgbClr val="FFFFFF"/>
                    </a:solidFill>
                  </a:tcPr>
                </a:tc>
                <a:tc>
                  <a:txBody>
                    <a:bodyPr/>
                    <a:lstStyle/>
                    <a:p>
                      <a:pPr algn="ctr">
                        <a:defRPr sz="840">
                          <a:solidFill>
                            <a:srgbClr val="1F2B3D"/>
                          </a:solidFill>
                          <a:latin typeface="Aptos"/>
                        </a:defRPr>
                      </a:pPr>
                      <a:r>
                        <a:t>0.544</a:t>
                      </a:r>
                    </a:p>
                  </a:txBody>
                  <a:tcPr>
                    <a:solidFill>
                      <a:srgbClr val="FFFFFF"/>
                    </a:solidFill>
                  </a:tcPr>
                </a:tc>
                <a:tc>
                  <a:txBody>
                    <a:bodyPr/>
                    <a:lstStyle/>
                    <a:p>
                      <a:pPr algn="ctr">
                        <a:defRPr sz="840">
                          <a:solidFill>
                            <a:srgbClr val="1F2B3D"/>
                          </a:solidFill>
                          <a:latin typeface="Aptos"/>
                        </a:defRPr>
                      </a:pPr>
                      <a:r>
                        <a:t>210.00</a:t>
                      </a:r>
                    </a:p>
                  </a:txBody>
                  <a:tcPr>
                    <a:solidFill>
                      <a:srgbClr val="FFFFFF"/>
                    </a:solidFill>
                  </a:tcPr>
                </a:tc>
                <a:tc>
                  <a:txBody>
                    <a:bodyPr/>
                    <a:lstStyle/>
                    <a:p>
                      <a:pPr algn="ctr">
                        <a:defRPr sz="840">
                          <a:solidFill>
                            <a:srgbClr val="1F2B3D"/>
                          </a:solidFill>
                          <a:latin typeface="Aptos"/>
                        </a:defRPr>
                      </a:pPr>
                      <a:r>
                        <a:t>962.00</a:t>
                      </a:r>
                    </a:p>
                  </a:txBody>
                  <a:tcPr>
                    <a:solidFill>
                      <a:srgbClr val="FFFFFF"/>
                    </a:solidFill>
                  </a:tcPr>
                </a:tc>
                <a:extLst>
                  <a:ext uri="{0D108BD9-81ED-4DB2-BD59-A6C34878D82A}">
                    <a16:rowId xmlns:a16="http://schemas.microsoft.com/office/drawing/2014/main" val="10003"/>
                  </a:ext>
                </a:extLst>
              </a:tr>
            </a:tbl>
          </a:graphicData>
        </a:graphic>
      </p:graphicFrame>
      <p:pic>
        <p:nvPicPr>
          <p:cNvPr id="7" name="Picture 6" descr="supervised_model_performance_heatmap.png"/>
          <p:cNvPicPr>
            <a:picLocks noChangeAspect="1"/>
          </p:cNvPicPr>
          <p:nvPr/>
        </p:nvPicPr>
        <p:blipFill>
          <a:blip r:embed="rId2"/>
          <a:stretch>
            <a:fillRect/>
          </a:stretch>
        </p:blipFill>
        <p:spPr>
          <a:xfrm>
            <a:off x="6565392" y="1719072"/>
            <a:ext cx="5010912" cy="3246120"/>
          </a:xfrm>
          <a:prstGeom prst="rect">
            <a:avLst/>
          </a:prstGeom>
        </p:spPr>
      </p:pic>
      <p:sp>
        <p:nvSpPr>
          <p:cNvPr id="8" name="Rounded Rectangle 7"/>
          <p:cNvSpPr/>
          <p:nvPr/>
        </p:nvSpPr>
        <p:spPr>
          <a:xfrm>
            <a:off x="685800" y="3529584"/>
            <a:ext cx="5577840" cy="1463040"/>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 y="3493008"/>
            <a:ext cx="5577840" cy="1463040"/>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3493008"/>
            <a:ext cx="73152" cy="1463040"/>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730752"/>
            <a:ext cx="1828800" cy="228600"/>
          </a:xfrm>
          <a:prstGeom prst="rect">
            <a:avLst/>
          </a:prstGeom>
          <a:noFill/>
        </p:spPr>
        <p:txBody>
          <a:bodyPr wrap="square" lIns="18288" rIns="18288">
            <a:spAutoFit/>
          </a:bodyPr>
          <a:lstStyle/>
          <a:p>
            <a:pPr algn="l">
              <a:defRPr sz="1300" b="1">
                <a:solidFill>
                  <a:srgbClr val="1F2B3D"/>
                </a:solidFill>
                <a:latin typeface="Aptos"/>
              </a:defRPr>
            </a:pPr>
            <a:r>
              <a:t>Reference note</a:t>
            </a:r>
          </a:p>
        </p:txBody>
      </p:sp>
      <p:sp>
        <p:nvSpPr>
          <p:cNvPr id="12" name="TextBox 11"/>
          <p:cNvSpPr txBox="1"/>
          <p:nvPr/>
        </p:nvSpPr>
        <p:spPr>
          <a:xfrm>
            <a:off x="932688" y="4069080"/>
            <a:ext cx="4892040" cy="749808"/>
          </a:xfrm>
          <a:prstGeom prst="rect">
            <a:avLst/>
          </a:prstGeom>
          <a:noFill/>
        </p:spPr>
        <p:txBody>
          <a:bodyPr wrap="square" lIns="109728" rIns="54864">
            <a:spAutoFit/>
          </a:bodyPr>
          <a:lstStyle/>
          <a:p>
            <a:pPr>
              <a:spcAft>
                <a:spcPts val="500"/>
              </a:spcAft>
              <a:defRPr sz="1019">
                <a:solidFill>
                  <a:srgbClr val="1F2B3D"/>
                </a:solidFill>
                <a:latin typeface="Aptos"/>
              </a:defRPr>
            </a:pPr>
            <a:r>
              <a:t>Highest test recall appears for Logistic Regression (0.745).</a:t>
            </a:r>
          </a:p>
          <a:p>
            <a:pPr>
              <a:spcAft>
                <a:spcPts val="500"/>
              </a:spcAft>
              <a:defRPr sz="1019">
                <a:solidFill>
                  <a:srgbClr val="1F2B3D"/>
                </a:solidFill>
                <a:latin typeface="Aptos"/>
              </a:defRPr>
            </a:pPr>
            <a:r>
              <a:t>The table makes the accuracy-recall trade-off visible for examiner follow-up.</a:t>
            </a:r>
          </a:p>
          <a:p>
            <a:pPr>
              <a:spcAft>
                <a:spcPts val="500"/>
              </a:spcAft>
              <a:defRPr sz="1019">
                <a:solidFill>
                  <a:srgbClr val="1F2B3D"/>
                </a:solidFill>
                <a:latin typeface="Aptos"/>
              </a:defRPr>
            </a:pPr>
            <a:r>
              <a:t>Use this slide as backup evidence for the Chapter 4 model-performance discussion.</a:t>
            </a:r>
          </a:p>
        </p:txBody>
      </p:sp>
      <p:sp>
        <p:nvSpPr>
          <p:cNvPr id="13" name="TextBox 12"/>
          <p:cNvSpPr txBox="1"/>
          <p:nvPr/>
        </p:nvSpPr>
        <p:spPr>
          <a:xfrm>
            <a:off x="566928" y="6446520"/>
            <a:ext cx="8961120" cy="201168"/>
          </a:xfrm>
          <a:prstGeom prst="rect">
            <a:avLst/>
          </a:prstGeom>
          <a:noFill/>
        </p:spPr>
        <p:txBody>
          <a:bodyPr wrap="square" lIns="18288" rIns="18288">
            <a:spAutoFit/>
          </a:bodyPr>
          <a:lstStyle/>
          <a:p>
            <a:pPr algn="l">
              <a:defRPr sz="850" b="0">
                <a:solidFill>
                  <a:srgbClr val="59687C"/>
                </a:solidFill>
                <a:latin typeface="Aptos"/>
              </a:defRPr>
            </a:pPr>
            <a:r>
              <a:t>Code outputs are included as reference evidence from dissertation_outputs.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2926080" cy="228600"/>
          </a:xfrm>
          <a:prstGeom prst="rect">
            <a:avLst/>
          </a:prstGeom>
          <a:noFill/>
        </p:spPr>
        <p:txBody>
          <a:bodyPr wrap="square" lIns="18288" rIns="18288">
            <a:spAutoFit/>
          </a:bodyPr>
          <a:lstStyle/>
          <a:p>
            <a:pPr algn="l">
              <a:defRPr sz="950" b="1">
                <a:solidFill>
                  <a:srgbClr val="1C847E"/>
                </a:solidFill>
                <a:latin typeface="Aptos"/>
              </a:defRPr>
            </a:pPr>
            <a:r>
              <a:t>CODE OUTPUT REFERENCE</a:t>
            </a:r>
          </a:p>
        </p:txBody>
      </p:sp>
      <p:sp>
        <p:nvSpPr>
          <p:cNvPr id="3" name="TextBox 2"/>
          <p:cNvSpPr txBox="1"/>
          <p:nvPr/>
        </p:nvSpPr>
        <p:spPr>
          <a:xfrm>
            <a:off x="566928" y="621792"/>
            <a:ext cx="8046720" cy="475488"/>
          </a:xfrm>
          <a:prstGeom prst="rect">
            <a:avLst/>
          </a:prstGeom>
          <a:noFill/>
        </p:spPr>
        <p:txBody>
          <a:bodyPr wrap="square" lIns="18288" rIns="18288">
            <a:spAutoFit/>
          </a:bodyPr>
          <a:lstStyle/>
          <a:p>
            <a:pPr algn="l">
              <a:defRPr sz="2500" b="1">
                <a:solidFill>
                  <a:srgbClr val="12253F"/>
                </a:solidFill>
                <a:latin typeface="Aptos Display"/>
              </a:defRPr>
            </a:pPr>
            <a:r>
              <a:t>Robustness and Stress-Test Evidence</a:t>
            </a:r>
          </a:p>
        </p:txBody>
      </p:sp>
      <p:sp>
        <p:nvSpPr>
          <p:cNvPr id="4" name="TextBox 3"/>
          <p:cNvSpPr txBox="1"/>
          <p:nvPr/>
        </p:nvSpPr>
        <p:spPr>
          <a:xfrm>
            <a:off x="566928" y="1069848"/>
            <a:ext cx="9784080" cy="329184"/>
          </a:xfrm>
          <a:prstGeom prst="rect">
            <a:avLst/>
          </a:prstGeom>
          <a:noFill/>
        </p:spPr>
        <p:txBody>
          <a:bodyPr wrap="square" lIns="18288" rIns="18288">
            <a:spAutoFit/>
          </a:bodyPr>
          <a:lstStyle/>
          <a:p>
            <a:pPr algn="l">
              <a:defRPr sz="1150" b="0">
                <a:solidFill>
                  <a:srgbClr val="59687C"/>
                </a:solidFill>
                <a:latin typeface="Aptos"/>
              </a:defRPr>
            </a:pPr>
            <a:r>
              <a:t>Figures exported from the notebook show how model behaviour changes under perturbation and stress scenarios.</a:t>
            </a:r>
          </a:p>
        </p:txBody>
      </p:sp>
      <p:sp>
        <p:nvSpPr>
          <p:cNvPr id="5" name="Rectangle 4"/>
          <p:cNvSpPr/>
          <p:nvPr/>
        </p:nvSpPr>
        <p:spPr>
          <a:xfrm>
            <a:off x="566928" y="1426464"/>
            <a:ext cx="11064240" cy="27432"/>
          </a:xfrm>
          <a:prstGeom prst="rect">
            <a:avLst/>
          </a:prstGeom>
          <a:solidFill>
            <a:srgbClr val="D1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658368" y="1783080"/>
            <a:ext cx="5349240" cy="2377440"/>
          </a:xfrm>
          <a:prstGeom prst="rect">
            <a:avLst/>
          </a:prstGeom>
        </p:spPr>
      </p:pic>
      <p:pic>
        <p:nvPicPr>
          <p:cNvPr id="7" name="Picture 6" descr="image.png"/>
          <p:cNvPicPr>
            <a:picLocks noChangeAspect="1"/>
          </p:cNvPicPr>
          <p:nvPr/>
        </p:nvPicPr>
        <p:blipFill>
          <a:blip r:embed="rId3"/>
          <a:stretch>
            <a:fillRect/>
          </a:stretch>
        </p:blipFill>
        <p:spPr>
          <a:xfrm>
            <a:off x="6355080" y="1783080"/>
            <a:ext cx="5212080" cy="2377440"/>
          </a:xfrm>
          <a:prstGeom prst="rect">
            <a:avLst/>
          </a:prstGeom>
        </p:spPr>
      </p:pic>
      <p:graphicFrame>
        <p:nvGraphicFramePr>
          <p:cNvPr id="8" name="Table 7"/>
          <p:cNvGraphicFramePr>
            <a:graphicFrameLocks noGrp="1"/>
          </p:cNvGraphicFramePr>
          <p:nvPr/>
        </p:nvGraphicFramePr>
        <p:xfrm>
          <a:off x="960120" y="4572000"/>
          <a:ext cx="10287000" cy="114300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163285">
                <a:tc>
                  <a:txBody>
                    <a:bodyPr/>
                    <a:lstStyle/>
                    <a:p>
                      <a:pPr algn="ctr">
                        <a:defRPr sz="740" b="1">
                          <a:solidFill>
                            <a:srgbClr val="FFFFFF"/>
                          </a:solidFill>
                          <a:latin typeface="Aptos"/>
                        </a:defRPr>
                      </a:pPr>
                      <a:r>
                        <a:t>Model</a:t>
                      </a:r>
                    </a:p>
                  </a:txBody>
                  <a:tcPr>
                    <a:solidFill>
                      <a:srgbClr val="12253F"/>
                    </a:solidFill>
                  </a:tcPr>
                </a:tc>
                <a:tc>
                  <a:txBody>
                    <a:bodyPr/>
                    <a:lstStyle/>
                    <a:p>
                      <a:pPr algn="ctr">
                        <a:defRPr sz="740" b="1">
                          <a:solidFill>
                            <a:srgbClr val="FFFFFF"/>
                          </a:solidFill>
                          <a:latin typeface="Aptos"/>
                        </a:defRPr>
                      </a:pPr>
                      <a:r>
                        <a:t>Noise</a:t>
                      </a:r>
                    </a:p>
                  </a:txBody>
                  <a:tcPr>
                    <a:solidFill>
                      <a:srgbClr val="12253F"/>
                    </a:solidFill>
                  </a:tcPr>
                </a:tc>
                <a:tc>
                  <a:txBody>
                    <a:bodyPr/>
                    <a:lstStyle/>
                    <a:p>
                      <a:pPr algn="ctr">
                        <a:defRPr sz="740" b="1">
                          <a:solidFill>
                            <a:srgbClr val="FFFFFF"/>
                          </a:solidFill>
                          <a:latin typeface="Aptos"/>
                        </a:defRPr>
                      </a:pPr>
                      <a:r>
                        <a:t>Flip</a:t>
                      </a:r>
                    </a:p>
                  </a:txBody>
                  <a:tcPr>
                    <a:solidFill>
                      <a:srgbClr val="12253F"/>
                    </a:solidFill>
                  </a:tcPr>
                </a:tc>
                <a:tc>
                  <a:txBody>
                    <a:bodyPr/>
                    <a:lstStyle/>
                    <a:p>
                      <a:pPr algn="ctr">
                        <a:defRPr sz="740" b="1">
                          <a:solidFill>
                            <a:srgbClr val="FFFFFF"/>
                          </a:solidFill>
                          <a:latin typeface="Aptos"/>
                        </a:defRPr>
                      </a:pPr>
                      <a:r>
                        <a:t>Base F1</a:t>
                      </a:r>
                    </a:p>
                  </a:txBody>
                  <a:tcPr>
                    <a:solidFill>
                      <a:srgbClr val="12253F"/>
                    </a:solidFill>
                  </a:tcPr>
                </a:tc>
                <a:tc>
                  <a:txBody>
                    <a:bodyPr/>
                    <a:lstStyle/>
                    <a:p>
                      <a:pPr algn="ctr">
                        <a:defRPr sz="740" b="1">
                          <a:solidFill>
                            <a:srgbClr val="FFFFFF"/>
                          </a:solidFill>
                          <a:latin typeface="Aptos"/>
                        </a:defRPr>
                      </a:pPr>
                      <a:r>
                        <a:t>Pert. F1</a:t>
                      </a:r>
                    </a:p>
                  </a:txBody>
                  <a:tcPr>
                    <a:solidFill>
                      <a:srgbClr val="12253F"/>
                    </a:solidFill>
                  </a:tcPr>
                </a:tc>
                <a:tc>
                  <a:txBody>
                    <a:bodyPr/>
                    <a:lstStyle/>
                    <a:p>
                      <a:pPr algn="ctr">
                        <a:defRPr sz="740" b="1">
                          <a:solidFill>
                            <a:srgbClr val="FFFFFF"/>
                          </a:solidFill>
                          <a:latin typeface="Aptos"/>
                        </a:defRPr>
                      </a:pPr>
                      <a:r>
                        <a:t>AUC Drop</a:t>
                      </a:r>
                    </a:p>
                  </a:txBody>
                  <a:tcPr>
                    <a:solidFill>
                      <a:srgbClr val="12253F"/>
                    </a:solidFill>
                  </a:tcPr>
                </a:tc>
                <a:extLst>
                  <a:ext uri="{0D108BD9-81ED-4DB2-BD59-A6C34878D82A}">
                    <a16:rowId xmlns:a16="http://schemas.microsoft.com/office/drawing/2014/main" val="10000"/>
                  </a:ext>
                </a:extLst>
              </a:tr>
              <a:tr h="163285">
                <a:tc>
                  <a:txBody>
                    <a:bodyPr/>
                    <a:lstStyle/>
                    <a:p>
                      <a:pPr algn="l">
                        <a:defRPr sz="740">
                          <a:solidFill>
                            <a:srgbClr val="1F2B3D"/>
                          </a:solidFill>
                          <a:latin typeface="Aptos"/>
                        </a:defRPr>
                      </a:pPr>
                      <a:r>
                        <a:t>Logistic Reg.</a:t>
                      </a:r>
                    </a:p>
                  </a:txBody>
                  <a:tcPr>
                    <a:solidFill>
                      <a:srgbClr val="FFFFFF"/>
                    </a:solidFill>
                  </a:tcPr>
                </a:tc>
                <a:tc>
                  <a:txBody>
                    <a:bodyPr/>
                    <a:lstStyle/>
                    <a:p>
                      <a:pPr algn="ctr">
                        <a:defRPr sz="740">
                          <a:solidFill>
                            <a:srgbClr val="1F2B3D"/>
                          </a:solidFill>
                          <a:latin typeface="Aptos"/>
                        </a:defRPr>
                      </a:pPr>
                      <a:r>
                        <a:t>0.050</a:t>
                      </a:r>
                    </a:p>
                  </a:txBody>
                  <a:tcPr>
                    <a:solidFill>
                      <a:srgbClr val="FFFFFF"/>
                    </a:solidFill>
                  </a:tcPr>
                </a:tc>
                <a:tc>
                  <a:txBody>
                    <a:bodyPr/>
                    <a:lstStyle/>
                    <a:p>
                      <a:pPr algn="ctr">
                        <a:defRPr sz="740">
                          <a:solidFill>
                            <a:srgbClr val="1F2B3D"/>
                          </a:solidFill>
                          <a:latin typeface="Aptos"/>
                        </a:defRPr>
                      </a:pPr>
                      <a:r>
                        <a:t>0.429</a:t>
                      </a:r>
                    </a:p>
                  </a:txBody>
                  <a:tcPr>
                    <a:solidFill>
                      <a:srgbClr val="FFFFFF"/>
                    </a:solidFill>
                  </a:tcPr>
                </a:tc>
                <a:tc>
                  <a:txBody>
                    <a:bodyPr/>
                    <a:lstStyle/>
                    <a:p>
                      <a:pPr algn="ctr">
                        <a:defRPr sz="740">
                          <a:solidFill>
                            <a:srgbClr val="1F2B3D"/>
                          </a:solidFill>
                          <a:latin typeface="Aptos"/>
                        </a:defRPr>
                      </a:pPr>
                      <a:r>
                        <a:t>0.358</a:t>
                      </a:r>
                    </a:p>
                  </a:txBody>
                  <a:tcPr>
                    <a:solidFill>
                      <a:srgbClr val="FFFFFF"/>
                    </a:solidFill>
                  </a:tcPr>
                </a:tc>
                <a:tc>
                  <a:txBody>
                    <a:bodyPr/>
                    <a:lstStyle/>
                    <a:p>
                      <a:pPr algn="ctr">
                        <a:defRPr sz="740">
                          <a:solidFill>
                            <a:srgbClr val="1F2B3D"/>
                          </a:solidFill>
                          <a:latin typeface="Aptos"/>
                        </a:defRPr>
                      </a:pPr>
                      <a:r>
                        <a:t>0.310</a:t>
                      </a:r>
                    </a:p>
                  </a:txBody>
                  <a:tcPr>
                    <a:solidFill>
                      <a:srgbClr val="FFFFFF"/>
                    </a:solidFill>
                  </a:tcPr>
                </a:tc>
                <a:tc>
                  <a:txBody>
                    <a:bodyPr/>
                    <a:lstStyle/>
                    <a:p>
                      <a:pPr algn="ctr">
                        <a:defRPr sz="740">
                          <a:solidFill>
                            <a:srgbClr val="1F2B3D"/>
                          </a:solidFill>
                          <a:latin typeface="Aptos"/>
                        </a:defRPr>
                      </a:pPr>
                      <a:r>
                        <a:t>0.078</a:t>
                      </a:r>
                    </a:p>
                  </a:txBody>
                  <a:tcPr>
                    <a:solidFill>
                      <a:srgbClr val="FFFFFF"/>
                    </a:solidFill>
                  </a:tcPr>
                </a:tc>
                <a:extLst>
                  <a:ext uri="{0D108BD9-81ED-4DB2-BD59-A6C34878D82A}">
                    <a16:rowId xmlns:a16="http://schemas.microsoft.com/office/drawing/2014/main" val="10001"/>
                  </a:ext>
                </a:extLst>
              </a:tr>
              <a:tr h="163285">
                <a:tc>
                  <a:txBody>
                    <a:bodyPr/>
                    <a:lstStyle/>
                    <a:p>
                      <a:pPr algn="l">
                        <a:defRPr sz="740">
                          <a:solidFill>
                            <a:srgbClr val="1F2B3D"/>
                          </a:solidFill>
                          <a:latin typeface="Aptos"/>
                        </a:defRPr>
                      </a:pPr>
                      <a:r>
                        <a:t>Random Forest</a:t>
                      </a:r>
                    </a:p>
                  </a:txBody>
                  <a:tcPr>
                    <a:solidFill>
                      <a:srgbClr val="F2F6FA"/>
                    </a:solidFill>
                  </a:tcPr>
                </a:tc>
                <a:tc>
                  <a:txBody>
                    <a:bodyPr/>
                    <a:lstStyle/>
                    <a:p>
                      <a:pPr algn="ctr">
                        <a:defRPr sz="740">
                          <a:solidFill>
                            <a:srgbClr val="1F2B3D"/>
                          </a:solidFill>
                          <a:latin typeface="Aptos"/>
                        </a:defRPr>
                      </a:pPr>
                      <a:r>
                        <a:t>0.050</a:t>
                      </a:r>
                    </a:p>
                  </a:txBody>
                  <a:tcPr>
                    <a:solidFill>
                      <a:srgbClr val="F2F6FA"/>
                    </a:solidFill>
                  </a:tcPr>
                </a:tc>
                <a:tc>
                  <a:txBody>
                    <a:bodyPr/>
                    <a:lstStyle/>
                    <a:p>
                      <a:pPr algn="ctr">
                        <a:defRPr sz="740">
                          <a:solidFill>
                            <a:srgbClr val="1F2B3D"/>
                          </a:solidFill>
                          <a:latin typeface="Aptos"/>
                        </a:defRPr>
                      </a:pPr>
                      <a:r>
                        <a:t>0.003</a:t>
                      </a:r>
                    </a:p>
                  </a:txBody>
                  <a:tcPr>
                    <a:solidFill>
                      <a:srgbClr val="F2F6FA"/>
                    </a:solidFill>
                  </a:tcPr>
                </a:tc>
                <a:tc>
                  <a:txBody>
                    <a:bodyPr/>
                    <a:lstStyle/>
                    <a:p>
                      <a:pPr algn="ctr">
                        <a:defRPr sz="740">
                          <a:solidFill>
                            <a:srgbClr val="1F2B3D"/>
                          </a:solidFill>
                          <a:latin typeface="Aptos"/>
                        </a:defRPr>
                      </a:pPr>
                      <a:r>
                        <a:t>0.012</a:t>
                      </a:r>
                    </a:p>
                  </a:txBody>
                  <a:tcPr>
                    <a:solidFill>
                      <a:srgbClr val="F2F6FA"/>
                    </a:solidFill>
                  </a:tcPr>
                </a:tc>
                <a:tc>
                  <a:txBody>
                    <a:bodyPr/>
                    <a:lstStyle/>
                    <a:p>
                      <a:pPr algn="ctr">
                        <a:defRPr sz="740">
                          <a:solidFill>
                            <a:srgbClr val="1F2B3D"/>
                          </a:solidFill>
                          <a:latin typeface="Aptos"/>
                        </a:defRPr>
                      </a:pPr>
                      <a:r>
                        <a:t>0.006</a:t>
                      </a:r>
                    </a:p>
                  </a:txBody>
                  <a:tcPr>
                    <a:solidFill>
                      <a:srgbClr val="F2F6FA"/>
                    </a:solidFill>
                  </a:tcPr>
                </a:tc>
                <a:tc>
                  <a:txBody>
                    <a:bodyPr/>
                    <a:lstStyle/>
                    <a:p>
                      <a:pPr algn="ctr">
                        <a:defRPr sz="740">
                          <a:solidFill>
                            <a:srgbClr val="1F2B3D"/>
                          </a:solidFill>
                          <a:latin typeface="Aptos"/>
                        </a:defRPr>
                      </a:pPr>
                      <a:r>
                        <a:t>0.024</a:t>
                      </a:r>
                    </a:p>
                  </a:txBody>
                  <a:tcPr>
                    <a:solidFill>
                      <a:srgbClr val="F2F6FA"/>
                    </a:solidFill>
                  </a:tcPr>
                </a:tc>
                <a:extLst>
                  <a:ext uri="{0D108BD9-81ED-4DB2-BD59-A6C34878D82A}">
                    <a16:rowId xmlns:a16="http://schemas.microsoft.com/office/drawing/2014/main" val="10002"/>
                  </a:ext>
                </a:extLst>
              </a:tr>
              <a:tr h="163285">
                <a:tc>
                  <a:txBody>
                    <a:bodyPr/>
                    <a:lstStyle/>
                    <a:p>
                      <a:pPr algn="l">
                        <a:defRPr sz="740">
                          <a:solidFill>
                            <a:srgbClr val="1F2B3D"/>
                          </a:solidFill>
                          <a:latin typeface="Aptos"/>
                        </a:defRPr>
                      </a:pPr>
                      <a:r>
                        <a:t>GB Fallback</a:t>
                      </a:r>
                    </a:p>
                  </a:txBody>
                  <a:tcPr>
                    <a:solidFill>
                      <a:srgbClr val="FFFFFF"/>
                    </a:solidFill>
                  </a:tcPr>
                </a:tc>
                <a:tc>
                  <a:txBody>
                    <a:bodyPr/>
                    <a:lstStyle/>
                    <a:p>
                      <a:pPr algn="ctr">
                        <a:defRPr sz="740">
                          <a:solidFill>
                            <a:srgbClr val="1F2B3D"/>
                          </a:solidFill>
                          <a:latin typeface="Aptos"/>
                        </a:defRPr>
                      </a:pPr>
                      <a:r>
                        <a:t>0.050</a:t>
                      </a:r>
                    </a:p>
                  </a:txBody>
                  <a:tcPr>
                    <a:solidFill>
                      <a:srgbClr val="FFFFFF"/>
                    </a:solidFill>
                  </a:tcPr>
                </a:tc>
                <a:tc>
                  <a:txBody>
                    <a:bodyPr/>
                    <a:lstStyle/>
                    <a:p>
                      <a:pPr algn="ctr">
                        <a:defRPr sz="740">
                          <a:solidFill>
                            <a:srgbClr val="1F2B3D"/>
                          </a:solidFill>
                          <a:latin typeface="Aptos"/>
                        </a:defRPr>
                      </a:pPr>
                      <a:r>
                        <a:t>0.525</a:t>
                      </a:r>
                    </a:p>
                  </a:txBody>
                  <a:tcPr>
                    <a:solidFill>
                      <a:srgbClr val="FFFFFF"/>
                    </a:solidFill>
                  </a:tcPr>
                </a:tc>
                <a:tc>
                  <a:txBody>
                    <a:bodyPr/>
                    <a:lstStyle/>
                    <a:p>
                      <a:pPr algn="ctr">
                        <a:defRPr sz="740">
                          <a:solidFill>
                            <a:srgbClr val="1F2B3D"/>
                          </a:solidFill>
                          <a:latin typeface="Aptos"/>
                        </a:defRPr>
                      </a:pPr>
                      <a:r>
                        <a:t>0.097</a:t>
                      </a:r>
                    </a:p>
                  </a:txBody>
                  <a:tcPr>
                    <a:solidFill>
                      <a:srgbClr val="FFFFFF"/>
                    </a:solidFill>
                  </a:tcPr>
                </a:tc>
                <a:tc>
                  <a:txBody>
                    <a:bodyPr/>
                    <a:lstStyle/>
                    <a:p>
                      <a:pPr algn="ctr">
                        <a:defRPr sz="740">
                          <a:solidFill>
                            <a:srgbClr val="1F2B3D"/>
                          </a:solidFill>
                          <a:latin typeface="Aptos"/>
                        </a:defRPr>
                      </a:pPr>
                      <a:r>
                        <a:t>0.278</a:t>
                      </a:r>
                    </a:p>
                  </a:txBody>
                  <a:tcPr>
                    <a:solidFill>
                      <a:srgbClr val="FFFFFF"/>
                    </a:solidFill>
                  </a:tcPr>
                </a:tc>
                <a:tc>
                  <a:txBody>
                    <a:bodyPr/>
                    <a:lstStyle/>
                    <a:p>
                      <a:pPr algn="ctr">
                        <a:defRPr sz="740">
                          <a:solidFill>
                            <a:srgbClr val="1F2B3D"/>
                          </a:solidFill>
                          <a:latin typeface="Aptos"/>
                        </a:defRPr>
                      </a:pPr>
                      <a:r>
                        <a:t>0.061</a:t>
                      </a:r>
                    </a:p>
                  </a:txBody>
                  <a:tcPr>
                    <a:solidFill>
                      <a:srgbClr val="FFFFFF"/>
                    </a:solidFill>
                  </a:tcPr>
                </a:tc>
                <a:extLst>
                  <a:ext uri="{0D108BD9-81ED-4DB2-BD59-A6C34878D82A}">
                    <a16:rowId xmlns:a16="http://schemas.microsoft.com/office/drawing/2014/main" val="10003"/>
                  </a:ext>
                </a:extLst>
              </a:tr>
              <a:tr h="163285">
                <a:tc>
                  <a:txBody>
                    <a:bodyPr/>
                    <a:lstStyle/>
                    <a:p>
                      <a:pPr algn="l">
                        <a:defRPr sz="740">
                          <a:solidFill>
                            <a:srgbClr val="1F2B3D"/>
                          </a:solidFill>
                          <a:latin typeface="Aptos"/>
                        </a:defRPr>
                      </a:pPr>
                      <a:r>
                        <a:t>Logistic Reg.</a:t>
                      </a:r>
                    </a:p>
                  </a:txBody>
                  <a:tcPr>
                    <a:solidFill>
                      <a:srgbClr val="F2F6FA"/>
                    </a:solidFill>
                  </a:tcPr>
                </a:tc>
                <a:tc>
                  <a:txBody>
                    <a:bodyPr/>
                    <a:lstStyle/>
                    <a:p>
                      <a:pPr algn="ctr">
                        <a:defRPr sz="740">
                          <a:solidFill>
                            <a:srgbClr val="1F2B3D"/>
                          </a:solidFill>
                          <a:latin typeface="Aptos"/>
                        </a:defRPr>
                      </a:pPr>
                      <a:r>
                        <a:t>0.100</a:t>
                      </a:r>
                    </a:p>
                  </a:txBody>
                  <a:tcPr>
                    <a:solidFill>
                      <a:srgbClr val="F2F6FA"/>
                    </a:solidFill>
                  </a:tcPr>
                </a:tc>
                <a:tc>
                  <a:txBody>
                    <a:bodyPr/>
                    <a:lstStyle/>
                    <a:p>
                      <a:pPr algn="ctr">
                        <a:defRPr sz="740">
                          <a:solidFill>
                            <a:srgbClr val="1F2B3D"/>
                          </a:solidFill>
                          <a:latin typeface="Aptos"/>
                        </a:defRPr>
                      </a:pPr>
                      <a:r>
                        <a:t>0.454</a:t>
                      </a:r>
                    </a:p>
                  </a:txBody>
                  <a:tcPr>
                    <a:solidFill>
                      <a:srgbClr val="F2F6FA"/>
                    </a:solidFill>
                  </a:tcPr>
                </a:tc>
                <a:tc>
                  <a:txBody>
                    <a:bodyPr/>
                    <a:lstStyle/>
                    <a:p>
                      <a:pPr algn="ctr">
                        <a:defRPr sz="740">
                          <a:solidFill>
                            <a:srgbClr val="1F2B3D"/>
                          </a:solidFill>
                          <a:latin typeface="Aptos"/>
                        </a:defRPr>
                      </a:pPr>
                      <a:r>
                        <a:t>0.358</a:t>
                      </a:r>
                    </a:p>
                  </a:txBody>
                  <a:tcPr>
                    <a:solidFill>
                      <a:srgbClr val="F2F6FA"/>
                    </a:solidFill>
                  </a:tcPr>
                </a:tc>
                <a:tc>
                  <a:txBody>
                    <a:bodyPr/>
                    <a:lstStyle/>
                    <a:p>
                      <a:pPr algn="ctr">
                        <a:defRPr sz="740">
                          <a:solidFill>
                            <a:srgbClr val="1F2B3D"/>
                          </a:solidFill>
                          <a:latin typeface="Aptos"/>
                        </a:defRPr>
                      </a:pPr>
                      <a:r>
                        <a:t>0.282</a:t>
                      </a:r>
                    </a:p>
                  </a:txBody>
                  <a:tcPr>
                    <a:solidFill>
                      <a:srgbClr val="F2F6FA"/>
                    </a:solidFill>
                  </a:tcPr>
                </a:tc>
                <a:tc>
                  <a:txBody>
                    <a:bodyPr/>
                    <a:lstStyle/>
                    <a:p>
                      <a:pPr algn="ctr">
                        <a:defRPr sz="740">
                          <a:solidFill>
                            <a:srgbClr val="1F2B3D"/>
                          </a:solidFill>
                          <a:latin typeface="Aptos"/>
                        </a:defRPr>
                      </a:pPr>
                      <a:r>
                        <a:t>0.109</a:t>
                      </a:r>
                    </a:p>
                  </a:txBody>
                  <a:tcPr>
                    <a:solidFill>
                      <a:srgbClr val="F2F6FA"/>
                    </a:solidFill>
                  </a:tcPr>
                </a:tc>
                <a:extLst>
                  <a:ext uri="{0D108BD9-81ED-4DB2-BD59-A6C34878D82A}">
                    <a16:rowId xmlns:a16="http://schemas.microsoft.com/office/drawing/2014/main" val="10004"/>
                  </a:ext>
                </a:extLst>
              </a:tr>
              <a:tr h="163285">
                <a:tc>
                  <a:txBody>
                    <a:bodyPr/>
                    <a:lstStyle/>
                    <a:p>
                      <a:pPr algn="l">
                        <a:defRPr sz="740">
                          <a:solidFill>
                            <a:srgbClr val="1F2B3D"/>
                          </a:solidFill>
                          <a:latin typeface="Aptos"/>
                        </a:defRPr>
                      </a:pPr>
                      <a:r>
                        <a:t>Random Forest</a:t>
                      </a:r>
                    </a:p>
                  </a:txBody>
                  <a:tcPr>
                    <a:solidFill>
                      <a:srgbClr val="FFFFFF"/>
                    </a:solidFill>
                  </a:tcPr>
                </a:tc>
                <a:tc>
                  <a:txBody>
                    <a:bodyPr/>
                    <a:lstStyle/>
                    <a:p>
                      <a:pPr algn="ctr">
                        <a:defRPr sz="740">
                          <a:solidFill>
                            <a:srgbClr val="1F2B3D"/>
                          </a:solidFill>
                          <a:latin typeface="Aptos"/>
                        </a:defRPr>
                      </a:pPr>
                      <a:r>
                        <a:t>0.100</a:t>
                      </a:r>
                    </a:p>
                  </a:txBody>
                  <a:tcPr>
                    <a:solidFill>
                      <a:srgbClr val="FFFFFF"/>
                    </a:solidFill>
                  </a:tcPr>
                </a:tc>
                <a:tc>
                  <a:txBody>
                    <a:bodyPr/>
                    <a:lstStyle/>
                    <a:p>
                      <a:pPr algn="ctr">
                        <a:defRPr sz="740">
                          <a:solidFill>
                            <a:srgbClr val="1F2B3D"/>
                          </a:solidFill>
                          <a:latin typeface="Aptos"/>
                        </a:defRPr>
                      </a:pPr>
                      <a:r>
                        <a:t>0.002</a:t>
                      </a:r>
                    </a:p>
                  </a:txBody>
                  <a:tcPr>
                    <a:solidFill>
                      <a:srgbClr val="FFFFFF"/>
                    </a:solidFill>
                  </a:tcPr>
                </a:tc>
                <a:tc>
                  <a:txBody>
                    <a:bodyPr/>
                    <a:lstStyle/>
                    <a:p>
                      <a:pPr algn="ctr">
                        <a:defRPr sz="740">
                          <a:solidFill>
                            <a:srgbClr val="1F2B3D"/>
                          </a:solidFill>
                          <a:latin typeface="Aptos"/>
                        </a:defRPr>
                      </a:pPr>
                      <a:r>
                        <a:t>0.012</a:t>
                      </a:r>
                    </a:p>
                  </a:txBody>
                  <a:tcPr>
                    <a:solidFill>
                      <a:srgbClr val="FFFFFF"/>
                    </a:solidFill>
                  </a:tcPr>
                </a:tc>
                <a:tc>
                  <a:txBody>
                    <a:bodyPr/>
                    <a:lstStyle/>
                    <a:p>
                      <a:pPr algn="ctr">
                        <a:defRPr sz="740">
                          <a:solidFill>
                            <a:srgbClr val="1F2B3D"/>
                          </a:solidFill>
                          <a:latin typeface="Aptos"/>
                        </a:defRPr>
                      </a:pPr>
                      <a:r>
                        <a:t>0.000</a:t>
                      </a:r>
                    </a:p>
                  </a:txBody>
                  <a:tcPr>
                    <a:solidFill>
                      <a:srgbClr val="FFFFFF"/>
                    </a:solidFill>
                  </a:tcPr>
                </a:tc>
                <a:tc>
                  <a:txBody>
                    <a:bodyPr/>
                    <a:lstStyle/>
                    <a:p>
                      <a:pPr algn="ctr">
                        <a:defRPr sz="740">
                          <a:solidFill>
                            <a:srgbClr val="1F2B3D"/>
                          </a:solidFill>
                          <a:latin typeface="Aptos"/>
                        </a:defRPr>
                      </a:pPr>
                      <a:r>
                        <a:t>0.062</a:t>
                      </a:r>
                    </a:p>
                  </a:txBody>
                  <a:tcPr>
                    <a:solidFill>
                      <a:srgbClr val="FFFFFF"/>
                    </a:solidFill>
                  </a:tcPr>
                </a:tc>
                <a:extLst>
                  <a:ext uri="{0D108BD9-81ED-4DB2-BD59-A6C34878D82A}">
                    <a16:rowId xmlns:a16="http://schemas.microsoft.com/office/drawing/2014/main" val="10005"/>
                  </a:ext>
                </a:extLst>
              </a:tr>
              <a:tr h="163290">
                <a:tc>
                  <a:txBody>
                    <a:bodyPr/>
                    <a:lstStyle/>
                    <a:p>
                      <a:pPr algn="l">
                        <a:defRPr sz="740">
                          <a:solidFill>
                            <a:srgbClr val="1F2B3D"/>
                          </a:solidFill>
                          <a:latin typeface="Aptos"/>
                        </a:defRPr>
                      </a:pPr>
                      <a:r>
                        <a:t>GB Fallback</a:t>
                      </a:r>
                    </a:p>
                  </a:txBody>
                  <a:tcPr>
                    <a:solidFill>
                      <a:srgbClr val="F2F6FA"/>
                    </a:solidFill>
                  </a:tcPr>
                </a:tc>
                <a:tc>
                  <a:txBody>
                    <a:bodyPr/>
                    <a:lstStyle/>
                    <a:p>
                      <a:pPr algn="ctr">
                        <a:defRPr sz="740">
                          <a:solidFill>
                            <a:srgbClr val="1F2B3D"/>
                          </a:solidFill>
                          <a:latin typeface="Aptos"/>
                        </a:defRPr>
                      </a:pPr>
                      <a:r>
                        <a:t>0.100</a:t>
                      </a:r>
                    </a:p>
                  </a:txBody>
                  <a:tcPr>
                    <a:solidFill>
                      <a:srgbClr val="F2F6FA"/>
                    </a:solidFill>
                  </a:tcPr>
                </a:tc>
                <a:tc>
                  <a:txBody>
                    <a:bodyPr/>
                    <a:lstStyle/>
                    <a:p>
                      <a:pPr algn="ctr">
                        <a:defRPr sz="740">
                          <a:solidFill>
                            <a:srgbClr val="1F2B3D"/>
                          </a:solidFill>
                          <a:latin typeface="Aptos"/>
                        </a:defRPr>
                      </a:pPr>
                      <a:r>
                        <a:t>0.716</a:t>
                      </a:r>
                    </a:p>
                  </a:txBody>
                  <a:tcPr>
                    <a:solidFill>
                      <a:srgbClr val="F2F6FA"/>
                    </a:solidFill>
                  </a:tcPr>
                </a:tc>
                <a:tc>
                  <a:txBody>
                    <a:bodyPr/>
                    <a:lstStyle/>
                    <a:p>
                      <a:pPr algn="ctr">
                        <a:defRPr sz="740">
                          <a:solidFill>
                            <a:srgbClr val="1F2B3D"/>
                          </a:solidFill>
                          <a:latin typeface="Aptos"/>
                        </a:defRPr>
                      </a:pPr>
                      <a:r>
                        <a:t>0.097</a:t>
                      </a:r>
                    </a:p>
                  </a:txBody>
                  <a:tcPr>
                    <a:solidFill>
                      <a:srgbClr val="F2F6FA"/>
                    </a:solidFill>
                  </a:tcPr>
                </a:tc>
                <a:tc>
                  <a:txBody>
                    <a:bodyPr/>
                    <a:lstStyle/>
                    <a:p>
                      <a:pPr algn="ctr">
                        <a:defRPr sz="740">
                          <a:solidFill>
                            <a:srgbClr val="1F2B3D"/>
                          </a:solidFill>
                          <a:latin typeface="Aptos"/>
                        </a:defRPr>
                      </a:pPr>
                      <a:r>
                        <a:t>0.308</a:t>
                      </a:r>
                    </a:p>
                  </a:txBody>
                  <a:tcPr>
                    <a:solidFill>
                      <a:srgbClr val="F2F6FA"/>
                    </a:solidFill>
                  </a:tcPr>
                </a:tc>
                <a:tc>
                  <a:txBody>
                    <a:bodyPr/>
                    <a:lstStyle/>
                    <a:p>
                      <a:pPr algn="ctr">
                        <a:defRPr sz="740">
                          <a:solidFill>
                            <a:srgbClr val="1F2B3D"/>
                          </a:solidFill>
                          <a:latin typeface="Aptos"/>
                        </a:defRPr>
                      </a:pPr>
                      <a:r>
                        <a:t>0.061</a:t>
                      </a:r>
                    </a:p>
                  </a:txBody>
                  <a:tcPr>
                    <a:solidFill>
                      <a:srgbClr val="F2F6FA"/>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66928" y="6446520"/>
            <a:ext cx="8961120" cy="201168"/>
          </a:xfrm>
          <a:prstGeom prst="rect">
            <a:avLst/>
          </a:prstGeom>
          <a:noFill/>
        </p:spPr>
        <p:txBody>
          <a:bodyPr wrap="square" lIns="18288" rIns="18288">
            <a:spAutoFit/>
          </a:bodyPr>
          <a:lstStyle/>
          <a:p>
            <a:pPr algn="l">
              <a:defRPr sz="850" b="0">
                <a:solidFill>
                  <a:srgbClr val="59687C"/>
                </a:solidFill>
                <a:latin typeface="Aptos"/>
              </a:defRPr>
            </a:pPr>
            <a:r>
              <a:t>Code outputs are included as reference evidence from dissertation_outputs.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2926080" cy="228600"/>
          </a:xfrm>
          <a:prstGeom prst="rect">
            <a:avLst/>
          </a:prstGeom>
          <a:noFill/>
        </p:spPr>
        <p:txBody>
          <a:bodyPr wrap="square" lIns="18288" rIns="18288">
            <a:spAutoFit/>
          </a:bodyPr>
          <a:lstStyle/>
          <a:p>
            <a:pPr algn="l">
              <a:defRPr sz="950" b="1">
                <a:solidFill>
                  <a:srgbClr val="1C847E"/>
                </a:solidFill>
                <a:latin typeface="Aptos"/>
              </a:defRPr>
            </a:pPr>
            <a:r>
              <a:t>CODE OUTPUT REFERENCE</a:t>
            </a:r>
          </a:p>
        </p:txBody>
      </p:sp>
      <p:sp>
        <p:nvSpPr>
          <p:cNvPr id="3" name="TextBox 2"/>
          <p:cNvSpPr txBox="1"/>
          <p:nvPr/>
        </p:nvSpPr>
        <p:spPr>
          <a:xfrm>
            <a:off x="566928" y="621792"/>
            <a:ext cx="8046720" cy="475488"/>
          </a:xfrm>
          <a:prstGeom prst="rect">
            <a:avLst/>
          </a:prstGeom>
          <a:noFill/>
        </p:spPr>
        <p:txBody>
          <a:bodyPr wrap="square" lIns="18288" rIns="18288">
            <a:spAutoFit/>
          </a:bodyPr>
          <a:lstStyle/>
          <a:p>
            <a:pPr algn="l">
              <a:defRPr sz="2500" b="1">
                <a:solidFill>
                  <a:srgbClr val="12253F"/>
                </a:solidFill>
                <a:latin typeface="Aptos Display"/>
              </a:defRPr>
            </a:pPr>
            <a:r>
              <a:t>SHAP Explainability and Drift Monitoring</a:t>
            </a:r>
          </a:p>
        </p:txBody>
      </p:sp>
      <p:sp>
        <p:nvSpPr>
          <p:cNvPr id="4" name="TextBox 3"/>
          <p:cNvSpPr txBox="1"/>
          <p:nvPr/>
        </p:nvSpPr>
        <p:spPr>
          <a:xfrm>
            <a:off x="566928" y="1069848"/>
            <a:ext cx="9784080" cy="329184"/>
          </a:xfrm>
          <a:prstGeom prst="rect">
            <a:avLst/>
          </a:prstGeom>
          <a:noFill/>
        </p:spPr>
        <p:txBody>
          <a:bodyPr wrap="square" lIns="18288" rIns="18288">
            <a:spAutoFit/>
          </a:bodyPr>
          <a:lstStyle/>
          <a:p>
            <a:pPr algn="l">
              <a:defRPr sz="1150" b="0">
                <a:solidFill>
                  <a:srgbClr val="59687C"/>
                </a:solidFill>
                <a:latin typeface="Aptos"/>
              </a:defRPr>
            </a:pPr>
            <a:r>
              <a:t>Feature-attribution and drift outputs support the explainability and monitoring claims in Chapter 4.</a:t>
            </a:r>
          </a:p>
        </p:txBody>
      </p:sp>
      <p:sp>
        <p:nvSpPr>
          <p:cNvPr id="5" name="Rectangle 4"/>
          <p:cNvSpPr/>
          <p:nvPr/>
        </p:nvSpPr>
        <p:spPr>
          <a:xfrm>
            <a:off x="566928" y="1426464"/>
            <a:ext cx="11064240" cy="27432"/>
          </a:xfrm>
          <a:prstGeom prst="rect">
            <a:avLst/>
          </a:prstGeom>
          <a:solidFill>
            <a:srgbClr val="D1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hap_summary_plot_test_sample.png"/>
          <p:cNvPicPr>
            <a:picLocks noChangeAspect="1"/>
          </p:cNvPicPr>
          <p:nvPr/>
        </p:nvPicPr>
        <p:blipFill>
          <a:blip r:embed="rId2"/>
          <a:stretch>
            <a:fillRect/>
          </a:stretch>
        </p:blipFill>
        <p:spPr>
          <a:xfrm>
            <a:off x="658368" y="1755648"/>
            <a:ext cx="5166360" cy="3493008"/>
          </a:xfrm>
          <a:prstGeom prst="rect">
            <a:avLst/>
          </a:prstGeom>
        </p:spPr>
      </p:pic>
      <p:graphicFrame>
        <p:nvGraphicFramePr>
          <p:cNvPr id="7" name="Table 6"/>
          <p:cNvGraphicFramePr>
            <a:graphicFrameLocks noGrp="1"/>
          </p:cNvGraphicFramePr>
          <p:nvPr/>
        </p:nvGraphicFramePr>
        <p:xfrm>
          <a:off x="6172200" y="1810512"/>
          <a:ext cx="2514600" cy="233172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291465">
                <a:tc>
                  <a:txBody>
                    <a:bodyPr/>
                    <a:lstStyle/>
                    <a:p>
                      <a:pPr algn="ctr">
                        <a:defRPr sz="819" b="1">
                          <a:solidFill>
                            <a:srgbClr val="FFFFFF"/>
                          </a:solidFill>
                          <a:latin typeface="Aptos"/>
                        </a:defRPr>
                      </a:pPr>
                      <a:r>
                        <a:t>Top SHAP Feature</a:t>
                      </a:r>
                    </a:p>
                  </a:txBody>
                  <a:tcPr>
                    <a:solidFill>
                      <a:srgbClr val="12253F"/>
                    </a:solidFill>
                  </a:tcPr>
                </a:tc>
                <a:tc>
                  <a:txBody>
                    <a:bodyPr/>
                    <a:lstStyle/>
                    <a:p>
                      <a:pPr algn="ctr">
                        <a:defRPr sz="819" b="1">
                          <a:solidFill>
                            <a:srgbClr val="FFFFFF"/>
                          </a:solidFill>
                          <a:latin typeface="Aptos"/>
                        </a:defRPr>
                      </a:pPr>
                      <a:r>
                        <a:t>Mean |SHAP|</a:t>
                      </a:r>
                    </a:p>
                  </a:txBody>
                  <a:tcPr>
                    <a:solidFill>
                      <a:srgbClr val="12253F"/>
                    </a:solidFill>
                  </a:tcPr>
                </a:tc>
                <a:extLst>
                  <a:ext uri="{0D108BD9-81ED-4DB2-BD59-A6C34878D82A}">
                    <a16:rowId xmlns:a16="http://schemas.microsoft.com/office/drawing/2014/main" val="10000"/>
                  </a:ext>
                </a:extLst>
              </a:tr>
              <a:tr h="291465">
                <a:tc>
                  <a:txBody>
                    <a:bodyPr/>
                    <a:lstStyle/>
                    <a:p>
                      <a:pPr algn="l">
                        <a:defRPr sz="819">
                          <a:solidFill>
                            <a:srgbClr val="1F2B3D"/>
                          </a:solidFill>
                          <a:latin typeface="Aptos"/>
                        </a:defRPr>
                      </a:pPr>
                      <a:r>
                        <a:t>MACD_Signal</a:t>
                      </a:r>
                    </a:p>
                  </a:txBody>
                  <a:tcPr>
                    <a:solidFill>
                      <a:srgbClr val="FFFFFF"/>
                    </a:solidFill>
                  </a:tcPr>
                </a:tc>
                <a:tc>
                  <a:txBody>
                    <a:bodyPr/>
                    <a:lstStyle/>
                    <a:p>
                      <a:pPr algn="ctr">
                        <a:defRPr sz="819">
                          <a:solidFill>
                            <a:srgbClr val="1F2B3D"/>
                          </a:solidFill>
                          <a:latin typeface="Aptos"/>
                        </a:defRPr>
                      </a:pPr>
                      <a:r>
                        <a:t>0.279</a:t>
                      </a:r>
                    </a:p>
                  </a:txBody>
                  <a:tcPr>
                    <a:solidFill>
                      <a:srgbClr val="FFFFFF"/>
                    </a:solidFill>
                  </a:tcPr>
                </a:tc>
                <a:extLst>
                  <a:ext uri="{0D108BD9-81ED-4DB2-BD59-A6C34878D82A}">
                    <a16:rowId xmlns:a16="http://schemas.microsoft.com/office/drawing/2014/main" val="10001"/>
                  </a:ext>
                </a:extLst>
              </a:tr>
              <a:tr h="291465">
                <a:tc>
                  <a:txBody>
                    <a:bodyPr/>
                    <a:lstStyle/>
                    <a:p>
                      <a:pPr algn="l">
                        <a:defRPr sz="819">
                          <a:solidFill>
                            <a:srgbClr val="1F2B3D"/>
                          </a:solidFill>
                          <a:latin typeface="Aptos"/>
                        </a:defRPr>
                      </a:pPr>
                      <a:r>
                        <a:t>Volatility_10</a:t>
                      </a:r>
                    </a:p>
                  </a:txBody>
                  <a:tcPr>
                    <a:solidFill>
                      <a:srgbClr val="F2F6FA"/>
                    </a:solidFill>
                  </a:tcPr>
                </a:tc>
                <a:tc>
                  <a:txBody>
                    <a:bodyPr/>
                    <a:lstStyle/>
                    <a:p>
                      <a:pPr algn="ctr">
                        <a:defRPr sz="819">
                          <a:solidFill>
                            <a:srgbClr val="1F2B3D"/>
                          </a:solidFill>
                          <a:latin typeface="Aptos"/>
                        </a:defRPr>
                      </a:pPr>
                      <a:r>
                        <a:t>0.209</a:t>
                      </a:r>
                    </a:p>
                  </a:txBody>
                  <a:tcPr>
                    <a:solidFill>
                      <a:srgbClr val="F2F6FA"/>
                    </a:solidFill>
                  </a:tcPr>
                </a:tc>
                <a:extLst>
                  <a:ext uri="{0D108BD9-81ED-4DB2-BD59-A6C34878D82A}">
                    <a16:rowId xmlns:a16="http://schemas.microsoft.com/office/drawing/2014/main" val="10002"/>
                  </a:ext>
                </a:extLst>
              </a:tr>
              <a:tr h="291465">
                <a:tc>
                  <a:txBody>
                    <a:bodyPr/>
                    <a:lstStyle/>
                    <a:p>
                      <a:pPr algn="l">
                        <a:defRPr sz="819">
                          <a:solidFill>
                            <a:srgbClr val="1F2B3D"/>
                          </a:solidFill>
                          <a:latin typeface="Aptos"/>
                        </a:defRPr>
                      </a:pPr>
                      <a:r>
                        <a:t>Momentum_10</a:t>
                      </a:r>
                    </a:p>
                  </a:txBody>
                  <a:tcPr>
                    <a:solidFill>
                      <a:srgbClr val="FFFFFF"/>
                    </a:solidFill>
                  </a:tcPr>
                </a:tc>
                <a:tc>
                  <a:txBody>
                    <a:bodyPr/>
                    <a:lstStyle/>
                    <a:p>
                      <a:pPr algn="ctr">
                        <a:defRPr sz="819">
                          <a:solidFill>
                            <a:srgbClr val="1F2B3D"/>
                          </a:solidFill>
                          <a:latin typeface="Aptos"/>
                        </a:defRPr>
                      </a:pPr>
                      <a:r>
                        <a:t>0.180</a:t>
                      </a:r>
                    </a:p>
                  </a:txBody>
                  <a:tcPr>
                    <a:solidFill>
                      <a:srgbClr val="FFFFFF"/>
                    </a:solidFill>
                  </a:tcPr>
                </a:tc>
                <a:extLst>
                  <a:ext uri="{0D108BD9-81ED-4DB2-BD59-A6C34878D82A}">
                    <a16:rowId xmlns:a16="http://schemas.microsoft.com/office/drawing/2014/main" val="10003"/>
                  </a:ext>
                </a:extLst>
              </a:tr>
              <a:tr h="291465">
                <a:tc>
                  <a:txBody>
                    <a:bodyPr/>
                    <a:lstStyle/>
                    <a:p>
                      <a:pPr algn="l">
                        <a:defRPr sz="819">
                          <a:solidFill>
                            <a:srgbClr val="1F2B3D"/>
                          </a:solidFill>
                          <a:latin typeface="Aptos"/>
                        </a:defRPr>
                      </a:pPr>
                      <a:r>
                        <a:t>Volatility_20</a:t>
                      </a:r>
                    </a:p>
                  </a:txBody>
                  <a:tcPr>
                    <a:solidFill>
                      <a:srgbClr val="F2F6FA"/>
                    </a:solidFill>
                  </a:tcPr>
                </a:tc>
                <a:tc>
                  <a:txBody>
                    <a:bodyPr/>
                    <a:lstStyle/>
                    <a:p>
                      <a:pPr algn="ctr">
                        <a:defRPr sz="819">
                          <a:solidFill>
                            <a:srgbClr val="1F2B3D"/>
                          </a:solidFill>
                          <a:latin typeface="Aptos"/>
                        </a:defRPr>
                      </a:pPr>
                      <a:r>
                        <a:t>0.166</a:t>
                      </a:r>
                    </a:p>
                  </a:txBody>
                  <a:tcPr>
                    <a:solidFill>
                      <a:srgbClr val="F2F6FA"/>
                    </a:solidFill>
                  </a:tcPr>
                </a:tc>
                <a:extLst>
                  <a:ext uri="{0D108BD9-81ED-4DB2-BD59-A6C34878D82A}">
                    <a16:rowId xmlns:a16="http://schemas.microsoft.com/office/drawing/2014/main" val="10004"/>
                  </a:ext>
                </a:extLst>
              </a:tr>
              <a:tr h="291465">
                <a:tc>
                  <a:txBody>
                    <a:bodyPr/>
                    <a:lstStyle/>
                    <a:p>
                      <a:pPr algn="l">
                        <a:defRPr sz="819">
                          <a:solidFill>
                            <a:srgbClr val="1F2B3D"/>
                          </a:solidFill>
                          <a:latin typeface="Aptos"/>
                        </a:defRPr>
                      </a:pPr>
                      <a:r>
                        <a:t>MACD</a:t>
                      </a:r>
                    </a:p>
                  </a:txBody>
                  <a:tcPr>
                    <a:solidFill>
                      <a:srgbClr val="FFFFFF"/>
                    </a:solidFill>
                  </a:tcPr>
                </a:tc>
                <a:tc>
                  <a:txBody>
                    <a:bodyPr/>
                    <a:lstStyle/>
                    <a:p>
                      <a:pPr algn="ctr">
                        <a:defRPr sz="819">
                          <a:solidFill>
                            <a:srgbClr val="1F2B3D"/>
                          </a:solidFill>
                          <a:latin typeface="Aptos"/>
                        </a:defRPr>
                      </a:pPr>
                      <a:r>
                        <a:t>0.165</a:t>
                      </a:r>
                    </a:p>
                  </a:txBody>
                  <a:tcPr>
                    <a:solidFill>
                      <a:srgbClr val="FFFFFF"/>
                    </a:solidFill>
                  </a:tcPr>
                </a:tc>
                <a:extLst>
                  <a:ext uri="{0D108BD9-81ED-4DB2-BD59-A6C34878D82A}">
                    <a16:rowId xmlns:a16="http://schemas.microsoft.com/office/drawing/2014/main" val="10005"/>
                  </a:ext>
                </a:extLst>
              </a:tr>
              <a:tr h="291465">
                <a:tc>
                  <a:txBody>
                    <a:bodyPr/>
                    <a:lstStyle/>
                    <a:p>
                      <a:pPr algn="l">
                        <a:defRPr sz="819">
                          <a:solidFill>
                            <a:srgbClr val="1F2B3D"/>
                          </a:solidFill>
                          <a:latin typeface="Aptos"/>
                        </a:defRPr>
                      </a:pPr>
                      <a:r>
                        <a:t>Drawdown</a:t>
                      </a:r>
                    </a:p>
                  </a:txBody>
                  <a:tcPr>
                    <a:solidFill>
                      <a:srgbClr val="F2F6FA"/>
                    </a:solidFill>
                  </a:tcPr>
                </a:tc>
                <a:tc>
                  <a:txBody>
                    <a:bodyPr/>
                    <a:lstStyle/>
                    <a:p>
                      <a:pPr algn="ctr">
                        <a:defRPr sz="819">
                          <a:solidFill>
                            <a:srgbClr val="1F2B3D"/>
                          </a:solidFill>
                          <a:latin typeface="Aptos"/>
                        </a:defRPr>
                      </a:pPr>
                      <a:r>
                        <a:t>0.144</a:t>
                      </a:r>
                    </a:p>
                  </a:txBody>
                  <a:tcPr>
                    <a:solidFill>
                      <a:srgbClr val="F2F6FA"/>
                    </a:solidFill>
                  </a:tcPr>
                </a:tc>
                <a:extLst>
                  <a:ext uri="{0D108BD9-81ED-4DB2-BD59-A6C34878D82A}">
                    <a16:rowId xmlns:a16="http://schemas.microsoft.com/office/drawing/2014/main" val="10006"/>
                  </a:ext>
                </a:extLst>
              </a:tr>
              <a:tr h="291465">
                <a:tc>
                  <a:txBody>
                    <a:bodyPr/>
                    <a:lstStyle/>
                    <a:p>
                      <a:pPr algn="l">
                        <a:defRPr sz="819">
                          <a:solidFill>
                            <a:srgbClr val="1F2B3D"/>
                          </a:solidFill>
                          <a:latin typeface="Aptos"/>
                        </a:defRPr>
                      </a:pPr>
                      <a:r>
                        <a:t>BB_Width</a:t>
                      </a:r>
                    </a:p>
                  </a:txBody>
                  <a:tcPr>
                    <a:solidFill>
                      <a:srgbClr val="FFFFFF"/>
                    </a:solidFill>
                  </a:tcPr>
                </a:tc>
                <a:tc>
                  <a:txBody>
                    <a:bodyPr/>
                    <a:lstStyle/>
                    <a:p>
                      <a:pPr algn="ctr">
                        <a:defRPr sz="819">
                          <a:solidFill>
                            <a:srgbClr val="1F2B3D"/>
                          </a:solidFill>
                          <a:latin typeface="Aptos"/>
                        </a:defRPr>
                      </a:pPr>
                      <a:r>
                        <a:t>0.139</a:t>
                      </a:r>
                    </a:p>
                  </a:txBody>
                  <a:tcPr>
                    <a:solidFill>
                      <a:srgbClr val="FFFFFF"/>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8942832" y="1810512"/>
          <a:ext cx="2514600" cy="2331720"/>
        </p:xfrm>
        <a:graphic>
          <a:graphicData uri="http://schemas.openxmlformats.org/drawingml/2006/table">
            <a:tbl>
              <a:tblPr firstRow="1" bandRow="1">
                <a:tableStyleId>{5C22544A-7EE6-4342-B048-85BDC9FD1C3A}</a:tableStyleId>
              </a:tblPr>
              <a:tblGrid>
                <a:gridCol w="628650">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628650">
                  <a:extLst>
                    <a:ext uri="{9D8B030D-6E8A-4147-A177-3AD203B41FA5}">
                      <a16:colId xmlns:a16="http://schemas.microsoft.com/office/drawing/2014/main" val="20002"/>
                    </a:ext>
                  </a:extLst>
                </a:gridCol>
                <a:gridCol w="628650">
                  <a:extLst>
                    <a:ext uri="{9D8B030D-6E8A-4147-A177-3AD203B41FA5}">
                      <a16:colId xmlns:a16="http://schemas.microsoft.com/office/drawing/2014/main" val="20003"/>
                    </a:ext>
                  </a:extLst>
                </a:gridCol>
              </a:tblGrid>
              <a:tr h="388620">
                <a:tc>
                  <a:txBody>
                    <a:bodyPr/>
                    <a:lstStyle/>
                    <a:p>
                      <a:pPr algn="ctr">
                        <a:defRPr sz="720" b="1">
                          <a:solidFill>
                            <a:srgbClr val="FFFFFF"/>
                          </a:solidFill>
                          <a:latin typeface="Aptos"/>
                        </a:defRPr>
                      </a:pPr>
                      <a:r>
                        <a:t>Split</a:t>
                      </a:r>
                    </a:p>
                  </a:txBody>
                  <a:tcPr>
                    <a:solidFill>
                      <a:srgbClr val="12253F"/>
                    </a:solidFill>
                  </a:tcPr>
                </a:tc>
                <a:tc>
                  <a:txBody>
                    <a:bodyPr/>
                    <a:lstStyle/>
                    <a:p>
                      <a:pPr algn="ctr">
                        <a:defRPr sz="720" b="1">
                          <a:solidFill>
                            <a:srgbClr val="FFFFFF"/>
                          </a:solidFill>
                          <a:latin typeface="Aptos"/>
                        </a:defRPr>
                      </a:pPr>
                      <a:r>
                        <a:t>Window Start</a:t>
                      </a:r>
                    </a:p>
                  </a:txBody>
                  <a:tcPr>
                    <a:solidFill>
                      <a:srgbClr val="12253F"/>
                    </a:solidFill>
                  </a:tcPr>
                </a:tc>
                <a:tc>
                  <a:txBody>
                    <a:bodyPr/>
                    <a:lstStyle/>
                    <a:p>
                      <a:pPr algn="ctr">
                        <a:defRPr sz="720" b="1">
                          <a:solidFill>
                            <a:srgbClr val="FFFFFF"/>
                          </a:solidFill>
                          <a:latin typeface="Aptos"/>
                        </a:defRPr>
                      </a:pPr>
                      <a:r>
                        <a:t>Window End</a:t>
                      </a:r>
                    </a:p>
                  </a:txBody>
                  <a:tcPr>
                    <a:solidFill>
                      <a:srgbClr val="12253F"/>
                    </a:solidFill>
                  </a:tcPr>
                </a:tc>
                <a:tc>
                  <a:txBody>
                    <a:bodyPr/>
                    <a:lstStyle/>
                    <a:p>
                      <a:pPr algn="ctr">
                        <a:defRPr sz="720" b="1">
                          <a:solidFill>
                            <a:srgbClr val="FFFFFF"/>
                          </a:solidFill>
                          <a:latin typeface="Aptos"/>
                        </a:defRPr>
                      </a:pPr>
                      <a:r>
                        <a:t>Features Checked</a:t>
                      </a:r>
                    </a:p>
                  </a:txBody>
                  <a:tcPr>
                    <a:solidFill>
                      <a:srgbClr val="12253F"/>
                    </a:solidFill>
                  </a:tcPr>
                </a:tc>
                <a:extLst>
                  <a:ext uri="{0D108BD9-81ED-4DB2-BD59-A6C34878D82A}">
                    <a16:rowId xmlns:a16="http://schemas.microsoft.com/office/drawing/2014/main" val="10000"/>
                  </a:ext>
                </a:extLst>
              </a:tr>
              <a:tr h="388620">
                <a:tc>
                  <a:txBody>
                    <a:bodyPr/>
                    <a:lstStyle/>
                    <a:p>
                      <a:pPr algn="l">
                        <a:defRPr sz="720">
                          <a:solidFill>
                            <a:srgbClr val="1F2B3D"/>
                          </a:solidFill>
                          <a:latin typeface="Aptos"/>
                        </a:defRPr>
                      </a:pPr>
                      <a:r>
                        <a:t>Test</a:t>
                      </a:r>
                    </a:p>
                  </a:txBody>
                  <a:tcPr>
                    <a:solidFill>
                      <a:srgbClr val="FFFFFF"/>
                    </a:solidFill>
                  </a:tcPr>
                </a:tc>
                <a:tc>
                  <a:txBody>
                    <a:bodyPr/>
                    <a:lstStyle/>
                    <a:p>
                      <a:pPr algn="ctr">
                        <a:defRPr sz="720">
                          <a:solidFill>
                            <a:srgbClr val="1F2B3D"/>
                          </a:solidFill>
                          <a:latin typeface="Aptos"/>
                        </a:defRPr>
                      </a:pPr>
                      <a:r>
                        <a:t>2021-10-21</a:t>
                      </a:r>
                    </a:p>
                  </a:txBody>
                  <a:tcPr>
                    <a:solidFill>
                      <a:srgbClr val="FFFFFF"/>
                    </a:solidFill>
                  </a:tcPr>
                </a:tc>
                <a:tc>
                  <a:txBody>
                    <a:bodyPr/>
                    <a:lstStyle/>
                    <a:p>
                      <a:pPr algn="ctr">
                        <a:defRPr sz="720">
                          <a:solidFill>
                            <a:srgbClr val="1F2B3D"/>
                          </a:solidFill>
                          <a:latin typeface="Aptos"/>
                        </a:defRPr>
                      </a:pPr>
                      <a:r>
                        <a:t>2022-01-20</a:t>
                      </a:r>
                    </a:p>
                  </a:txBody>
                  <a:tcPr>
                    <a:solidFill>
                      <a:srgbClr val="FFFFFF"/>
                    </a:solidFill>
                  </a:tcPr>
                </a:tc>
                <a:tc>
                  <a:txBody>
                    <a:bodyPr/>
                    <a:lstStyle/>
                    <a:p>
                      <a:pPr algn="ctr">
                        <a:defRPr sz="720">
                          <a:solidFill>
                            <a:srgbClr val="1F2B3D"/>
                          </a:solidFill>
                          <a:latin typeface="Aptos"/>
                        </a:defRPr>
                      </a:pPr>
                      <a:r>
                        <a:t>15.00</a:t>
                      </a:r>
                    </a:p>
                  </a:txBody>
                  <a:tcPr>
                    <a:solidFill>
                      <a:srgbClr val="FFFFFF"/>
                    </a:solidFill>
                  </a:tcPr>
                </a:tc>
                <a:extLst>
                  <a:ext uri="{0D108BD9-81ED-4DB2-BD59-A6C34878D82A}">
                    <a16:rowId xmlns:a16="http://schemas.microsoft.com/office/drawing/2014/main" val="10001"/>
                  </a:ext>
                </a:extLst>
              </a:tr>
              <a:tr h="388620">
                <a:tc>
                  <a:txBody>
                    <a:bodyPr/>
                    <a:lstStyle/>
                    <a:p>
                      <a:pPr algn="l">
                        <a:defRPr sz="720">
                          <a:solidFill>
                            <a:srgbClr val="1F2B3D"/>
                          </a:solidFill>
                          <a:latin typeface="Aptos"/>
                        </a:defRPr>
                      </a:pPr>
                      <a:r>
                        <a:t>Test</a:t>
                      </a:r>
                    </a:p>
                  </a:txBody>
                  <a:tcPr>
                    <a:solidFill>
                      <a:srgbClr val="F2F6FA"/>
                    </a:solidFill>
                  </a:tcPr>
                </a:tc>
                <a:tc>
                  <a:txBody>
                    <a:bodyPr/>
                    <a:lstStyle/>
                    <a:p>
                      <a:pPr algn="ctr">
                        <a:defRPr sz="720">
                          <a:solidFill>
                            <a:srgbClr val="1F2B3D"/>
                          </a:solidFill>
                          <a:latin typeface="Aptos"/>
                        </a:defRPr>
                      </a:pPr>
                      <a:r>
                        <a:t>2022-01-21</a:t>
                      </a:r>
                    </a:p>
                  </a:txBody>
                  <a:tcPr>
                    <a:solidFill>
                      <a:srgbClr val="F2F6FA"/>
                    </a:solidFill>
                  </a:tcPr>
                </a:tc>
                <a:tc>
                  <a:txBody>
                    <a:bodyPr/>
                    <a:lstStyle/>
                    <a:p>
                      <a:pPr algn="ctr">
                        <a:defRPr sz="720">
                          <a:solidFill>
                            <a:srgbClr val="1F2B3D"/>
                          </a:solidFill>
                          <a:latin typeface="Aptos"/>
                        </a:defRPr>
                      </a:pPr>
                      <a:r>
                        <a:t>2022-04-21</a:t>
                      </a:r>
                    </a:p>
                  </a:txBody>
                  <a:tcPr>
                    <a:solidFill>
                      <a:srgbClr val="F2F6FA"/>
                    </a:solidFill>
                  </a:tcPr>
                </a:tc>
                <a:tc>
                  <a:txBody>
                    <a:bodyPr/>
                    <a:lstStyle/>
                    <a:p>
                      <a:pPr algn="ctr">
                        <a:defRPr sz="720">
                          <a:solidFill>
                            <a:srgbClr val="1F2B3D"/>
                          </a:solidFill>
                          <a:latin typeface="Aptos"/>
                        </a:defRPr>
                      </a:pPr>
                      <a:r>
                        <a:t>15.00</a:t>
                      </a:r>
                    </a:p>
                  </a:txBody>
                  <a:tcPr>
                    <a:solidFill>
                      <a:srgbClr val="F2F6FA"/>
                    </a:solidFill>
                  </a:tcPr>
                </a:tc>
                <a:extLst>
                  <a:ext uri="{0D108BD9-81ED-4DB2-BD59-A6C34878D82A}">
                    <a16:rowId xmlns:a16="http://schemas.microsoft.com/office/drawing/2014/main" val="10002"/>
                  </a:ext>
                </a:extLst>
              </a:tr>
              <a:tr h="388620">
                <a:tc>
                  <a:txBody>
                    <a:bodyPr/>
                    <a:lstStyle/>
                    <a:p>
                      <a:pPr algn="l">
                        <a:defRPr sz="720">
                          <a:solidFill>
                            <a:srgbClr val="1F2B3D"/>
                          </a:solidFill>
                          <a:latin typeface="Aptos"/>
                        </a:defRPr>
                      </a:pPr>
                      <a:r>
                        <a:t>Test</a:t>
                      </a:r>
                    </a:p>
                  </a:txBody>
                  <a:tcPr>
                    <a:solidFill>
                      <a:srgbClr val="FFFFFF"/>
                    </a:solidFill>
                  </a:tcPr>
                </a:tc>
                <a:tc>
                  <a:txBody>
                    <a:bodyPr/>
                    <a:lstStyle/>
                    <a:p>
                      <a:pPr algn="ctr">
                        <a:defRPr sz="720">
                          <a:solidFill>
                            <a:srgbClr val="1F2B3D"/>
                          </a:solidFill>
                          <a:latin typeface="Aptos"/>
                        </a:defRPr>
                      </a:pPr>
                      <a:r>
                        <a:t>2022-04-22</a:t>
                      </a:r>
                    </a:p>
                  </a:txBody>
                  <a:tcPr>
                    <a:solidFill>
                      <a:srgbClr val="FFFFFF"/>
                    </a:solidFill>
                  </a:tcPr>
                </a:tc>
                <a:tc>
                  <a:txBody>
                    <a:bodyPr/>
                    <a:lstStyle/>
                    <a:p>
                      <a:pPr algn="ctr">
                        <a:defRPr sz="720">
                          <a:solidFill>
                            <a:srgbClr val="1F2B3D"/>
                          </a:solidFill>
                          <a:latin typeface="Aptos"/>
                        </a:defRPr>
                      </a:pPr>
                      <a:r>
                        <a:t>2022-07-22</a:t>
                      </a:r>
                    </a:p>
                  </a:txBody>
                  <a:tcPr>
                    <a:solidFill>
                      <a:srgbClr val="FFFFFF"/>
                    </a:solidFill>
                  </a:tcPr>
                </a:tc>
                <a:tc>
                  <a:txBody>
                    <a:bodyPr/>
                    <a:lstStyle/>
                    <a:p>
                      <a:pPr algn="ctr">
                        <a:defRPr sz="720">
                          <a:solidFill>
                            <a:srgbClr val="1F2B3D"/>
                          </a:solidFill>
                          <a:latin typeface="Aptos"/>
                        </a:defRPr>
                      </a:pPr>
                      <a:r>
                        <a:t>15.00</a:t>
                      </a:r>
                    </a:p>
                  </a:txBody>
                  <a:tcPr>
                    <a:solidFill>
                      <a:srgbClr val="FFFFFF"/>
                    </a:solidFill>
                  </a:tcPr>
                </a:tc>
                <a:extLst>
                  <a:ext uri="{0D108BD9-81ED-4DB2-BD59-A6C34878D82A}">
                    <a16:rowId xmlns:a16="http://schemas.microsoft.com/office/drawing/2014/main" val="10003"/>
                  </a:ext>
                </a:extLst>
              </a:tr>
              <a:tr h="388620">
                <a:tc>
                  <a:txBody>
                    <a:bodyPr/>
                    <a:lstStyle/>
                    <a:p>
                      <a:pPr algn="l">
                        <a:defRPr sz="720">
                          <a:solidFill>
                            <a:srgbClr val="1F2B3D"/>
                          </a:solidFill>
                          <a:latin typeface="Aptos"/>
                        </a:defRPr>
                      </a:pPr>
                      <a:r>
                        <a:t>Test</a:t>
                      </a:r>
                    </a:p>
                  </a:txBody>
                  <a:tcPr>
                    <a:solidFill>
                      <a:srgbClr val="F2F6FA"/>
                    </a:solidFill>
                  </a:tcPr>
                </a:tc>
                <a:tc>
                  <a:txBody>
                    <a:bodyPr/>
                    <a:lstStyle/>
                    <a:p>
                      <a:pPr algn="ctr">
                        <a:defRPr sz="720">
                          <a:solidFill>
                            <a:srgbClr val="1F2B3D"/>
                          </a:solidFill>
                          <a:latin typeface="Aptos"/>
                        </a:defRPr>
                      </a:pPr>
                      <a:r>
                        <a:t>2022-07-25</a:t>
                      </a:r>
                    </a:p>
                  </a:txBody>
                  <a:tcPr>
                    <a:solidFill>
                      <a:srgbClr val="F2F6FA"/>
                    </a:solidFill>
                  </a:tcPr>
                </a:tc>
                <a:tc>
                  <a:txBody>
                    <a:bodyPr/>
                    <a:lstStyle/>
                    <a:p>
                      <a:pPr algn="ctr">
                        <a:defRPr sz="720">
                          <a:solidFill>
                            <a:srgbClr val="1F2B3D"/>
                          </a:solidFill>
                          <a:latin typeface="Aptos"/>
                        </a:defRPr>
                      </a:pPr>
                      <a:r>
                        <a:t>2022-10-20</a:t>
                      </a:r>
                    </a:p>
                  </a:txBody>
                  <a:tcPr>
                    <a:solidFill>
                      <a:srgbClr val="F2F6FA"/>
                    </a:solidFill>
                  </a:tcPr>
                </a:tc>
                <a:tc>
                  <a:txBody>
                    <a:bodyPr/>
                    <a:lstStyle/>
                    <a:p>
                      <a:pPr algn="ctr">
                        <a:defRPr sz="720">
                          <a:solidFill>
                            <a:srgbClr val="1F2B3D"/>
                          </a:solidFill>
                          <a:latin typeface="Aptos"/>
                        </a:defRPr>
                      </a:pPr>
                      <a:r>
                        <a:t>15.00</a:t>
                      </a:r>
                    </a:p>
                  </a:txBody>
                  <a:tcPr>
                    <a:solidFill>
                      <a:srgbClr val="F2F6FA"/>
                    </a:solidFill>
                  </a:tcPr>
                </a:tc>
                <a:extLst>
                  <a:ext uri="{0D108BD9-81ED-4DB2-BD59-A6C34878D82A}">
                    <a16:rowId xmlns:a16="http://schemas.microsoft.com/office/drawing/2014/main" val="10004"/>
                  </a:ext>
                </a:extLst>
              </a:tr>
              <a:tr h="388620">
                <a:tc>
                  <a:txBody>
                    <a:bodyPr/>
                    <a:lstStyle/>
                    <a:p>
                      <a:pPr algn="l">
                        <a:defRPr sz="720">
                          <a:solidFill>
                            <a:srgbClr val="1F2B3D"/>
                          </a:solidFill>
                          <a:latin typeface="Aptos"/>
                        </a:defRPr>
                      </a:pPr>
                      <a:r>
                        <a:t>Test</a:t>
                      </a:r>
                    </a:p>
                  </a:txBody>
                  <a:tcPr>
                    <a:solidFill>
                      <a:srgbClr val="FFFFFF"/>
                    </a:solidFill>
                  </a:tcPr>
                </a:tc>
                <a:tc>
                  <a:txBody>
                    <a:bodyPr/>
                    <a:lstStyle/>
                    <a:p>
                      <a:pPr algn="ctr">
                        <a:defRPr sz="720">
                          <a:solidFill>
                            <a:srgbClr val="1F2B3D"/>
                          </a:solidFill>
                          <a:latin typeface="Aptos"/>
                        </a:defRPr>
                      </a:pPr>
                      <a:r>
                        <a:t>2022-10-21</a:t>
                      </a:r>
                    </a:p>
                  </a:txBody>
                  <a:tcPr>
                    <a:solidFill>
                      <a:srgbClr val="FFFFFF"/>
                    </a:solidFill>
                  </a:tcPr>
                </a:tc>
                <a:tc>
                  <a:txBody>
                    <a:bodyPr/>
                    <a:lstStyle/>
                    <a:p>
                      <a:pPr algn="ctr">
                        <a:defRPr sz="720">
                          <a:solidFill>
                            <a:srgbClr val="1F2B3D"/>
                          </a:solidFill>
                          <a:latin typeface="Aptos"/>
                        </a:defRPr>
                      </a:pPr>
                      <a:r>
                        <a:t>2023-01-23</a:t>
                      </a:r>
                    </a:p>
                  </a:txBody>
                  <a:tcPr>
                    <a:solidFill>
                      <a:srgbClr val="FFFFFF"/>
                    </a:solidFill>
                  </a:tcPr>
                </a:tc>
                <a:tc>
                  <a:txBody>
                    <a:bodyPr/>
                    <a:lstStyle/>
                    <a:p>
                      <a:pPr algn="ctr">
                        <a:defRPr sz="720">
                          <a:solidFill>
                            <a:srgbClr val="1F2B3D"/>
                          </a:solidFill>
                          <a:latin typeface="Aptos"/>
                        </a:defRPr>
                      </a:pPr>
                      <a:r>
                        <a:t>15.00</a:t>
                      </a:r>
                    </a:p>
                  </a:txBody>
                  <a:tcPr>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6199632" y="4498848"/>
            <a:ext cx="5285232" cy="804672"/>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72200" y="4462272"/>
            <a:ext cx="5285232" cy="804672"/>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4462272"/>
            <a:ext cx="73152" cy="804672"/>
          </a:xfrm>
          <a:prstGeom prst="rect">
            <a:avLst/>
          </a:prstGeom>
          <a:solidFill>
            <a:srgbClr val="655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4645152"/>
            <a:ext cx="1463040" cy="210312"/>
          </a:xfrm>
          <a:prstGeom prst="rect">
            <a:avLst/>
          </a:prstGeom>
          <a:noFill/>
        </p:spPr>
        <p:txBody>
          <a:bodyPr wrap="square" lIns="18288" rIns="18288">
            <a:spAutoFit/>
          </a:bodyPr>
          <a:lstStyle/>
          <a:p>
            <a:pPr algn="l">
              <a:defRPr sz="1150" b="1">
                <a:solidFill>
                  <a:srgbClr val="1F2B3D"/>
                </a:solidFill>
                <a:latin typeface="Aptos"/>
              </a:defRPr>
            </a:pPr>
            <a:r>
              <a:t>Reference use</a:t>
            </a:r>
          </a:p>
        </p:txBody>
      </p:sp>
      <p:sp>
        <p:nvSpPr>
          <p:cNvPr id="13" name="TextBox 12"/>
          <p:cNvSpPr txBox="1"/>
          <p:nvPr/>
        </p:nvSpPr>
        <p:spPr>
          <a:xfrm>
            <a:off x="7543800" y="4645152"/>
            <a:ext cx="3611880" cy="292608"/>
          </a:xfrm>
          <a:prstGeom prst="rect">
            <a:avLst/>
          </a:prstGeom>
          <a:noFill/>
        </p:spPr>
        <p:txBody>
          <a:bodyPr wrap="square" lIns="18288" rIns="18288">
            <a:spAutoFit/>
          </a:bodyPr>
          <a:lstStyle/>
          <a:p>
            <a:pPr algn="l">
              <a:defRPr sz="940" b="0">
                <a:solidFill>
                  <a:srgbClr val="59687C"/>
                </a:solidFill>
                <a:latin typeface="Aptos"/>
              </a:defRPr>
            </a:pPr>
            <a:r>
              <a:t>Use this as backup for questions about which variables drive alerts and how drift monitoring was operationalised.</a:t>
            </a:r>
          </a:p>
        </p:txBody>
      </p:sp>
      <p:sp>
        <p:nvSpPr>
          <p:cNvPr id="14" name="TextBox 13"/>
          <p:cNvSpPr txBox="1"/>
          <p:nvPr/>
        </p:nvSpPr>
        <p:spPr>
          <a:xfrm>
            <a:off x="566928" y="6446520"/>
            <a:ext cx="8961120" cy="201168"/>
          </a:xfrm>
          <a:prstGeom prst="rect">
            <a:avLst/>
          </a:prstGeom>
          <a:noFill/>
        </p:spPr>
        <p:txBody>
          <a:bodyPr wrap="square" lIns="18288" rIns="18288">
            <a:spAutoFit/>
          </a:bodyPr>
          <a:lstStyle/>
          <a:p>
            <a:pPr algn="l">
              <a:defRPr sz="850" b="0">
                <a:solidFill>
                  <a:srgbClr val="59687C"/>
                </a:solidFill>
                <a:latin typeface="Aptos"/>
              </a:defRPr>
            </a:pPr>
            <a:r>
              <a:t>Code outputs are included as reference evidence from dissertation_outputs.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2926080" cy="228600"/>
          </a:xfrm>
          <a:prstGeom prst="rect">
            <a:avLst/>
          </a:prstGeom>
          <a:noFill/>
        </p:spPr>
        <p:txBody>
          <a:bodyPr wrap="square" lIns="18288" rIns="18288">
            <a:spAutoFit/>
          </a:bodyPr>
          <a:lstStyle/>
          <a:p>
            <a:pPr algn="l">
              <a:defRPr sz="950" b="1">
                <a:solidFill>
                  <a:srgbClr val="1C847E"/>
                </a:solidFill>
                <a:latin typeface="Aptos"/>
              </a:defRPr>
            </a:pPr>
            <a:r>
              <a:t>CODE OUTPUT REFERENCE</a:t>
            </a:r>
          </a:p>
        </p:txBody>
      </p:sp>
      <p:sp>
        <p:nvSpPr>
          <p:cNvPr id="3" name="TextBox 2"/>
          <p:cNvSpPr txBox="1"/>
          <p:nvPr/>
        </p:nvSpPr>
        <p:spPr>
          <a:xfrm>
            <a:off x="566928" y="621792"/>
            <a:ext cx="8046720" cy="475488"/>
          </a:xfrm>
          <a:prstGeom prst="rect">
            <a:avLst/>
          </a:prstGeom>
          <a:noFill/>
        </p:spPr>
        <p:txBody>
          <a:bodyPr wrap="square" lIns="18288" rIns="18288">
            <a:spAutoFit/>
          </a:bodyPr>
          <a:lstStyle/>
          <a:p>
            <a:pPr algn="l">
              <a:defRPr sz="2500" b="1">
                <a:solidFill>
                  <a:srgbClr val="12253F"/>
                </a:solidFill>
                <a:latin typeface="Aptos Display"/>
              </a:defRPr>
            </a:pPr>
            <a:r>
              <a:t>Cyber Resilience and Alert Evidence</a:t>
            </a:r>
          </a:p>
        </p:txBody>
      </p:sp>
      <p:sp>
        <p:nvSpPr>
          <p:cNvPr id="4" name="TextBox 3"/>
          <p:cNvSpPr txBox="1"/>
          <p:nvPr/>
        </p:nvSpPr>
        <p:spPr>
          <a:xfrm>
            <a:off x="566928" y="1069848"/>
            <a:ext cx="9784080" cy="329184"/>
          </a:xfrm>
          <a:prstGeom prst="rect">
            <a:avLst/>
          </a:prstGeom>
          <a:noFill/>
        </p:spPr>
        <p:txBody>
          <a:bodyPr wrap="square" lIns="18288" rIns="18288">
            <a:spAutoFit/>
          </a:bodyPr>
          <a:lstStyle/>
          <a:p>
            <a:pPr algn="l">
              <a:defRPr sz="1150" b="0">
                <a:solidFill>
                  <a:srgbClr val="59687C"/>
                </a:solidFill>
                <a:latin typeface="Aptos"/>
              </a:defRPr>
            </a:pPr>
            <a:r>
              <a:t>Implementation outputs connect the model evaluation to cyber-resilience and operational alerting claims.</a:t>
            </a:r>
          </a:p>
        </p:txBody>
      </p:sp>
      <p:sp>
        <p:nvSpPr>
          <p:cNvPr id="5" name="Rectangle 4"/>
          <p:cNvSpPr/>
          <p:nvPr/>
        </p:nvSpPr>
        <p:spPr>
          <a:xfrm>
            <a:off x="566928" y="1426464"/>
            <a:ext cx="11064240" cy="27432"/>
          </a:xfrm>
          <a:prstGeom prst="rect">
            <a:avLst/>
          </a:prstGeom>
          <a:solidFill>
            <a:srgbClr val="D1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ybersecurity_resilience_summary_dashboard.png"/>
          <p:cNvPicPr>
            <a:picLocks noChangeAspect="1"/>
          </p:cNvPicPr>
          <p:nvPr/>
        </p:nvPicPr>
        <p:blipFill>
          <a:blip r:embed="rId2"/>
          <a:stretch>
            <a:fillRect/>
          </a:stretch>
        </p:blipFill>
        <p:spPr>
          <a:xfrm>
            <a:off x="658368" y="1755648"/>
            <a:ext cx="5193792" cy="3072384"/>
          </a:xfrm>
          <a:prstGeom prst="rect">
            <a:avLst/>
          </a:prstGeom>
        </p:spPr>
      </p:pic>
      <p:pic>
        <p:nvPicPr>
          <p:cNvPr id="7" name="Picture 6" descr="image.png"/>
          <p:cNvPicPr>
            <a:picLocks noChangeAspect="1"/>
          </p:cNvPicPr>
          <p:nvPr/>
        </p:nvPicPr>
        <p:blipFill>
          <a:blip r:embed="rId3"/>
          <a:stretch>
            <a:fillRect/>
          </a:stretch>
        </p:blipFill>
        <p:spPr>
          <a:xfrm>
            <a:off x="6199632" y="1755648"/>
            <a:ext cx="5321808" cy="3072384"/>
          </a:xfrm>
          <a:prstGeom prst="rect">
            <a:avLst/>
          </a:prstGeom>
        </p:spPr>
      </p:pic>
      <p:graphicFrame>
        <p:nvGraphicFramePr>
          <p:cNvPr id="8" name="Table 7"/>
          <p:cNvGraphicFramePr>
            <a:graphicFrameLocks noGrp="1"/>
          </p:cNvGraphicFramePr>
          <p:nvPr/>
        </p:nvGraphicFramePr>
        <p:xfrm>
          <a:off x="960120" y="5230368"/>
          <a:ext cx="4846320" cy="658368"/>
        </p:xfrm>
        <a:graphic>
          <a:graphicData uri="http://schemas.openxmlformats.org/drawingml/2006/table">
            <a:tbl>
              <a:tblPr firstRow="1" bandRow="1">
                <a:tableStyleId>{5C22544A-7EE6-4342-B048-85BDC9FD1C3A}</a:tableStyleId>
              </a:tblPr>
              <a:tblGrid>
                <a:gridCol w="969264">
                  <a:extLst>
                    <a:ext uri="{9D8B030D-6E8A-4147-A177-3AD203B41FA5}">
                      <a16:colId xmlns:a16="http://schemas.microsoft.com/office/drawing/2014/main" val="20000"/>
                    </a:ext>
                  </a:extLst>
                </a:gridCol>
                <a:gridCol w="969264">
                  <a:extLst>
                    <a:ext uri="{9D8B030D-6E8A-4147-A177-3AD203B41FA5}">
                      <a16:colId xmlns:a16="http://schemas.microsoft.com/office/drawing/2014/main" val="20001"/>
                    </a:ext>
                  </a:extLst>
                </a:gridCol>
                <a:gridCol w="969264">
                  <a:extLst>
                    <a:ext uri="{9D8B030D-6E8A-4147-A177-3AD203B41FA5}">
                      <a16:colId xmlns:a16="http://schemas.microsoft.com/office/drawing/2014/main" val="20002"/>
                    </a:ext>
                  </a:extLst>
                </a:gridCol>
                <a:gridCol w="969264">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tblGrid>
              <a:tr h="164592">
                <a:tc>
                  <a:txBody>
                    <a:bodyPr/>
                    <a:lstStyle/>
                    <a:p>
                      <a:pPr algn="ctr">
                        <a:defRPr sz="740" b="1">
                          <a:solidFill>
                            <a:srgbClr val="FFFFFF"/>
                          </a:solidFill>
                          <a:latin typeface="Aptos"/>
                        </a:defRPr>
                      </a:pPr>
                      <a:r>
                        <a:t>Policy</a:t>
                      </a:r>
                    </a:p>
                  </a:txBody>
                  <a:tcPr>
                    <a:solidFill>
                      <a:srgbClr val="12253F"/>
                    </a:solidFill>
                  </a:tcPr>
                </a:tc>
                <a:tc>
                  <a:txBody>
                    <a:bodyPr/>
                    <a:lstStyle/>
                    <a:p>
                      <a:pPr algn="ctr">
                        <a:defRPr sz="740" b="1">
                          <a:solidFill>
                            <a:srgbClr val="FFFFFF"/>
                          </a:solidFill>
                          <a:latin typeface="Aptos"/>
                        </a:defRPr>
                      </a:pPr>
                      <a:r>
                        <a:t>Split</a:t>
                      </a:r>
                    </a:p>
                  </a:txBody>
                  <a:tcPr>
                    <a:solidFill>
                      <a:srgbClr val="12253F"/>
                    </a:solidFill>
                  </a:tcPr>
                </a:tc>
                <a:tc>
                  <a:txBody>
                    <a:bodyPr/>
                    <a:lstStyle/>
                    <a:p>
                      <a:pPr algn="ctr">
                        <a:defRPr sz="740" b="1">
                          <a:solidFill>
                            <a:srgbClr val="FFFFFF"/>
                          </a:solidFill>
                          <a:latin typeface="Aptos"/>
                        </a:defRPr>
                      </a:pPr>
                      <a:r>
                        <a:t>Precision</a:t>
                      </a:r>
                    </a:p>
                  </a:txBody>
                  <a:tcPr>
                    <a:solidFill>
                      <a:srgbClr val="12253F"/>
                    </a:solidFill>
                  </a:tcPr>
                </a:tc>
                <a:tc>
                  <a:txBody>
                    <a:bodyPr/>
                    <a:lstStyle/>
                    <a:p>
                      <a:pPr algn="ctr">
                        <a:defRPr sz="740" b="1">
                          <a:solidFill>
                            <a:srgbClr val="FFFFFF"/>
                          </a:solidFill>
                          <a:latin typeface="Aptos"/>
                        </a:defRPr>
                      </a:pPr>
                      <a:r>
                        <a:t>Recall</a:t>
                      </a:r>
                    </a:p>
                  </a:txBody>
                  <a:tcPr>
                    <a:solidFill>
                      <a:srgbClr val="12253F"/>
                    </a:solidFill>
                  </a:tcPr>
                </a:tc>
                <a:tc>
                  <a:txBody>
                    <a:bodyPr/>
                    <a:lstStyle/>
                    <a:p>
                      <a:pPr algn="ctr">
                        <a:defRPr sz="740" b="1">
                          <a:solidFill>
                            <a:srgbClr val="FFFFFF"/>
                          </a:solidFill>
                          <a:latin typeface="Aptos"/>
                        </a:defRPr>
                      </a:pPr>
                      <a:r>
                        <a:t>F1 Score</a:t>
                      </a:r>
                    </a:p>
                  </a:txBody>
                  <a:tcPr>
                    <a:solidFill>
                      <a:srgbClr val="12253F"/>
                    </a:solidFill>
                  </a:tcPr>
                </a:tc>
                <a:extLst>
                  <a:ext uri="{0D108BD9-81ED-4DB2-BD59-A6C34878D82A}">
                    <a16:rowId xmlns:a16="http://schemas.microsoft.com/office/drawing/2014/main" val="10000"/>
                  </a:ext>
                </a:extLst>
              </a:tr>
              <a:tr h="164592">
                <a:tc>
                  <a:txBody>
                    <a:bodyPr/>
                    <a:lstStyle/>
                    <a:p>
                      <a:pPr algn="l">
                        <a:defRPr sz="740">
                          <a:solidFill>
                            <a:srgbClr val="1F2B3D"/>
                          </a:solidFill>
                          <a:latin typeface="Aptos"/>
                        </a:defRPr>
                      </a:pPr>
                      <a:r>
                        <a:t>Fusion_OR_Alert</a:t>
                      </a:r>
                    </a:p>
                  </a:txBody>
                  <a:tcPr>
                    <a:solidFill>
                      <a:srgbClr val="FFFFFF"/>
                    </a:solidFill>
                  </a:tcPr>
                </a:tc>
                <a:tc>
                  <a:txBody>
                    <a:bodyPr/>
                    <a:lstStyle/>
                    <a:p>
                      <a:pPr algn="ctr">
                        <a:defRPr sz="740">
                          <a:solidFill>
                            <a:srgbClr val="1F2B3D"/>
                          </a:solidFill>
                          <a:latin typeface="Aptos"/>
                        </a:defRPr>
                      </a:pPr>
                      <a:r>
                        <a:t>Test</a:t>
                      </a:r>
                    </a:p>
                  </a:txBody>
                  <a:tcPr>
                    <a:solidFill>
                      <a:srgbClr val="FFFFFF"/>
                    </a:solidFill>
                  </a:tcPr>
                </a:tc>
                <a:tc>
                  <a:txBody>
                    <a:bodyPr/>
                    <a:lstStyle/>
                    <a:p>
                      <a:pPr algn="ctr">
                        <a:defRPr sz="740">
                          <a:solidFill>
                            <a:srgbClr val="1F2B3D"/>
                          </a:solidFill>
                          <a:latin typeface="Aptos"/>
                        </a:defRPr>
                      </a:pPr>
                      <a:r>
                        <a:t>0.208</a:t>
                      </a:r>
                    </a:p>
                  </a:txBody>
                  <a:tcPr>
                    <a:solidFill>
                      <a:srgbClr val="FFFFFF"/>
                    </a:solidFill>
                  </a:tcPr>
                </a:tc>
                <a:tc>
                  <a:txBody>
                    <a:bodyPr/>
                    <a:lstStyle/>
                    <a:p>
                      <a:pPr algn="ctr">
                        <a:defRPr sz="740">
                          <a:solidFill>
                            <a:srgbClr val="1F2B3D"/>
                          </a:solidFill>
                          <a:latin typeface="Aptos"/>
                        </a:defRPr>
                      </a:pPr>
                      <a:r>
                        <a:t>0.957</a:t>
                      </a:r>
                    </a:p>
                  </a:txBody>
                  <a:tcPr>
                    <a:solidFill>
                      <a:srgbClr val="FFFFFF"/>
                    </a:solidFill>
                  </a:tcPr>
                </a:tc>
                <a:tc>
                  <a:txBody>
                    <a:bodyPr/>
                    <a:lstStyle/>
                    <a:p>
                      <a:pPr algn="ctr">
                        <a:defRPr sz="740">
                          <a:solidFill>
                            <a:srgbClr val="1F2B3D"/>
                          </a:solidFill>
                          <a:latin typeface="Aptos"/>
                        </a:defRPr>
                      </a:pPr>
                      <a:r>
                        <a:t>0.342</a:t>
                      </a:r>
                    </a:p>
                  </a:txBody>
                  <a:tcPr>
                    <a:solidFill>
                      <a:srgbClr val="FFFFFF"/>
                    </a:solidFill>
                  </a:tcPr>
                </a:tc>
                <a:extLst>
                  <a:ext uri="{0D108BD9-81ED-4DB2-BD59-A6C34878D82A}">
                    <a16:rowId xmlns:a16="http://schemas.microsoft.com/office/drawing/2014/main" val="10001"/>
                  </a:ext>
                </a:extLst>
              </a:tr>
              <a:tr h="164592">
                <a:tc>
                  <a:txBody>
                    <a:bodyPr/>
                    <a:lstStyle/>
                    <a:p>
                      <a:pPr algn="l">
                        <a:defRPr sz="740">
                          <a:solidFill>
                            <a:srgbClr val="1F2B3D"/>
                          </a:solidFill>
                          <a:latin typeface="Aptos"/>
                        </a:defRPr>
                      </a:pPr>
                      <a:r>
                        <a:t>Fusion_Consensus_Alert</a:t>
                      </a:r>
                    </a:p>
                  </a:txBody>
                  <a:tcPr>
                    <a:solidFill>
                      <a:srgbClr val="F2F6FA"/>
                    </a:solidFill>
                  </a:tcPr>
                </a:tc>
                <a:tc>
                  <a:txBody>
                    <a:bodyPr/>
                    <a:lstStyle/>
                    <a:p>
                      <a:pPr algn="ctr">
                        <a:defRPr sz="740">
                          <a:solidFill>
                            <a:srgbClr val="1F2B3D"/>
                          </a:solidFill>
                          <a:latin typeface="Aptos"/>
                        </a:defRPr>
                      </a:pPr>
                      <a:r>
                        <a:t>Test</a:t>
                      </a:r>
                    </a:p>
                  </a:txBody>
                  <a:tcPr>
                    <a:solidFill>
                      <a:srgbClr val="F2F6FA"/>
                    </a:solidFill>
                  </a:tcPr>
                </a:tc>
                <a:tc>
                  <a:txBody>
                    <a:bodyPr/>
                    <a:lstStyle/>
                    <a:p>
                      <a:pPr algn="ctr">
                        <a:defRPr sz="740">
                          <a:solidFill>
                            <a:srgbClr val="1F2B3D"/>
                          </a:solidFill>
                          <a:latin typeface="Aptos"/>
                        </a:defRPr>
                      </a:pPr>
                      <a:r>
                        <a:t>0.234</a:t>
                      </a:r>
                    </a:p>
                  </a:txBody>
                  <a:tcPr>
                    <a:solidFill>
                      <a:srgbClr val="F2F6FA"/>
                    </a:solidFill>
                  </a:tcPr>
                </a:tc>
                <a:tc>
                  <a:txBody>
                    <a:bodyPr/>
                    <a:lstStyle/>
                    <a:p>
                      <a:pPr algn="ctr">
                        <a:defRPr sz="740">
                          <a:solidFill>
                            <a:srgbClr val="1F2B3D"/>
                          </a:solidFill>
                          <a:latin typeface="Aptos"/>
                        </a:defRPr>
                      </a:pPr>
                      <a:r>
                        <a:t>0.748</a:t>
                      </a:r>
                    </a:p>
                  </a:txBody>
                  <a:tcPr>
                    <a:solidFill>
                      <a:srgbClr val="F2F6FA"/>
                    </a:solidFill>
                  </a:tcPr>
                </a:tc>
                <a:tc>
                  <a:txBody>
                    <a:bodyPr/>
                    <a:lstStyle/>
                    <a:p>
                      <a:pPr algn="ctr">
                        <a:defRPr sz="740">
                          <a:solidFill>
                            <a:srgbClr val="1F2B3D"/>
                          </a:solidFill>
                          <a:latin typeface="Aptos"/>
                        </a:defRPr>
                      </a:pPr>
                      <a:r>
                        <a:t>0.357</a:t>
                      </a:r>
                    </a:p>
                  </a:txBody>
                  <a:tcPr>
                    <a:solidFill>
                      <a:srgbClr val="F2F6FA"/>
                    </a:solidFill>
                  </a:tcPr>
                </a:tc>
                <a:extLst>
                  <a:ext uri="{0D108BD9-81ED-4DB2-BD59-A6C34878D82A}">
                    <a16:rowId xmlns:a16="http://schemas.microsoft.com/office/drawing/2014/main" val="10002"/>
                  </a:ext>
                </a:extLst>
              </a:tr>
              <a:tr h="164592">
                <a:tc>
                  <a:txBody>
                    <a:bodyPr/>
                    <a:lstStyle/>
                    <a:p>
                      <a:pPr algn="l">
                        <a:defRPr sz="740">
                          <a:solidFill>
                            <a:srgbClr val="1F2B3D"/>
                          </a:solidFill>
                          <a:latin typeface="Aptos"/>
                        </a:defRPr>
                      </a:pPr>
                      <a:r>
                        <a:t>Fusion_OR_Alert</a:t>
                      </a:r>
                    </a:p>
                  </a:txBody>
                  <a:tcPr>
                    <a:solidFill>
                      <a:srgbClr val="FFFFFF"/>
                    </a:solidFill>
                  </a:tcPr>
                </a:tc>
                <a:tc>
                  <a:txBody>
                    <a:bodyPr/>
                    <a:lstStyle/>
                    <a:p>
                      <a:pPr algn="ctr">
                        <a:defRPr sz="740">
                          <a:solidFill>
                            <a:srgbClr val="1F2B3D"/>
                          </a:solidFill>
                          <a:latin typeface="Aptos"/>
                        </a:defRPr>
                      </a:pPr>
                      <a:r>
                        <a:t>Validation</a:t>
                      </a:r>
                    </a:p>
                  </a:txBody>
                  <a:tcPr>
                    <a:solidFill>
                      <a:srgbClr val="FFFFFF"/>
                    </a:solidFill>
                  </a:tcPr>
                </a:tc>
                <a:tc>
                  <a:txBody>
                    <a:bodyPr/>
                    <a:lstStyle/>
                    <a:p>
                      <a:pPr algn="ctr">
                        <a:defRPr sz="740">
                          <a:solidFill>
                            <a:srgbClr val="1F2B3D"/>
                          </a:solidFill>
                          <a:latin typeface="Aptos"/>
                        </a:defRPr>
                      </a:pPr>
                      <a:r>
                        <a:t>0.157</a:t>
                      </a:r>
                    </a:p>
                  </a:txBody>
                  <a:tcPr>
                    <a:solidFill>
                      <a:srgbClr val="FFFFFF"/>
                    </a:solidFill>
                  </a:tcPr>
                </a:tc>
                <a:tc>
                  <a:txBody>
                    <a:bodyPr/>
                    <a:lstStyle/>
                    <a:p>
                      <a:pPr algn="ctr">
                        <a:defRPr sz="740">
                          <a:solidFill>
                            <a:srgbClr val="1F2B3D"/>
                          </a:solidFill>
                          <a:latin typeface="Aptos"/>
                        </a:defRPr>
                      </a:pPr>
                      <a:r>
                        <a:t>0.951</a:t>
                      </a:r>
                    </a:p>
                  </a:txBody>
                  <a:tcPr>
                    <a:solidFill>
                      <a:srgbClr val="FFFFFF"/>
                    </a:solidFill>
                  </a:tcPr>
                </a:tc>
                <a:tc>
                  <a:txBody>
                    <a:bodyPr/>
                    <a:lstStyle/>
                    <a:p>
                      <a:pPr algn="ctr">
                        <a:defRPr sz="740">
                          <a:solidFill>
                            <a:srgbClr val="1F2B3D"/>
                          </a:solidFill>
                          <a:latin typeface="Aptos"/>
                        </a:defRPr>
                      </a:pPr>
                      <a:r>
                        <a:t>0.270</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6236208" y="5230368"/>
          <a:ext cx="4846320" cy="658368"/>
        </p:xfrm>
        <a:graphic>
          <a:graphicData uri="http://schemas.openxmlformats.org/drawingml/2006/table">
            <a:tbl>
              <a:tblPr firstRow="1" bandRow="1">
                <a:tableStyleId>{5C22544A-7EE6-4342-B048-85BDC9FD1C3A}</a:tableStyleId>
              </a:tblPr>
              <a:tblGrid>
                <a:gridCol w="1211580">
                  <a:extLst>
                    <a:ext uri="{9D8B030D-6E8A-4147-A177-3AD203B41FA5}">
                      <a16:colId xmlns:a16="http://schemas.microsoft.com/office/drawing/2014/main" val="20000"/>
                    </a:ext>
                  </a:extLst>
                </a:gridCol>
                <a:gridCol w="1211580">
                  <a:extLst>
                    <a:ext uri="{9D8B030D-6E8A-4147-A177-3AD203B41FA5}">
                      <a16:colId xmlns:a16="http://schemas.microsoft.com/office/drawing/2014/main" val="20001"/>
                    </a:ext>
                  </a:extLst>
                </a:gridCol>
                <a:gridCol w="1211580">
                  <a:extLst>
                    <a:ext uri="{9D8B030D-6E8A-4147-A177-3AD203B41FA5}">
                      <a16:colId xmlns:a16="http://schemas.microsoft.com/office/drawing/2014/main" val="20002"/>
                    </a:ext>
                  </a:extLst>
                </a:gridCol>
                <a:gridCol w="1211580">
                  <a:extLst>
                    <a:ext uri="{9D8B030D-6E8A-4147-A177-3AD203B41FA5}">
                      <a16:colId xmlns:a16="http://schemas.microsoft.com/office/drawing/2014/main" val="20003"/>
                    </a:ext>
                  </a:extLst>
                </a:gridCol>
              </a:tblGrid>
              <a:tr h="164592">
                <a:tc>
                  <a:txBody>
                    <a:bodyPr/>
                    <a:lstStyle/>
                    <a:p>
                      <a:pPr algn="ctr">
                        <a:defRPr sz="720" b="1">
                          <a:solidFill>
                            <a:srgbClr val="FFFFFF"/>
                          </a:solidFill>
                          <a:latin typeface="Aptos"/>
                        </a:defRPr>
                      </a:pPr>
                      <a:r>
                        <a:t>Model</a:t>
                      </a:r>
                    </a:p>
                  </a:txBody>
                  <a:tcPr>
                    <a:solidFill>
                      <a:srgbClr val="12253F"/>
                    </a:solidFill>
                  </a:tcPr>
                </a:tc>
                <a:tc>
                  <a:txBody>
                    <a:bodyPr/>
                    <a:lstStyle/>
                    <a:p>
                      <a:pPr algn="ctr">
                        <a:defRPr sz="720" b="1">
                          <a:solidFill>
                            <a:srgbClr val="FFFFFF"/>
                          </a:solidFill>
                          <a:latin typeface="Aptos"/>
                        </a:defRPr>
                      </a:pPr>
                      <a:r>
                        <a:t>Layer</a:t>
                      </a:r>
                    </a:p>
                  </a:txBody>
                  <a:tcPr>
                    <a:solidFill>
                      <a:srgbClr val="12253F"/>
                    </a:solidFill>
                  </a:tcPr>
                </a:tc>
                <a:tc>
                  <a:txBody>
                    <a:bodyPr/>
                    <a:lstStyle/>
                    <a:p>
                      <a:pPr algn="ctr">
                        <a:defRPr sz="720" b="1">
                          <a:solidFill>
                            <a:srgbClr val="FFFFFF"/>
                          </a:solidFill>
                          <a:latin typeface="Aptos"/>
                        </a:defRPr>
                      </a:pPr>
                      <a:r>
                        <a:t>Resilience Score</a:t>
                      </a:r>
                    </a:p>
                  </a:txBody>
                  <a:tcPr>
                    <a:solidFill>
                      <a:srgbClr val="12253F"/>
                    </a:solidFill>
                  </a:tcPr>
                </a:tc>
                <a:tc>
                  <a:txBody>
                    <a:bodyPr/>
                    <a:lstStyle/>
                    <a:p>
                      <a:pPr algn="ctr">
                        <a:defRPr sz="720" b="1">
                          <a:solidFill>
                            <a:srgbClr val="FFFFFF"/>
                          </a:solidFill>
                          <a:latin typeface="Aptos"/>
                        </a:defRPr>
                      </a:pPr>
                      <a:r>
                        <a:t>Score Percent</a:t>
                      </a:r>
                    </a:p>
                  </a:txBody>
                  <a:tcPr>
                    <a:solidFill>
                      <a:srgbClr val="12253F"/>
                    </a:solidFill>
                  </a:tcPr>
                </a:tc>
                <a:extLst>
                  <a:ext uri="{0D108BD9-81ED-4DB2-BD59-A6C34878D82A}">
                    <a16:rowId xmlns:a16="http://schemas.microsoft.com/office/drawing/2014/main" val="10000"/>
                  </a:ext>
                </a:extLst>
              </a:tr>
              <a:tr h="164592">
                <a:tc>
                  <a:txBody>
                    <a:bodyPr/>
                    <a:lstStyle/>
                    <a:p>
                      <a:pPr algn="l">
                        <a:defRPr sz="720">
                          <a:solidFill>
                            <a:srgbClr val="1F2B3D"/>
                          </a:solidFill>
                          <a:latin typeface="Aptos"/>
                        </a:defRPr>
                      </a:pPr>
                      <a:r>
                        <a:t>GB Fallback</a:t>
                      </a:r>
                    </a:p>
                  </a:txBody>
                  <a:tcPr>
                    <a:solidFill>
                      <a:srgbClr val="FFFFFF"/>
                    </a:solidFill>
                  </a:tcPr>
                </a:tc>
                <a:tc>
                  <a:txBody>
                    <a:bodyPr/>
                    <a:lstStyle/>
                    <a:p>
                      <a:pPr algn="ctr">
                        <a:defRPr sz="720">
                          <a:solidFill>
                            <a:srgbClr val="1F2B3D"/>
                          </a:solidFill>
                          <a:latin typeface="Aptos"/>
                        </a:defRPr>
                      </a:pPr>
                      <a:r>
                        <a:t>Layer 1: Data Integrity</a:t>
                      </a:r>
                    </a:p>
                  </a:txBody>
                  <a:tcPr>
                    <a:solidFill>
                      <a:srgbClr val="FFFFFF"/>
                    </a:solidFill>
                  </a:tcPr>
                </a:tc>
                <a:tc>
                  <a:txBody>
                    <a:bodyPr/>
                    <a:lstStyle/>
                    <a:p>
                      <a:pPr algn="ctr">
                        <a:defRPr sz="720">
                          <a:solidFill>
                            <a:srgbClr val="1F2B3D"/>
                          </a:solidFill>
                          <a:latin typeface="Aptos"/>
                        </a:defRPr>
                      </a:pPr>
                      <a:r>
                        <a:t>0.245</a:t>
                      </a:r>
                    </a:p>
                  </a:txBody>
                  <a:tcPr>
                    <a:solidFill>
                      <a:srgbClr val="FFFFFF"/>
                    </a:solidFill>
                  </a:tcPr>
                </a:tc>
                <a:tc>
                  <a:txBody>
                    <a:bodyPr/>
                    <a:lstStyle/>
                    <a:p>
                      <a:pPr algn="ctr">
                        <a:defRPr sz="720">
                          <a:solidFill>
                            <a:srgbClr val="1F2B3D"/>
                          </a:solidFill>
                          <a:latin typeface="Aptos"/>
                        </a:defRPr>
                      </a:pPr>
                      <a:r>
                        <a:t>24.50</a:t>
                      </a:r>
                    </a:p>
                  </a:txBody>
                  <a:tcPr>
                    <a:solidFill>
                      <a:srgbClr val="FFFFFF"/>
                    </a:solidFill>
                  </a:tcPr>
                </a:tc>
                <a:extLst>
                  <a:ext uri="{0D108BD9-81ED-4DB2-BD59-A6C34878D82A}">
                    <a16:rowId xmlns:a16="http://schemas.microsoft.com/office/drawing/2014/main" val="10001"/>
                  </a:ext>
                </a:extLst>
              </a:tr>
              <a:tr h="164592">
                <a:tc>
                  <a:txBody>
                    <a:bodyPr/>
                    <a:lstStyle/>
                    <a:p>
                      <a:pPr algn="l">
                        <a:defRPr sz="720">
                          <a:solidFill>
                            <a:srgbClr val="1F2B3D"/>
                          </a:solidFill>
                          <a:latin typeface="Aptos"/>
                        </a:defRPr>
                      </a:pPr>
                      <a:r>
                        <a:t>GB Fallback</a:t>
                      </a:r>
                    </a:p>
                  </a:txBody>
                  <a:tcPr>
                    <a:solidFill>
                      <a:srgbClr val="F2F6FA"/>
                    </a:solidFill>
                  </a:tcPr>
                </a:tc>
                <a:tc>
                  <a:txBody>
                    <a:bodyPr/>
                    <a:lstStyle/>
                    <a:p>
                      <a:pPr algn="ctr">
                        <a:defRPr sz="720">
                          <a:solidFill>
                            <a:srgbClr val="1F2B3D"/>
                          </a:solidFill>
                          <a:latin typeface="Aptos"/>
                        </a:defRPr>
                      </a:pPr>
                      <a:r>
                        <a:t>Layer 2: Model Integrity</a:t>
                      </a:r>
                    </a:p>
                  </a:txBody>
                  <a:tcPr>
                    <a:solidFill>
                      <a:srgbClr val="F2F6FA"/>
                    </a:solidFill>
                  </a:tcPr>
                </a:tc>
                <a:tc>
                  <a:txBody>
                    <a:bodyPr/>
                    <a:lstStyle/>
                    <a:p>
                      <a:pPr algn="ctr">
                        <a:defRPr sz="720">
                          <a:solidFill>
                            <a:srgbClr val="1F2B3D"/>
                          </a:solidFill>
                          <a:latin typeface="Aptos"/>
                        </a:defRPr>
                      </a:pPr>
                      <a:r>
                        <a:t>0.473</a:t>
                      </a:r>
                    </a:p>
                  </a:txBody>
                  <a:tcPr>
                    <a:solidFill>
                      <a:srgbClr val="F2F6FA"/>
                    </a:solidFill>
                  </a:tcPr>
                </a:tc>
                <a:tc>
                  <a:txBody>
                    <a:bodyPr/>
                    <a:lstStyle/>
                    <a:p>
                      <a:pPr algn="ctr">
                        <a:defRPr sz="720">
                          <a:solidFill>
                            <a:srgbClr val="1F2B3D"/>
                          </a:solidFill>
                          <a:latin typeface="Aptos"/>
                        </a:defRPr>
                      </a:pPr>
                      <a:r>
                        <a:t>47.30</a:t>
                      </a:r>
                    </a:p>
                  </a:txBody>
                  <a:tcPr>
                    <a:solidFill>
                      <a:srgbClr val="F2F6FA"/>
                    </a:solidFill>
                  </a:tcPr>
                </a:tc>
                <a:extLst>
                  <a:ext uri="{0D108BD9-81ED-4DB2-BD59-A6C34878D82A}">
                    <a16:rowId xmlns:a16="http://schemas.microsoft.com/office/drawing/2014/main" val="10002"/>
                  </a:ext>
                </a:extLst>
              </a:tr>
              <a:tr h="164592">
                <a:tc>
                  <a:txBody>
                    <a:bodyPr/>
                    <a:lstStyle/>
                    <a:p>
                      <a:pPr algn="l">
                        <a:defRPr sz="720">
                          <a:solidFill>
                            <a:srgbClr val="1F2B3D"/>
                          </a:solidFill>
                          <a:latin typeface="Aptos"/>
                        </a:defRPr>
                      </a:pPr>
                      <a:r>
                        <a:t>GB Fallback</a:t>
                      </a:r>
                    </a:p>
                  </a:txBody>
                  <a:tcPr>
                    <a:solidFill>
                      <a:srgbClr val="FFFFFF"/>
                    </a:solidFill>
                  </a:tcPr>
                </a:tc>
                <a:tc>
                  <a:txBody>
                    <a:bodyPr/>
                    <a:lstStyle/>
                    <a:p>
                      <a:pPr algn="ctr">
                        <a:defRPr sz="720">
                          <a:solidFill>
                            <a:srgbClr val="1F2B3D"/>
                          </a:solidFill>
                          <a:latin typeface="Aptos"/>
                        </a:defRPr>
                      </a:pPr>
                      <a:r>
                        <a:t>Layer 3: Drift Monitoring</a:t>
                      </a:r>
                    </a:p>
                  </a:txBody>
                  <a:tcPr>
                    <a:solidFill>
                      <a:srgbClr val="FFFFFF"/>
                    </a:solidFill>
                  </a:tcPr>
                </a:tc>
                <a:tc>
                  <a:txBody>
                    <a:bodyPr/>
                    <a:lstStyle/>
                    <a:p>
                      <a:pPr algn="ctr">
                        <a:defRPr sz="720">
                          <a:solidFill>
                            <a:srgbClr val="1F2B3D"/>
                          </a:solidFill>
                          <a:latin typeface="Aptos"/>
                        </a:defRPr>
                      </a:pPr>
                      <a:r>
                        <a:t>0.004</a:t>
                      </a:r>
                    </a:p>
                  </a:txBody>
                  <a:tcPr>
                    <a:solidFill>
                      <a:srgbClr val="FFFFFF"/>
                    </a:solidFill>
                  </a:tcPr>
                </a:tc>
                <a:tc>
                  <a:txBody>
                    <a:bodyPr/>
                    <a:lstStyle/>
                    <a:p>
                      <a:pPr algn="ctr">
                        <a:defRPr sz="720">
                          <a:solidFill>
                            <a:srgbClr val="1F2B3D"/>
                          </a:solidFill>
                          <a:latin typeface="Aptos"/>
                        </a:defRPr>
                      </a:pPr>
                      <a:r>
                        <a:t>0.400</a:t>
                      </a:r>
                    </a:p>
                  </a:txBody>
                  <a:tcPr>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566928" y="6446520"/>
            <a:ext cx="8961120" cy="201168"/>
          </a:xfrm>
          <a:prstGeom prst="rect">
            <a:avLst/>
          </a:prstGeom>
          <a:noFill/>
        </p:spPr>
        <p:txBody>
          <a:bodyPr wrap="square" lIns="18288" rIns="18288">
            <a:spAutoFit/>
          </a:bodyPr>
          <a:lstStyle/>
          <a:p>
            <a:pPr algn="l">
              <a:defRPr sz="850" b="0">
                <a:solidFill>
                  <a:srgbClr val="59687C"/>
                </a:solidFill>
                <a:latin typeface="Aptos"/>
              </a:defRPr>
            </a:pPr>
            <a:r>
              <a:t>Code outputs are included as reference evidence from dissertation_outputs.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2926080" cy="228600"/>
          </a:xfrm>
          <a:prstGeom prst="rect">
            <a:avLst/>
          </a:prstGeom>
          <a:noFill/>
        </p:spPr>
        <p:txBody>
          <a:bodyPr wrap="square" lIns="18288" rIns="18288">
            <a:spAutoFit/>
          </a:bodyPr>
          <a:lstStyle/>
          <a:p>
            <a:pPr algn="l">
              <a:defRPr sz="950" b="1">
                <a:solidFill>
                  <a:srgbClr val="1C847E"/>
                </a:solidFill>
                <a:latin typeface="Aptos"/>
              </a:defRPr>
            </a:pPr>
            <a:r>
              <a:t>REFERENCE APPENDIX</a:t>
            </a:r>
          </a:p>
        </p:txBody>
      </p:sp>
      <p:sp>
        <p:nvSpPr>
          <p:cNvPr id="3" name="TextBox 2"/>
          <p:cNvSpPr txBox="1"/>
          <p:nvPr/>
        </p:nvSpPr>
        <p:spPr>
          <a:xfrm>
            <a:off x="566928" y="621792"/>
            <a:ext cx="8046720" cy="475488"/>
          </a:xfrm>
          <a:prstGeom prst="rect">
            <a:avLst/>
          </a:prstGeom>
          <a:noFill/>
        </p:spPr>
        <p:txBody>
          <a:bodyPr wrap="square" lIns="18288" rIns="18288">
            <a:spAutoFit/>
          </a:bodyPr>
          <a:lstStyle/>
          <a:p>
            <a:pPr algn="l">
              <a:defRPr sz="2500" b="1">
                <a:solidFill>
                  <a:srgbClr val="12253F"/>
                </a:solidFill>
                <a:latin typeface="Aptos Display"/>
              </a:defRPr>
            </a:pPr>
            <a:r>
              <a:t>Where to Find the Code Outputs</a:t>
            </a:r>
          </a:p>
        </p:txBody>
      </p:sp>
      <p:sp>
        <p:nvSpPr>
          <p:cNvPr id="4" name="TextBox 3"/>
          <p:cNvSpPr txBox="1"/>
          <p:nvPr/>
        </p:nvSpPr>
        <p:spPr>
          <a:xfrm>
            <a:off x="566928" y="1069848"/>
            <a:ext cx="9784080" cy="329184"/>
          </a:xfrm>
          <a:prstGeom prst="rect">
            <a:avLst/>
          </a:prstGeom>
          <a:noFill/>
        </p:spPr>
        <p:txBody>
          <a:bodyPr wrap="square" lIns="18288" rIns="18288">
            <a:spAutoFit/>
          </a:bodyPr>
          <a:lstStyle/>
          <a:p>
            <a:pPr algn="l">
              <a:defRPr sz="1150" b="0">
                <a:solidFill>
                  <a:srgbClr val="59687C"/>
                </a:solidFill>
                <a:latin typeface="Aptos"/>
              </a:defRPr>
            </a:pPr>
            <a:r>
              <a:t>A compact map of the evidence files used in the mixed presentation.</a:t>
            </a:r>
          </a:p>
        </p:txBody>
      </p:sp>
      <p:sp>
        <p:nvSpPr>
          <p:cNvPr id="5" name="Rectangle 4"/>
          <p:cNvSpPr/>
          <p:nvPr/>
        </p:nvSpPr>
        <p:spPr>
          <a:xfrm>
            <a:off x="566928" y="1426464"/>
            <a:ext cx="11064240" cy="27432"/>
          </a:xfrm>
          <a:prstGeom prst="rect">
            <a:avLst/>
          </a:prstGeom>
          <a:solidFill>
            <a:srgbClr val="D1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8680" y="1819656"/>
            <a:ext cx="10424160" cy="713232"/>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41248" y="1783080"/>
            <a:ext cx="10424160" cy="713232"/>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41248" y="1783080"/>
            <a:ext cx="73152" cy="713232"/>
          </a:xfrm>
          <a:prstGeom prst="rect">
            <a:avLst/>
          </a:prstGeom>
          <a:solidFill>
            <a:srgbClr val="1C8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33856" y="1965960"/>
            <a:ext cx="1920240" cy="228600"/>
          </a:xfrm>
          <a:prstGeom prst="rect">
            <a:avLst/>
          </a:prstGeom>
          <a:noFill/>
        </p:spPr>
        <p:txBody>
          <a:bodyPr wrap="square" lIns="18288" rIns="18288">
            <a:spAutoFit/>
          </a:bodyPr>
          <a:lstStyle/>
          <a:p>
            <a:pPr algn="l">
              <a:defRPr sz="1250" b="1">
                <a:solidFill>
                  <a:srgbClr val="1F2B3D"/>
                </a:solidFill>
                <a:latin typeface="Aptos"/>
              </a:defRPr>
            </a:pPr>
            <a:r>
              <a:t>Model metrics</a:t>
            </a:r>
          </a:p>
        </p:txBody>
      </p:sp>
      <p:sp>
        <p:nvSpPr>
          <p:cNvPr id="10" name="TextBox 9"/>
          <p:cNvSpPr txBox="1"/>
          <p:nvPr/>
        </p:nvSpPr>
        <p:spPr>
          <a:xfrm>
            <a:off x="3017520" y="1929384"/>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dissertation_outputs/results/supervised_model_metrics.csv</a:t>
            </a:r>
          </a:p>
        </p:txBody>
      </p:sp>
      <p:sp>
        <p:nvSpPr>
          <p:cNvPr id="11" name="TextBox 10"/>
          <p:cNvSpPr txBox="1"/>
          <p:nvPr/>
        </p:nvSpPr>
        <p:spPr>
          <a:xfrm>
            <a:off x="7022592" y="1929384"/>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dissertation_outputs/figures/supervised_model_performance_heatmap.png</a:t>
            </a:r>
          </a:p>
        </p:txBody>
      </p:sp>
      <p:sp>
        <p:nvSpPr>
          <p:cNvPr id="12" name="Rounded Rectangle 11"/>
          <p:cNvSpPr/>
          <p:nvPr/>
        </p:nvSpPr>
        <p:spPr>
          <a:xfrm>
            <a:off x="868680" y="2862072"/>
            <a:ext cx="10424160" cy="713232"/>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41248" y="2825496"/>
            <a:ext cx="10424160" cy="713232"/>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41248" y="2825496"/>
            <a:ext cx="73152" cy="713232"/>
          </a:xfrm>
          <a:prstGeom prst="rect">
            <a:avLst/>
          </a:prstGeom>
          <a:solidFill>
            <a:srgbClr val="B2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33856" y="3008376"/>
            <a:ext cx="1920240" cy="228600"/>
          </a:xfrm>
          <a:prstGeom prst="rect">
            <a:avLst/>
          </a:prstGeom>
          <a:noFill/>
        </p:spPr>
        <p:txBody>
          <a:bodyPr wrap="square" lIns="18288" rIns="18288">
            <a:spAutoFit/>
          </a:bodyPr>
          <a:lstStyle/>
          <a:p>
            <a:pPr algn="l">
              <a:defRPr sz="1250" b="1">
                <a:solidFill>
                  <a:srgbClr val="1F2B3D"/>
                </a:solidFill>
                <a:latin typeface="Aptos"/>
              </a:defRPr>
            </a:pPr>
            <a:r>
              <a:t>Stress tests</a:t>
            </a:r>
          </a:p>
        </p:txBody>
      </p:sp>
      <p:sp>
        <p:nvSpPr>
          <p:cNvPr id="16" name="TextBox 15"/>
          <p:cNvSpPr txBox="1"/>
          <p:nvPr/>
        </p:nvSpPr>
        <p:spPr>
          <a:xfrm>
            <a:off x="3017520" y="2971800"/>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dissertation_outputs/results/supervised_robustness_results.csv</a:t>
            </a:r>
          </a:p>
        </p:txBody>
      </p:sp>
      <p:sp>
        <p:nvSpPr>
          <p:cNvPr id="17" name="TextBox 16"/>
          <p:cNvSpPr txBox="1"/>
          <p:nvPr/>
        </p:nvSpPr>
        <p:spPr>
          <a:xfrm>
            <a:off x="7022592" y="2971800"/>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dissertation_outputs/figures/supervised_stress_scenario_f1_comparison.png</a:t>
            </a:r>
          </a:p>
        </p:txBody>
      </p:sp>
      <p:sp>
        <p:nvSpPr>
          <p:cNvPr id="18" name="Rounded Rectangle 17"/>
          <p:cNvSpPr/>
          <p:nvPr/>
        </p:nvSpPr>
        <p:spPr>
          <a:xfrm>
            <a:off x="868680" y="3904487"/>
            <a:ext cx="10424160" cy="713232"/>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41248" y="3867911"/>
            <a:ext cx="10424160" cy="713232"/>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41248" y="3867911"/>
            <a:ext cx="73152" cy="713232"/>
          </a:xfrm>
          <a:prstGeom prst="rect">
            <a:avLst/>
          </a:prstGeom>
          <a:solidFill>
            <a:srgbClr val="655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33856" y="4050791"/>
            <a:ext cx="1920240" cy="228600"/>
          </a:xfrm>
          <a:prstGeom prst="rect">
            <a:avLst/>
          </a:prstGeom>
          <a:noFill/>
        </p:spPr>
        <p:txBody>
          <a:bodyPr wrap="square" lIns="18288" rIns="18288">
            <a:spAutoFit/>
          </a:bodyPr>
          <a:lstStyle/>
          <a:p>
            <a:pPr algn="l">
              <a:defRPr sz="1250" b="1">
                <a:solidFill>
                  <a:srgbClr val="1F2B3D"/>
                </a:solidFill>
                <a:latin typeface="Aptos"/>
              </a:defRPr>
            </a:pPr>
            <a:r>
              <a:t>SHAP &amp; drift</a:t>
            </a:r>
          </a:p>
        </p:txBody>
      </p:sp>
      <p:sp>
        <p:nvSpPr>
          <p:cNvPr id="22" name="TextBox 21"/>
          <p:cNvSpPr txBox="1"/>
          <p:nvPr/>
        </p:nvSpPr>
        <p:spPr>
          <a:xfrm>
            <a:off x="3017520" y="4014215"/>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dissertation_outputs/results/shap_feature_importance_test_sample.csv</a:t>
            </a:r>
          </a:p>
        </p:txBody>
      </p:sp>
      <p:sp>
        <p:nvSpPr>
          <p:cNvPr id="23" name="TextBox 22"/>
          <p:cNvSpPr txBox="1"/>
          <p:nvPr/>
        </p:nvSpPr>
        <p:spPr>
          <a:xfrm>
            <a:off x="7022592" y="4014215"/>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dissertation_outputs/results/drift_alarm_summary.csv</a:t>
            </a:r>
          </a:p>
        </p:txBody>
      </p:sp>
      <p:sp>
        <p:nvSpPr>
          <p:cNvPr id="24" name="Rounded Rectangle 23"/>
          <p:cNvSpPr/>
          <p:nvPr/>
        </p:nvSpPr>
        <p:spPr>
          <a:xfrm>
            <a:off x="868680" y="4946904"/>
            <a:ext cx="10424160" cy="713232"/>
          </a:xfrm>
          <a:prstGeom prst="roundRect">
            <a:avLst/>
          </a:prstGeom>
          <a:solidFill>
            <a:srgbClr val="E2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41248" y="4910328"/>
            <a:ext cx="10424160" cy="713232"/>
          </a:xfrm>
          <a:prstGeom prst="roundRect">
            <a:avLst/>
          </a:prstGeom>
          <a:solidFill>
            <a:srgbClr val="FFFFFF"/>
          </a:solidFill>
          <a:ln w="9525">
            <a:solidFill>
              <a:srgbClr val="D1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41248" y="4910328"/>
            <a:ext cx="73152" cy="713232"/>
          </a:xfrm>
          <a:prstGeom prst="rect">
            <a:avLst/>
          </a:prstGeom>
          <a:solidFill>
            <a:srgbClr val="2962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33856" y="5093208"/>
            <a:ext cx="1920240" cy="228600"/>
          </a:xfrm>
          <a:prstGeom prst="rect">
            <a:avLst/>
          </a:prstGeom>
          <a:noFill/>
        </p:spPr>
        <p:txBody>
          <a:bodyPr wrap="square" lIns="18288" rIns="18288">
            <a:spAutoFit/>
          </a:bodyPr>
          <a:lstStyle/>
          <a:p>
            <a:pPr algn="l">
              <a:defRPr sz="1250" b="1">
                <a:solidFill>
                  <a:srgbClr val="1F2B3D"/>
                </a:solidFill>
                <a:latin typeface="Aptos"/>
              </a:defRPr>
            </a:pPr>
            <a:r>
              <a:t>Cyber &amp; alerts</a:t>
            </a:r>
          </a:p>
        </p:txBody>
      </p:sp>
      <p:sp>
        <p:nvSpPr>
          <p:cNvPr id="28" name="TextBox 27"/>
          <p:cNvSpPr txBox="1"/>
          <p:nvPr/>
        </p:nvSpPr>
        <p:spPr>
          <a:xfrm>
            <a:off x="3017520" y="5056632"/>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dissertation_outputs/results/cybersecurity_resilience_scorecard.csv</a:t>
            </a:r>
          </a:p>
        </p:txBody>
      </p:sp>
      <p:sp>
        <p:nvSpPr>
          <p:cNvPr id="29" name="TextBox 28"/>
          <p:cNvSpPr txBox="1"/>
          <p:nvPr/>
        </p:nvSpPr>
        <p:spPr>
          <a:xfrm>
            <a:off x="7022592" y="5056632"/>
            <a:ext cx="3886200" cy="182880"/>
          </a:xfrm>
          <a:prstGeom prst="rect">
            <a:avLst/>
          </a:prstGeom>
          <a:noFill/>
        </p:spPr>
        <p:txBody>
          <a:bodyPr wrap="square" lIns="18288" rIns="18288">
            <a:spAutoFit/>
          </a:bodyPr>
          <a:lstStyle/>
          <a:p>
            <a:pPr algn="l">
              <a:defRPr sz="850" b="0">
                <a:solidFill>
                  <a:srgbClr val="59687C"/>
                </a:solidFill>
                <a:latin typeface="Aptos"/>
              </a:defRPr>
            </a:pPr>
            <a:r>
              <a:t>dissertation_outputs/figures/alert_flags_nvda_example.png</a:t>
            </a:r>
          </a:p>
        </p:txBody>
      </p:sp>
      <p:sp>
        <p:nvSpPr>
          <p:cNvPr id="30" name="TextBox 29"/>
          <p:cNvSpPr txBox="1"/>
          <p:nvPr/>
        </p:nvSpPr>
        <p:spPr>
          <a:xfrm>
            <a:off x="566928" y="6446520"/>
            <a:ext cx="8961120" cy="201168"/>
          </a:xfrm>
          <a:prstGeom prst="rect">
            <a:avLst/>
          </a:prstGeom>
          <a:noFill/>
        </p:spPr>
        <p:txBody>
          <a:bodyPr wrap="square" lIns="18288" rIns="18288">
            <a:spAutoFit/>
          </a:bodyPr>
          <a:lstStyle/>
          <a:p>
            <a:pPr algn="l">
              <a:defRPr sz="850" b="0">
                <a:solidFill>
                  <a:srgbClr val="59687C"/>
                </a:solidFill>
                <a:latin typeface="Aptos"/>
              </a:defRPr>
            </a:pPr>
            <a:r>
              <a:t>All added reference slides are editable and can be moved into the main talk if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1445</TotalTime>
  <Words>3092</Words>
  <Application>Microsoft Office PowerPoint</Application>
  <PresentationFormat>Widescreen</PresentationFormat>
  <Paragraphs>383</Paragraphs>
  <Slides>22</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priyanka.p.sharma</cp:lastModifiedBy>
  <cp:revision>2</cp:revision>
  <dcterms:created xsi:type="dcterms:W3CDTF">2013-01-27T09:14:16Z</dcterms:created>
  <dcterms:modified xsi:type="dcterms:W3CDTF">2026-05-20T10:18:30Z</dcterms:modified>
  <cp:category/>
</cp:coreProperties>
</file>