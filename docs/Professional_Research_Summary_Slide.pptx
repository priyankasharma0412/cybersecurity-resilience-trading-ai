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86384"/>
          </a:xfrm>
          <a:prstGeom prst="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999" cy="502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37160"/>
            <a:ext cx="768096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Research Summary: Context to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173736"/>
            <a:ext cx="2852928" cy="384048"/>
          </a:xfrm>
          <a:prstGeom prst="roundRect">
            <a:avLst/>
          </a:prstGeom>
          <a:solidFill>
            <a:srgbClr val="203A5C"/>
          </a:solidFill>
          <a:ln>
            <a:solidFill>
              <a:srgbClr val="315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EAF2FF"/>
                </a:solidFill>
                <a:latin typeface="Aptos"/>
              </a:defRPr>
            </a:pPr>
            <a:r>
              <a:t>Gap | Method | Results |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987552"/>
            <a:ext cx="512064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20">
                <a:solidFill>
                  <a:srgbClr val="64748B"/>
                </a:solidFill>
                <a:latin typeface="Aptos"/>
              </a:defRPr>
            </a:pPr>
            <a:r>
              <a:t>Eight-part structure for a dissertation defence or research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" y="1485900"/>
            <a:ext cx="2761488" cy="20299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" y="1444752"/>
            <a:ext cx="2761488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1444752"/>
            <a:ext cx="100584" cy="20299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700784"/>
            <a:ext cx="438912" cy="438912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1673352"/>
            <a:ext cx="1719073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20" b="1">
                <a:solidFill>
                  <a:srgbClr val="1E293B"/>
                </a:solidFill>
                <a:latin typeface="Aptos Display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95144"/>
            <a:ext cx="219456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defRPr sz="1120">
                <a:solidFill>
                  <a:srgbClr val="64748B"/>
                </a:solidFill>
                <a:latin typeface="Aptos"/>
              </a:defRPr>
            </a:pPr>
            <a:r>
              <a:t>Domain, motivation, and decision setting.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163824"/>
            <a:ext cx="21945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0148" y="1485900"/>
            <a:ext cx="2761488" cy="20299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38144" y="1444752"/>
            <a:ext cx="2761488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8144" y="1444752"/>
            <a:ext cx="100584" cy="2029968"/>
          </a:xfrm>
          <a:prstGeom prst="rect">
            <a:avLst/>
          </a:prstGeom>
          <a:solidFill>
            <a:srgbClr val="C4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21608" y="1700784"/>
            <a:ext cx="438912" cy="438912"/>
          </a:xfrm>
          <a:prstGeom prst="ellipse">
            <a:avLst/>
          </a:prstGeom>
          <a:solidFill>
            <a:srgbClr val="C48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1673352"/>
            <a:ext cx="1719073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20" b="1">
                <a:solidFill>
                  <a:srgbClr val="1E293B"/>
                </a:solidFill>
                <a:latin typeface="Aptos Display"/>
              </a:defRPr>
            </a:pPr>
            <a:r>
              <a:t>Gap &amp; RQs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295144"/>
            <a:ext cx="219456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defRPr sz="1120">
                <a:solidFill>
                  <a:srgbClr val="64748B"/>
                </a:solidFill>
                <a:latin typeface="Aptos"/>
              </a:defRPr>
            </a:pPr>
            <a:r>
              <a:t>Evidence gap, limitations, and research questions.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21608" y="3163824"/>
            <a:ext cx="21945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6228" y="1485900"/>
            <a:ext cx="2761488" cy="20299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4224" y="1444752"/>
            <a:ext cx="2761488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64224" y="1444752"/>
            <a:ext cx="100584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47688" y="170078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1673352"/>
            <a:ext cx="1719073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20" b="1">
                <a:solidFill>
                  <a:srgbClr val="1E293B"/>
                </a:solidFill>
                <a:latin typeface="Aptos Display"/>
              </a:defRPr>
            </a:pPr>
            <a:r>
              <a:t>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2295144"/>
            <a:ext cx="219456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defRPr sz="1120">
                <a:solidFill>
                  <a:srgbClr val="64748B"/>
                </a:solidFill>
                <a:latin typeface="Aptos"/>
              </a:defRPr>
            </a:pPr>
            <a:r>
              <a:t>Data, modelling workflow, and evaluation protocol.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7688" y="3163824"/>
            <a:ext cx="21945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2308" y="1485900"/>
            <a:ext cx="2761488" cy="20299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0304" y="1444752"/>
            <a:ext cx="2761488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90304" y="1444752"/>
            <a:ext cx="100584" cy="202996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73768" y="1700784"/>
            <a:ext cx="438912" cy="438912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0696" y="1673352"/>
            <a:ext cx="1719073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20" b="1">
                <a:solidFill>
                  <a:srgbClr val="1E293B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2295144"/>
            <a:ext cx="219456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defRPr sz="1120">
                <a:solidFill>
                  <a:srgbClr val="64748B"/>
                </a:solidFill>
                <a:latin typeface="Aptos"/>
              </a:defRPr>
            </a:pPr>
            <a:r>
              <a:t>Core performance patterns and strongest outcomes.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73768" y="3163824"/>
            <a:ext cx="21945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4068" y="3717036"/>
            <a:ext cx="2761488" cy="20299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2064" y="3675888"/>
            <a:ext cx="2761488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064" y="3675888"/>
            <a:ext cx="100584" cy="2029968"/>
          </a:xfrm>
          <a:prstGeom prst="rect">
            <a:avLst/>
          </a:prstGeom>
          <a:solidFill>
            <a:srgbClr val="BE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5528" y="3931920"/>
            <a:ext cx="438912" cy="438912"/>
          </a:xfrm>
          <a:prstGeom prst="ellipse">
            <a:avLst/>
          </a:prstGeom>
          <a:solidFill>
            <a:srgbClr val="BE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2456" y="3904488"/>
            <a:ext cx="1719073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20" b="1">
                <a:solidFill>
                  <a:srgbClr val="1E293B"/>
                </a:solidFill>
                <a:latin typeface="Aptos Display"/>
              </a:defRPr>
            </a:pPr>
            <a:r>
              <a:t>Stress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4526280"/>
            <a:ext cx="219456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defRPr sz="1120">
                <a:solidFill>
                  <a:srgbClr val="64748B"/>
                </a:solidFill>
                <a:latin typeface="Aptos"/>
              </a:defRPr>
            </a:pPr>
            <a:r>
              <a:t>Robustness under shocks, noise, and regime changes.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" y="5394960"/>
            <a:ext cx="21945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470148" y="3717036"/>
            <a:ext cx="2761488" cy="20299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38144" y="3675888"/>
            <a:ext cx="2761488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38144" y="3675888"/>
            <a:ext cx="100584" cy="2029968"/>
          </a:xfrm>
          <a:prstGeom prst="rect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21608" y="3931920"/>
            <a:ext cx="438912" cy="438912"/>
          </a:xfrm>
          <a:prstGeom prst="ellipse">
            <a:avLst/>
          </a:prstGeom>
          <a:solidFill>
            <a:srgbClr val="6D5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88536" y="3904488"/>
            <a:ext cx="1719073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20" b="1">
                <a:solidFill>
                  <a:srgbClr val="1E293B"/>
                </a:solidFill>
                <a:latin typeface="Aptos Display"/>
              </a:defRPr>
            </a:pPr>
            <a:r>
              <a:t>SHAP &amp; Drift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21608" y="4526280"/>
            <a:ext cx="219456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defRPr sz="1120">
                <a:solidFill>
                  <a:srgbClr val="64748B"/>
                </a:solidFill>
                <a:latin typeface="Aptos"/>
              </a:defRPr>
            </a:pPr>
            <a:r>
              <a:t>Feature attribution plus distribution and concept drift checks.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21608" y="5394960"/>
            <a:ext cx="21945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96228" y="3717036"/>
            <a:ext cx="2761488" cy="20299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64224" y="3675888"/>
            <a:ext cx="2761488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64224" y="3675888"/>
            <a:ext cx="100584" cy="2029968"/>
          </a:xfrm>
          <a:prstGeom prst="rect">
            <a:avLst/>
          </a:prstGeom>
          <a:solidFill>
            <a:srgbClr val="0E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647688" y="3931920"/>
            <a:ext cx="438912" cy="438912"/>
          </a:xfrm>
          <a:prstGeom prst="ellipse">
            <a:avLst/>
          </a:prstGeom>
          <a:solidFill>
            <a:srgbClr val="0EA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14616" y="3904488"/>
            <a:ext cx="1719073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20" b="1">
                <a:solidFill>
                  <a:srgbClr val="1E293B"/>
                </a:solidFill>
                <a:latin typeface="Aptos Display"/>
              </a:defRPr>
            </a:pPr>
            <a:r>
              <a:t>Findings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47688" y="4526280"/>
            <a:ext cx="219456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defRPr sz="1120">
                <a:solidFill>
                  <a:srgbClr val="64748B"/>
                </a:solidFill>
                <a:latin typeface="Aptos"/>
              </a:defRPr>
            </a:pPr>
            <a:r>
              <a:t>Interpretation, practical implications, and governance signals.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7688" y="5394960"/>
            <a:ext cx="21945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322308" y="3717036"/>
            <a:ext cx="2761488" cy="2029968"/>
          </a:xfrm>
          <a:prstGeom prst="round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290304" y="3675888"/>
            <a:ext cx="2761488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90304" y="3675888"/>
            <a:ext cx="100584" cy="202996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573768" y="3931920"/>
            <a:ext cx="438912" cy="43891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0696" y="3904488"/>
            <a:ext cx="1719073" cy="4389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520" b="1">
                <a:solidFill>
                  <a:srgbClr val="1E293B"/>
                </a:solidFill>
                <a:latin typeface="Aptos Display"/>
              </a:defRPr>
            </a:pPr>
            <a:r>
              <a:t>Limits &amp; Future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73768" y="4526280"/>
            <a:ext cx="219456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defRPr sz="1120">
                <a:solidFill>
                  <a:srgbClr val="64748B"/>
                </a:solidFill>
                <a:latin typeface="Aptos"/>
              </a:defRPr>
            </a:pPr>
            <a:r>
              <a:t>Scope limits, threats to validity, and next experiments.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73768" y="5394960"/>
            <a:ext cx="219456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6455664"/>
            <a:ext cx="6949440" cy="21945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19">
                <a:solidFill>
                  <a:srgbClr val="7A8797"/>
                </a:solidFill>
                <a:latin typeface="Aptos"/>
              </a:defRPr>
            </a:pPr>
            <a:r>
              <a:t>Editable one-slide structure - replace the brief prompts with project-specific evidence.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83696" y="6437376"/>
            <a:ext cx="393192" cy="21945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919" b="1">
                <a:solidFill>
                  <a:srgbClr val="7A879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