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330" r:id="rId6"/>
    <p:sldId id="325" r:id="rId7"/>
    <p:sldId id="318" r:id="rId8"/>
    <p:sldId id="294" r:id="rId9"/>
    <p:sldId id="267" r:id="rId10"/>
    <p:sldId id="295" r:id="rId11"/>
    <p:sldId id="312" r:id="rId12"/>
    <p:sldId id="297" r:id="rId13"/>
    <p:sldId id="319" r:id="rId14"/>
    <p:sldId id="299" r:id="rId15"/>
    <p:sldId id="300" r:id="rId16"/>
    <p:sldId id="309" r:id="rId17"/>
    <p:sldId id="329" r:id="rId18"/>
    <p:sldId id="324" r:id="rId19"/>
    <p:sldId id="320" r:id="rId20"/>
    <p:sldId id="289" r:id="rId21"/>
    <p:sldId id="29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3" d="100"/>
          <a:sy n="83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F033C-2C03-4724-B75B-CDBEBE75FB4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3CC5F-4449-4329-9AD8-E438F0509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299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144000" y="-975360"/>
            <a:ext cx="4876800" cy="4876800"/>
          </a:xfrm>
          <a:prstGeom prst="ellipse">
            <a:avLst/>
          </a:prstGeom>
          <a:solidFill>
            <a:srgbClr val="0A6E8A">
              <a:alpha val="15000"/>
            </a:srgbClr>
          </a:solidFill>
          <a:ln w="12700">
            <a:solidFill>
              <a:srgbClr val="0A6E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753600" y="3901440"/>
            <a:ext cx="3048000" cy="3048000"/>
          </a:xfrm>
          <a:prstGeom prst="ellipse">
            <a:avLst/>
          </a:prstGeom>
          <a:solidFill>
            <a:srgbClr val="00C2CC">
              <a:alpha val="12000"/>
            </a:srgbClr>
          </a:solidFill>
          <a:ln w="12700">
            <a:solidFill>
              <a:srgbClr val="00C2C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36320" y="60960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 dirty="0">
                <a:solidFill>
                  <a:srgbClr val="00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LD7083 — Computing and Digital Technologies Project  |  Northumbria University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6320" y="1219200"/>
            <a:ext cx="1036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Resilience in</a:t>
            </a:r>
            <a:endParaRPr lang="en-US" sz="4533" dirty="0"/>
          </a:p>
        </p:txBody>
      </p:sp>
      <p:sp>
        <p:nvSpPr>
          <p:cNvPr id="7" name="Text 5"/>
          <p:cNvSpPr/>
          <p:nvPr/>
        </p:nvSpPr>
        <p:spPr>
          <a:xfrm>
            <a:off x="1036320" y="2021840"/>
            <a:ext cx="1036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533" b="1" dirty="0">
                <a:solidFill>
                  <a:srgbClr val="00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Trading</a:t>
            </a:r>
            <a:endParaRPr lang="en-US" sz="4533" dirty="0"/>
          </a:p>
        </p:txBody>
      </p:sp>
      <p:sp>
        <p:nvSpPr>
          <p:cNvPr id="8" name="Text 6"/>
          <p:cNvSpPr/>
          <p:nvPr/>
        </p:nvSpPr>
        <p:spPr>
          <a:xfrm>
            <a:off x="1036320" y="3108960"/>
            <a:ext cx="1036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Supervised Anomaly Detection Framework</a:t>
            </a:r>
            <a:endParaRPr lang="en-US" sz="2133" dirty="0"/>
          </a:p>
        </p:txBody>
      </p:sp>
      <p:sp>
        <p:nvSpPr>
          <p:cNvPr id="9" name="Shape 7"/>
          <p:cNvSpPr/>
          <p:nvPr/>
        </p:nvSpPr>
        <p:spPr>
          <a:xfrm>
            <a:off x="1036320" y="3779520"/>
            <a:ext cx="4267200" cy="36576"/>
          </a:xfrm>
          <a:prstGeom prst="rect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36320" y="3962400"/>
            <a:ext cx="10363200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Sharma  |  w24037842</a:t>
            </a:r>
            <a:endParaRPr lang="en-US" sz="1533" dirty="0"/>
          </a:p>
          <a:p>
            <a:pPr marL="0" indent="0">
              <a:buNone/>
            </a:pPr>
            <a:r>
              <a:rPr lang="en-US" sz="1533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Rose Fong</a:t>
            </a:r>
            <a:endParaRPr lang="en-US" sz="1533" dirty="0"/>
          </a:p>
          <a:p>
            <a:pPr marL="0" indent="0">
              <a:buNone/>
            </a:pPr>
            <a:r>
              <a:rPr lang="en-US" sz="1533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Artificial Intelligence Technology  |  21 May 2026</a:t>
            </a:r>
            <a:endParaRPr lang="en-US" sz="15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Circle">
            <a:extLst>
              <a:ext uri="{FF2B5EF4-FFF2-40B4-BE49-F238E27FC236}">
                <a16:creationId xmlns:a16="http://schemas.microsoft.com/office/drawing/2014/main" id="{FEC505A8-B351-4741-82F7-33E6025707AD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ornerCircle">
            <a:extLst>
              <a:ext uri="{FF2B5EF4-FFF2-40B4-BE49-F238E27FC236}">
                <a16:creationId xmlns:a16="http://schemas.microsoft.com/office/drawing/2014/main" id="{1C4F6145-C6EE-4B81-91E0-2D5527BCFF4C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LeftAccentBar">
            <a:extLst>
              <a:ext uri="{FF2B5EF4-FFF2-40B4-BE49-F238E27FC236}">
                <a16:creationId xmlns:a16="http://schemas.microsoft.com/office/drawing/2014/main" id="{19EA0A79-E4D0-44CF-9870-3655EC9C326D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Text">
            <a:extLst>
              <a:ext uri="{FF2B5EF4-FFF2-40B4-BE49-F238E27FC236}">
                <a16:creationId xmlns:a16="http://schemas.microsoft.com/office/drawing/2014/main" id="{926E8E9A-BEAE-431C-80DB-7AA73B08E8FB}"/>
              </a:ext>
            </a:extLst>
          </p:cNvPr>
          <p:cNvSpPr txBox="1"/>
          <p:nvPr/>
        </p:nvSpPr>
        <p:spPr>
          <a:xfrm>
            <a:off x="1143000" y="304800"/>
            <a:ext cx="914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SubText">
            <a:extLst>
              <a:ext uri="{FF2B5EF4-FFF2-40B4-BE49-F238E27FC236}">
                <a16:creationId xmlns:a16="http://schemas.microsoft.com/office/drawing/2014/main" id="{E0D9216E-6E1B-43F1-BF9F-578B1A14D611}"/>
              </a:ext>
            </a:extLst>
          </p:cNvPr>
          <p:cNvSpPr txBox="1"/>
          <p:nvPr/>
        </p:nvSpPr>
        <p:spPr>
          <a:xfrm>
            <a:off x="1143000" y="952500"/>
            <a:ext cx="914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dirty="0">
                <a:solidFill>
                  <a:srgbClr val="D6EAF8"/>
                </a:solidFill>
              </a:rPr>
              <a:t>Seven steps from problem to recommendation</a:t>
            </a:r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6CC1DCE7-20FC-4684-B74E-028A2D911857}"/>
              </a:ext>
            </a:extLst>
          </p:cNvPr>
          <p:cNvSpPr/>
          <p:nvPr/>
        </p:nvSpPr>
        <p:spPr>
          <a:xfrm>
            <a:off x="1143000" y="146812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3810594-8E37-DE8C-D5DF-F32F97AAABD8}"/>
              </a:ext>
            </a:extLst>
          </p:cNvPr>
          <p:cNvGrpSpPr/>
          <p:nvPr/>
        </p:nvGrpSpPr>
        <p:grpSpPr>
          <a:xfrm>
            <a:off x="1130300" y="2086610"/>
            <a:ext cx="10515600" cy="3759200"/>
            <a:chOff x="1143000" y="2476500"/>
            <a:chExt cx="10515600" cy="3759200"/>
          </a:xfrm>
        </p:grpSpPr>
        <p:sp>
          <p:nvSpPr>
            <p:cNvPr id="8" name="Card0">
              <a:extLst>
                <a:ext uri="{FF2B5EF4-FFF2-40B4-BE49-F238E27FC236}">
                  <a16:creationId xmlns:a16="http://schemas.microsoft.com/office/drawing/2014/main" id="{910B057B-E42A-4E26-849C-B919567D47B5}"/>
                </a:ext>
              </a:extLst>
            </p:cNvPr>
            <p:cNvSpPr/>
            <p:nvPr/>
          </p:nvSpPr>
          <p:spPr>
            <a:xfrm>
              <a:off x="1143000" y="2476500"/>
              <a:ext cx="24765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9" name="Num0">
              <a:extLst>
                <a:ext uri="{FF2B5EF4-FFF2-40B4-BE49-F238E27FC236}">
                  <a16:creationId xmlns:a16="http://schemas.microsoft.com/office/drawing/2014/main" id="{903A43E6-8136-490A-AD75-60F47E90A1C4}"/>
                </a:ext>
              </a:extLst>
            </p:cNvPr>
            <p:cNvSpPr txBox="1"/>
            <p:nvPr/>
          </p:nvSpPr>
          <p:spPr>
            <a:xfrm>
              <a:off x="1320800" y="2628900"/>
              <a:ext cx="762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800" b="1" dirty="0">
                  <a:solidFill>
                    <a:srgbClr val="00C2CC"/>
                  </a:solidFill>
                </a:rPr>
                <a:t>01</a:t>
              </a:r>
            </a:p>
          </p:txBody>
        </p:sp>
        <p:sp>
          <p:nvSpPr>
            <p:cNvPr id="10" name="Title0">
              <a:extLst>
                <a:ext uri="{FF2B5EF4-FFF2-40B4-BE49-F238E27FC236}">
                  <a16:creationId xmlns:a16="http://schemas.microsoft.com/office/drawing/2014/main" id="{FDE1DD36-E125-43F4-B3A0-C76B78B6B816}"/>
                </a:ext>
              </a:extLst>
            </p:cNvPr>
            <p:cNvSpPr txBox="1"/>
            <p:nvPr/>
          </p:nvSpPr>
          <p:spPr>
            <a:xfrm>
              <a:off x="1320800" y="3187700"/>
              <a:ext cx="21209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Problem &amp; motivation</a:t>
              </a:r>
            </a:p>
          </p:txBody>
        </p:sp>
        <p:sp>
          <p:nvSpPr>
            <p:cNvPr id="11" name="Sub0">
              <a:extLst>
                <a:ext uri="{FF2B5EF4-FFF2-40B4-BE49-F238E27FC236}">
                  <a16:creationId xmlns:a16="http://schemas.microsoft.com/office/drawing/2014/main" id="{B1F6486E-CCD9-4A1D-AE77-D99A9D3114B0}"/>
                </a:ext>
              </a:extLst>
            </p:cNvPr>
            <p:cNvSpPr txBox="1"/>
            <p:nvPr/>
          </p:nvSpPr>
          <p:spPr>
            <a:xfrm>
              <a:off x="1320800" y="3746500"/>
              <a:ext cx="21209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Why algo-trading needs resilience</a:t>
              </a:r>
            </a:p>
          </p:txBody>
        </p:sp>
        <p:sp>
          <p:nvSpPr>
            <p:cNvPr id="12" name="Card1">
              <a:extLst>
                <a:ext uri="{FF2B5EF4-FFF2-40B4-BE49-F238E27FC236}">
                  <a16:creationId xmlns:a16="http://schemas.microsoft.com/office/drawing/2014/main" id="{B29850CE-138B-4333-AC8C-0BD4CF6D9AFC}"/>
                </a:ext>
              </a:extLst>
            </p:cNvPr>
            <p:cNvSpPr/>
            <p:nvPr/>
          </p:nvSpPr>
          <p:spPr>
            <a:xfrm>
              <a:off x="3822700" y="2476500"/>
              <a:ext cx="24765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3" name="Num1">
              <a:extLst>
                <a:ext uri="{FF2B5EF4-FFF2-40B4-BE49-F238E27FC236}">
                  <a16:creationId xmlns:a16="http://schemas.microsoft.com/office/drawing/2014/main" id="{E503C060-0CEA-4704-8121-0384B771F723}"/>
                </a:ext>
              </a:extLst>
            </p:cNvPr>
            <p:cNvSpPr txBox="1"/>
            <p:nvPr/>
          </p:nvSpPr>
          <p:spPr>
            <a:xfrm>
              <a:off x="4000500" y="2628900"/>
              <a:ext cx="762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800" b="1" dirty="0">
                  <a:solidFill>
                    <a:srgbClr val="00C2CC"/>
                  </a:solidFill>
                </a:rPr>
                <a:t>02</a:t>
              </a:r>
            </a:p>
          </p:txBody>
        </p:sp>
        <p:sp>
          <p:nvSpPr>
            <p:cNvPr id="14" name="Title1">
              <a:extLst>
                <a:ext uri="{FF2B5EF4-FFF2-40B4-BE49-F238E27FC236}">
                  <a16:creationId xmlns:a16="http://schemas.microsoft.com/office/drawing/2014/main" id="{6F878389-06F1-4561-ABDE-4268B89FDBBE}"/>
                </a:ext>
              </a:extLst>
            </p:cNvPr>
            <p:cNvSpPr txBox="1"/>
            <p:nvPr/>
          </p:nvSpPr>
          <p:spPr>
            <a:xfrm>
              <a:off x="4000500" y="3187700"/>
              <a:ext cx="21209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Methodology</a:t>
              </a:r>
            </a:p>
          </p:txBody>
        </p:sp>
        <p:sp>
          <p:nvSpPr>
            <p:cNvPr id="15" name="Sub1">
              <a:extLst>
                <a:ext uri="{FF2B5EF4-FFF2-40B4-BE49-F238E27FC236}">
                  <a16:creationId xmlns:a16="http://schemas.microsoft.com/office/drawing/2014/main" id="{82D6E3B8-9D38-4160-BCF6-EB68DE1B4FFA}"/>
                </a:ext>
              </a:extLst>
            </p:cNvPr>
            <p:cNvSpPr txBox="1"/>
            <p:nvPr/>
          </p:nvSpPr>
          <p:spPr>
            <a:xfrm>
              <a:off x="4000500" y="3746500"/>
              <a:ext cx="21209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Pipeline &amp; data</a:t>
              </a:r>
            </a:p>
          </p:txBody>
        </p:sp>
        <p:sp>
          <p:nvSpPr>
            <p:cNvPr id="16" name="Card2">
              <a:extLst>
                <a:ext uri="{FF2B5EF4-FFF2-40B4-BE49-F238E27FC236}">
                  <a16:creationId xmlns:a16="http://schemas.microsoft.com/office/drawing/2014/main" id="{4EDB8D70-B4A0-46D5-B981-750D9261C6A8}"/>
                </a:ext>
              </a:extLst>
            </p:cNvPr>
            <p:cNvSpPr/>
            <p:nvPr/>
          </p:nvSpPr>
          <p:spPr>
            <a:xfrm>
              <a:off x="6502400" y="2476500"/>
              <a:ext cx="24765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7" name="Num2">
              <a:extLst>
                <a:ext uri="{FF2B5EF4-FFF2-40B4-BE49-F238E27FC236}">
                  <a16:creationId xmlns:a16="http://schemas.microsoft.com/office/drawing/2014/main" id="{EE7D84CA-BD6E-4C7B-905C-F8657B0812F7}"/>
                </a:ext>
              </a:extLst>
            </p:cNvPr>
            <p:cNvSpPr txBox="1"/>
            <p:nvPr/>
          </p:nvSpPr>
          <p:spPr>
            <a:xfrm>
              <a:off x="6680200" y="2628900"/>
              <a:ext cx="762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800" b="1" dirty="0">
                  <a:solidFill>
                    <a:srgbClr val="00C2CC"/>
                  </a:solidFill>
                </a:rPr>
                <a:t>03</a:t>
              </a:r>
            </a:p>
          </p:txBody>
        </p:sp>
        <p:sp>
          <p:nvSpPr>
            <p:cNvPr id="18" name="Title2">
              <a:extLst>
                <a:ext uri="{FF2B5EF4-FFF2-40B4-BE49-F238E27FC236}">
                  <a16:creationId xmlns:a16="http://schemas.microsoft.com/office/drawing/2014/main" id="{0A9D26A9-F053-4280-A2C9-72E876F82BAB}"/>
                </a:ext>
              </a:extLst>
            </p:cNvPr>
            <p:cNvSpPr txBox="1"/>
            <p:nvPr/>
          </p:nvSpPr>
          <p:spPr>
            <a:xfrm>
              <a:off x="6680200" y="3187700"/>
              <a:ext cx="21209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Data &amp; chronological split</a:t>
              </a:r>
            </a:p>
          </p:txBody>
        </p:sp>
        <p:sp>
          <p:nvSpPr>
            <p:cNvPr id="19" name="Sub2">
              <a:extLst>
                <a:ext uri="{FF2B5EF4-FFF2-40B4-BE49-F238E27FC236}">
                  <a16:creationId xmlns:a16="http://schemas.microsoft.com/office/drawing/2014/main" id="{2A05878B-2DE1-486A-9BD5-37CEF9259778}"/>
                </a:ext>
              </a:extLst>
            </p:cNvPr>
            <p:cNvSpPr txBox="1"/>
            <p:nvPr/>
          </p:nvSpPr>
          <p:spPr>
            <a:xfrm>
              <a:off x="6680200" y="3746500"/>
              <a:ext cx="21209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Train / val / test</a:t>
              </a:r>
            </a:p>
          </p:txBody>
        </p:sp>
        <p:sp>
          <p:nvSpPr>
            <p:cNvPr id="20" name="Card3">
              <a:extLst>
                <a:ext uri="{FF2B5EF4-FFF2-40B4-BE49-F238E27FC236}">
                  <a16:creationId xmlns:a16="http://schemas.microsoft.com/office/drawing/2014/main" id="{B58958EC-4133-4FB1-923F-C7F40354646F}"/>
                </a:ext>
              </a:extLst>
            </p:cNvPr>
            <p:cNvSpPr/>
            <p:nvPr/>
          </p:nvSpPr>
          <p:spPr>
            <a:xfrm>
              <a:off x="9182100" y="2476500"/>
              <a:ext cx="24765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1" name="Num3">
              <a:extLst>
                <a:ext uri="{FF2B5EF4-FFF2-40B4-BE49-F238E27FC236}">
                  <a16:creationId xmlns:a16="http://schemas.microsoft.com/office/drawing/2014/main" id="{FAA6D623-24FA-4BB7-9DDD-CBA1ED9C0686}"/>
                </a:ext>
              </a:extLst>
            </p:cNvPr>
            <p:cNvSpPr txBox="1"/>
            <p:nvPr/>
          </p:nvSpPr>
          <p:spPr>
            <a:xfrm>
              <a:off x="9359900" y="2628900"/>
              <a:ext cx="762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800" b="1" dirty="0">
                  <a:solidFill>
                    <a:srgbClr val="00C2CC"/>
                  </a:solidFill>
                </a:rPr>
                <a:t>04</a:t>
              </a:r>
            </a:p>
          </p:txBody>
        </p:sp>
        <p:sp>
          <p:nvSpPr>
            <p:cNvPr id="22" name="Title3">
              <a:extLst>
                <a:ext uri="{FF2B5EF4-FFF2-40B4-BE49-F238E27FC236}">
                  <a16:creationId xmlns:a16="http://schemas.microsoft.com/office/drawing/2014/main" id="{FA00F5C1-0526-4620-997A-DA99C3BE60C2}"/>
                </a:ext>
              </a:extLst>
            </p:cNvPr>
            <p:cNvSpPr txBox="1"/>
            <p:nvPr/>
          </p:nvSpPr>
          <p:spPr>
            <a:xfrm>
              <a:off x="9359900" y="3187700"/>
              <a:ext cx="21209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Baseline performance</a:t>
              </a:r>
            </a:p>
          </p:txBody>
        </p:sp>
        <p:sp>
          <p:nvSpPr>
            <p:cNvPr id="23" name="Sub3">
              <a:extLst>
                <a:ext uri="{FF2B5EF4-FFF2-40B4-BE49-F238E27FC236}">
                  <a16:creationId xmlns:a16="http://schemas.microsoft.com/office/drawing/2014/main" id="{548922D9-FEE5-4C15-9C12-12483DB966B3}"/>
                </a:ext>
              </a:extLst>
            </p:cNvPr>
            <p:cNvSpPr txBox="1"/>
            <p:nvPr/>
          </p:nvSpPr>
          <p:spPr>
            <a:xfrm>
              <a:off x="9359900" y="3746500"/>
              <a:ext cx="21209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LR · RF · GB</a:t>
              </a:r>
            </a:p>
          </p:txBody>
        </p:sp>
        <p:sp>
          <p:nvSpPr>
            <p:cNvPr id="24" name="Card4">
              <a:extLst>
                <a:ext uri="{FF2B5EF4-FFF2-40B4-BE49-F238E27FC236}">
                  <a16:creationId xmlns:a16="http://schemas.microsoft.com/office/drawing/2014/main" id="{D7CFFE44-D29C-43D7-ACC7-4C8553E3A25E}"/>
                </a:ext>
              </a:extLst>
            </p:cNvPr>
            <p:cNvSpPr/>
            <p:nvPr/>
          </p:nvSpPr>
          <p:spPr>
            <a:xfrm>
              <a:off x="1143000" y="4457700"/>
              <a:ext cx="24765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5" name="Num4">
              <a:extLst>
                <a:ext uri="{FF2B5EF4-FFF2-40B4-BE49-F238E27FC236}">
                  <a16:creationId xmlns:a16="http://schemas.microsoft.com/office/drawing/2014/main" id="{90F9995D-6A92-4ABC-9DC1-C204EF985C5F}"/>
                </a:ext>
              </a:extLst>
            </p:cNvPr>
            <p:cNvSpPr txBox="1"/>
            <p:nvPr/>
          </p:nvSpPr>
          <p:spPr>
            <a:xfrm>
              <a:off x="1320800" y="4610100"/>
              <a:ext cx="762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800" b="1" dirty="0">
                  <a:solidFill>
                    <a:srgbClr val="00C2CC"/>
                  </a:solidFill>
                </a:rPr>
                <a:t>05</a:t>
              </a:r>
            </a:p>
          </p:txBody>
        </p:sp>
        <p:sp>
          <p:nvSpPr>
            <p:cNvPr id="26" name="Title4">
              <a:extLst>
                <a:ext uri="{FF2B5EF4-FFF2-40B4-BE49-F238E27FC236}">
                  <a16:creationId xmlns:a16="http://schemas.microsoft.com/office/drawing/2014/main" id="{69040DF9-6177-4D6A-B223-F3BD2BA5D4B5}"/>
                </a:ext>
              </a:extLst>
            </p:cNvPr>
            <p:cNvSpPr txBox="1"/>
            <p:nvPr/>
          </p:nvSpPr>
          <p:spPr>
            <a:xfrm>
              <a:off x="1320800" y="5168900"/>
              <a:ext cx="21209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Robustness &amp; adversarial</a:t>
              </a:r>
            </a:p>
          </p:txBody>
        </p:sp>
        <p:sp>
          <p:nvSpPr>
            <p:cNvPr id="27" name="Sub4">
              <a:extLst>
                <a:ext uri="{FF2B5EF4-FFF2-40B4-BE49-F238E27FC236}">
                  <a16:creationId xmlns:a16="http://schemas.microsoft.com/office/drawing/2014/main" id="{76015203-4638-4A2E-94AE-7C3F54D22AA9}"/>
                </a:ext>
              </a:extLst>
            </p:cNvPr>
            <p:cNvSpPr txBox="1"/>
            <p:nvPr/>
          </p:nvSpPr>
          <p:spPr>
            <a:xfrm>
              <a:off x="1320800" y="5727700"/>
              <a:ext cx="21209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Noise, stress, FGSM</a:t>
              </a:r>
            </a:p>
          </p:txBody>
        </p:sp>
        <p:sp>
          <p:nvSpPr>
            <p:cNvPr id="28" name="Card5">
              <a:extLst>
                <a:ext uri="{FF2B5EF4-FFF2-40B4-BE49-F238E27FC236}">
                  <a16:creationId xmlns:a16="http://schemas.microsoft.com/office/drawing/2014/main" id="{97646550-D546-4748-AC9F-E743C806B818}"/>
                </a:ext>
              </a:extLst>
            </p:cNvPr>
            <p:cNvSpPr/>
            <p:nvPr/>
          </p:nvSpPr>
          <p:spPr>
            <a:xfrm>
              <a:off x="3822700" y="4457700"/>
              <a:ext cx="24765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9" name="Num5">
              <a:extLst>
                <a:ext uri="{FF2B5EF4-FFF2-40B4-BE49-F238E27FC236}">
                  <a16:creationId xmlns:a16="http://schemas.microsoft.com/office/drawing/2014/main" id="{E98181D8-A00A-4CF6-9471-4A5E36D5BEAD}"/>
                </a:ext>
              </a:extLst>
            </p:cNvPr>
            <p:cNvSpPr txBox="1"/>
            <p:nvPr/>
          </p:nvSpPr>
          <p:spPr>
            <a:xfrm>
              <a:off x="4000500" y="4610100"/>
              <a:ext cx="762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800" b="1" dirty="0">
                  <a:solidFill>
                    <a:srgbClr val="00C2CC"/>
                  </a:solidFill>
                </a:rPr>
                <a:t>06</a:t>
              </a:r>
            </a:p>
          </p:txBody>
        </p:sp>
        <p:sp>
          <p:nvSpPr>
            <p:cNvPr id="30" name="Title5">
              <a:extLst>
                <a:ext uri="{FF2B5EF4-FFF2-40B4-BE49-F238E27FC236}">
                  <a16:creationId xmlns:a16="http://schemas.microsoft.com/office/drawing/2014/main" id="{8139BFC2-B26F-4146-9936-29823FA08D3B}"/>
                </a:ext>
              </a:extLst>
            </p:cNvPr>
            <p:cNvSpPr txBox="1"/>
            <p:nvPr/>
          </p:nvSpPr>
          <p:spPr>
            <a:xfrm>
              <a:off x="4000500" y="5168900"/>
              <a:ext cx="21209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Explainability &amp; drift</a:t>
              </a:r>
            </a:p>
          </p:txBody>
        </p:sp>
        <p:sp>
          <p:nvSpPr>
            <p:cNvPr id="31" name="Sub5">
              <a:extLst>
                <a:ext uri="{FF2B5EF4-FFF2-40B4-BE49-F238E27FC236}">
                  <a16:creationId xmlns:a16="http://schemas.microsoft.com/office/drawing/2014/main" id="{37CCE17B-A49B-411F-8F13-4CED57570D84}"/>
                </a:ext>
              </a:extLst>
            </p:cNvPr>
            <p:cNvSpPr txBox="1"/>
            <p:nvPr/>
          </p:nvSpPr>
          <p:spPr>
            <a:xfrm>
              <a:off x="4000500" y="5727700"/>
              <a:ext cx="21209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SHAP, PSI, KS</a:t>
              </a:r>
            </a:p>
          </p:txBody>
        </p:sp>
        <p:sp>
          <p:nvSpPr>
            <p:cNvPr id="32" name="Card6">
              <a:extLst>
                <a:ext uri="{FF2B5EF4-FFF2-40B4-BE49-F238E27FC236}">
                  <a16:creationId xmlns:a16="http://schemas.microsoft.com/office/drawing/2014/main" id="{FFACEC77-FE20-4DFA-8929-3C11BF240038}"/>
                </a:ext>
              </a:extLst>
            </p:cNvPr>
            <p:cNvSpPr/>
            <p:nvPr/>
          </p:nvSpPr>
          <p:spPr>
            <a:xfrm>
              <a:off x="6502400" y="4457700"/>
              <a:ext cx="24765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33" name="Num6">
              <a:extLst>
                <a:ext uri="{FF2B5EF4-FFF2-40B4-BE49-F238E27FC236}">
                  <a16:creationId xmlns:a16="http://schemas.microsoft.com/office/drawing/2014/main" id="{39B3D2F1-46F7-48AB-8485-12A410A18553}"/>
                </a:ext>
              </a:extLst>
            </p:cNvPr>
            <p:cNvSpPr txBox="1"/>
            <p:nvPr/>
          </p:nvSpPr>
          <p:spPr>
            <a:xfrm>
              <a:off x="6680200" y="4610100"/>
              <a:ext cx="762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800" b="1" dirty="0">
                  <a:solidFill>
                    <a:srgbClr val="00C2CC"/>
                  </a:solidFill>
                </a:rPr>
                <a:t>07</a:t>
              </a:r>
            </a:p>
          </p:txBody>
        </p:sp>
        <p:sp>
          <p:nvSpPr>
            <p:cNvPr id="34" name="Title6">
              <a:extLst>
                <a:ext uri="{FF2B5EF4-FFF2-40B4-BE49-F238E27FC236}">
                  <a16:creationId xmlns:a16="http://schemas.microsoft.com/office/drawing/2014/main" id="{01138BEB-5D8D-4BA4-8E8B-DE694EEDC559}"/>
                </a:ext>
              </a:extLst>
            </p:cNvPr>
            <p:cNvSpPr txBox="1"/>
            <p:nvPr/>
          </p:nvSpPr>
          <p:spPr>
            <a:xfrm>
              <a:off x="6680200" y="5168900"/>
              <a:ext cx="21209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Limitations &amp; recommendations</a:t>
              </a:r>
            </a:p>
          </p:txBody>
        </p:sp>
        <p:sp>
          <p:nvSpPr>
            <p:cNvPr id="35" name="Sub6">
              <a:extLst>
                <a:ext uri="{FF2B5EF4-FFF2-40B4-BE49-F238E27FC236}">
                  <a16:creationId xmlns:a16="http://schemas.microsoft.com/office/drawing/2014/main" id="{5F71AB4F-3615-440B-93A5-9198DCD8E720}"/>
                </a:ext>
              </a:extLst>
            </p:cNvPr>
            <p:cNvSpPr txBox="1"/>
            <p:nvPr/>
          </p:nvSpPr>
          <p:spPr>
            <a:xfrm>
              <a:off x="6680200" y="5727700"/>
              <a:ext cx="21209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Constraints, next steps</a:t>
              </a:r>
            </a:p>
          </p:txBody>
        </p:sp>
      </p:grpSp>
      <p:sp>
        <p:nvSpPr>
          <p:cNvPr id="36" name="Footer">
            <a:extLst>
              <a:ext uri="{FF2B5EF4-FFF2-40B4-BE49-F238E27FC236}">
                <a16:creationId xmlns:a16="http://schemas.microsoft.com/office/drawing/2014/main" id="{19CB231D-8EC8-4CA5-AD8F-FEAF4F0015BE}"/>
              </a:ext>
            </a:extLst>
          </p:cNvPr>
          <p:cNvSpPr txBox="1"/>
          <p:nvPr/>
        </p:nvSpPr>
        <p:spPr>
          <a:xfrm>
            <a:off x="1143000" y="6299200"/>
            <a:ext cx="914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2 / 15  ·  LD7083  ·  w24037842</a:t>
            </a:r>
          </a:p>
        </p:txBody>
      </p:sp>
    </p:spTree>
    <p:extLst>
      <p:ext uri="{BB962C8B-B14F-4D97-AF65-F5344CB8AC3E}">
        <p14:creationId xmlns:p14="http://schemas.microsoft.com/office/powerpoint/2010/main" val="653947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Circle">
            <a:extLst>
              <a:ext uri="{FF2B5EF4-FFF2-40B4-BE49-F238E27FC236}">
                <a16:creationId xmlns:a16="http://schemas.microsoft.com/office/drawing/2014/main" id="{0BD7886A-099B-47FF-91FB-A763D1DA1920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LeftAccentBar">
            <a:extLst>
              <a:ext uri="{FF2B5EF4-FFF2-40B4-BE49-F238E27FC236}">
                <a16:creationId xmlns:a16="http://schemas.microsoft.com/office/drawing/2014/main" id="{37C6FAE0-63B7-4B11-AB06-BF9D128FEFF6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Text">
            <a:extLst>
              <a:ext uri="{FF2B5EF4-FFF2-40B4-BE49-F238E27FC236}">
                <a16:creationId xmlns:a16="http://schemas.microsoft.com/office/drawing/2014/main" id="{F37B44DC-C8AB-4C46-A74A-3C3C1D2C78B8}"/>
              </a:ext>
            </a:extLst>
          </p:cNvPr>
          <p:cNvSpPr txBox="1"/>
          <p:nvPr/>
        </p:nvSpPr>
        <p:spPr>
          <a:xfrm>
            <a:off x="1143000" y="401320"/>
            <a:ext cx="914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6" name="SubText">
            <a:extLst>
              <a:ext uri="{FF2B5EF4-FFF2-40B4-BE49-F238E27FC236}">
                <a16:creationId xmlns:a16="http://schemas.microsoft.com/office/drawing/2014/main" id="{822D00F1-1705-4B5F-ADA8-1D6D53B0BE39}"/>
              </a:ext>
            </a:extLst>
          </p:cNvPr>
          <p:cNvSpPr txBox="1"/>
          <p:nvPr/>
        </p:nvSpPr>
        <p:spPr>
          <a:xfrm>
            <a:off x="1143000" y="1074420"/>
            <a:ext cx="914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dirty="0">
                <a:solidFill>
                  <a:srgbClr val="D6EAF8"/>
                </a:solidFill>
              </a:rPr>
              <a:t>Automated trading already costs the market in seconds</a:t>
            </a:r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7290906F-5BBB-427F-BB98-83AB320619D8}"/>
              </a:ext>
            </a:extLst>
          </p:cNvPr>
          <p:cNvSpPr/>
          <p:nvPr/>
        </p:nvSpPr>
        <p:spPr>
          <a:xfrm>
            <a:off x="1143000" y="166116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ornerCircle">
            <a:extLst>
              <a:ext uri="{FF2B5EF4-FFF2-40B4-BE49-F238E27FC236}">
                <a16:creationId xmlns:a16="http://schemas.microsoft.com/office/drawing/2014/main" id="{4F6B1BAF-47A9-4671-988D-12777F6B7B16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Card1">
            <a:extLst>
              <a:ext uri="{FF2B5EF4-FFF2-40B4-BE49-F238E27FC236}">
                <a16:creationId xmlns:a16="http://schemas.microsoft.com/office/drawing/2014/main" id="{F5B54ECA-E6B5-4E1B-BF7E-86C9B856F33C}"/>
              </a:ext>
            </a:extLst>
          </p:cNvPr>
          <p:cNvSpPr/>
          <p:nvPr/>
        </p:nvSpPr>
        <p:spPr>
          <a:xfrm>
            <a:off x="1143000" y="2095500"/>
            <a:ext cx="4572000" cy="3429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C1Date">
            <a:extLst>
              <a:ext uri="{FF2B5EF4-FFF2-40B4-BE49-F238E27FC236}">
                <a16:creationId xmlns:a16="http://schemas.microsoft.com/office/drawing/2014/main" id="{E06E7095-9DDE-4366-ADA4-622BD140D5DC}"/>
              </a:ext>
            </a:extLst>
          </p:cNvPr>
          <p:cNvSpPr txBox="1"/>
          <p:nvPr/>
        </p:nvSpPr>
        <p:spPr>
          <a:xfrm>
            <a:off x="1447800" y="23495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spc="200" dirty="0">
                <a:solidFill>
                  <a:srgbClr val="00C2CC"/>
                </a:solidFill>
              </a:rPr>
              <a:t>6 MAY 2010</a:t>
            </a:r>
          </a:p>
        </p:txBody>
      </p:sp>
      <p:sp>
        <p:nvSpPr>
          <p:cNvPr id="10" name="C1Title">
            <a:extLst>
              <a:ext uri="{FF2B5EF4-FFF2-40B4-BE49-F238E27FC236}">
                <a16:creationId xmlns:a16="http://schemas.microsoft.com/office/drawing/2014/main" id="{B0E0A43F-0CBC-4BEF-A52A-96C8CCD348A4}"/>
              </a:ext>
            </a:extLst>
          </p:cNvPr>
          <p:cNvSpPr txBox="1"/>
          <p:nvPr/>
        </p:nvSpPr>
        <p:spPr>
          <a:xfrm>
            <a:off x="1447800" y="2654300"/>
            <a:ext cx="396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</a:rPr>
              <a:t>Flash Crash</a:t>
            </a:r>
          </a:p>
        </p:txBody>
      </p:sp>
      <p:sp>
        <p:nvSpPr>
          <p:cNvPr id="11" name="C1Stat">
            <a:extLst>
              <a:ext uri="{FF2B5EF4-FFF2-40B4-BE49-F238E27FC236}">
                <a16:creationId xmlns:a16="http://schemas.microsoft.com/office/drawing/2014/main" id="{D949944D-9BE0-42E8-8A15-1AF17F3B0702}"/>
              </a:ext>
            </a:extLst>
          </p:cNvPr>
          <p:cNvSpPr txBox="1"/>
          <p:nvPr/>
        </p:nvSpPr>
        <p:spPr>
          <a:xfrm>
            <a:off x="1447800" y="3263900"/>
            <a:ext cx="3962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4400" b="1" dirty="0">
                <a:solidFill>
                  <a:srgbClr val="00C2CC"/>
                </a:solidFill>
              </a:rPr>
              <a:t>~$1T</a:t>
            </a:r>
          </a:p>
        </p:txBody>
      </p:sp>
      <p:sp>
        <p:nvSpPr>
          <p:cNvPr id="12" name="C1StatLbl">
            <a:extLst>
              <a:ext uri="{FF2B5EF4-FFF2-40B4-BE49-F238E27FC236}">
                <a16:creationId xmlns:a16="http://schemas.microsoft.com/office/drawing/2014/main" id="{20EB69DF-44E8-4B17-A1DF-9949819F9B08}"/>
              </a:ext>
            </a:extLst>
          </p:cNvPr>
          <p:cNvSpPr txBox="1"/>
          <p:nvPr/>
        </p:nvSpPr>
        <p:spPr>
          <a:xfrm>
            <a:off x="1447800" y="4000500"/>
            <a:ext cx="3962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market-cap wiped intraday</a:t>
            </a:r>
          </a:p>
        </p:txBody>
      </p:sp>
      <p:sp>
        <p:nvSpPr>
          <p:cNvPr id="13" name="C1Body">
            <a:extLst>
              <a:ext uri="{FF2B5EF4-FFF2-40B4-BE49-F238E27FC236}">
                <a16:creationId xmlns:a16="http://schemas.microsoft.com/office/drawing/2014/main" id="{8558C024-BE9C-46BD-A74C-76E8A7FA30EB}"/>
              </a:ext>
            </a:extLst>
          </p:cNvPr>
          <p:cNvSpPr txBox="1"/>
          <p:nvPr/>
        </p:nvSpPr>
        <p:spPr>
          <a:xfrm>
            <a:off x="1447800" y="4445000"/>
            <a:ext cx="3962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dirty="0">
                <a:solidFill>
                  <a:srgbClr val="D6EAF8"/>
                </a:solidFill>
              </a:rPr>
              <a:t>US equity markets collapsed and recovered in minutes; automated algorithms cited as primary accelerant.</a:t>
            </a:r>
          </a:p>
        </p:txBody>
      </p:sp>
      <p:sp>
        <p:nvSpPr>
          <p:cNvPr id="14" name="C1Cite">
            <a:extLst>
              <a:ext uri="{FF2B5EF4-FFF2-40B4-BE49-F238E27FC236}">
                <a16:creationId xmlns:a16="http://schemas.microsoft.com/office/drawing/2014/main" id="{A32401D3-7617-49F7-8E1F-57B09B01BF07}"/>
              </a:ext>
            </a:extLst>
          </p:cNvPr>
          <p:cNvSpPr txBox="1"/>
          <p:nvPr/>
        </p:nvSpPr>
        <p:spPr>
          <a:xfrm>
            <a:off x="1447800" y="5143500"/>
            <a:ext cx="396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000" i="1" dirty="0">
                <a:solidFill>
                  <a:srgbClr val="8FB7D6"/>
                </a:solidFill>
              </a:rPr>
              <a:t>Source: SEC / CFTC (2010)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4F582C-9240-623A-B38F-0258F6406356}"/>
              </a:ext>
            </a:extLst>
          </p:cNvPr>
          <p:cNvGrpSpPr/>
          <p:nvPr/>
        </p:nvGrpSpPr>
        <p:grpSpPr>
          <a:xfrm>
            <a:off x="6121400" y="2095500"/>
            <a:ext cx="4572000" cy="3429000"/>
            <a:chOff x="6477000" y="2095500"/>
            <a:chExt cx="4572000" cy="3429000"/>
          </a:xfrm>
        </p:grpSpPr>
        <p:sp>
          <p:nvSpPr>
            <p:cNvPr id="16" name="C2Date">
              <a:extLst>
                <a:ext uri="{FF2B5EF4-FFF2-40B4-BE49-F238E27FC236}">
                  <a16:creationId xmlns:a16="http://schemas.microsoft.com/office/drawing/2014/main" id="{73FB2220-B72E-4A28-98A2-D864823E709A}"/>
                </a:ext>
              </a:extLst>
            </p:cNvPr>
            <p:cNvSpPr txBox="1"/>
            <p:nvPr/>
          </p:nvSpPr>
          <p:spPr>
            <a:xfrm>
              <a:off x="6781800" y="2349500"/>
              <a:ext cx="3962400" cy="25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200" b="1" spc="200" dirty="0">
                  <a:solidFill>
                    <a:srgbClr val="00C2CC"/>
                  </a:solidFill>
                </a:rPr>
                <a:t>1 AUG 2012</a:t>
              </a:r>
            </a:p>
          </p:txBody>
        </p:sp>
        <p:sp>
          <p:nvSpPr>
            <p:cNvPr id="15" name="Card2">
              <a:extLst>
                <a:ext uri="{FF2B5EF4-FFF2-40B4-BE49-F238E27FC236}">
                  <a16:creationId xmlns:a16="http://schemas.microsoft.com/office/drawing/2014/main" id="{5372A1BC-08DB-4ECE-8989-2388D1EA39E2}"/>
                </a:ext>
              </a:extLst>
            </p:cNvPr>
            <p:cNvSpPr/>
            <p:nvPr/>
          </p:nvSpPr>
          <p:spPr>
            <a:xfrm>
              <a:off x="6477000" y="2095500"/>
              <a:ext cx="4572000" cy="3429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 dirty="0"/>
            </a:p>
          </p:txBody>
        </p:sp>
        <p:sp>
          <p:nvSpPr>
            <p:cNvPr id="17" name="C2Title">
              <a:extLst>
                <a:ext uri="{FF2B5EF4-FFF2-40B4-BE49-F238E27FC236}">
                  <a16:creationId xmlns:a16="http://schemas.microsoft.com/office/drawing/2014/main" id="{2C7C3A96-11E8-4572-907E-C493D8B52B7D}"/>
                </a:ext>
              </a:extLst>
            </p:cNvPr>
            <p:cNvSpPr txBox="1"/>
            <p:nvPr/>
          </p:nvSpPr>
          <p:spPr>
            <a:xfrm>
              <a:off x="6781800" y="2654300"/>
              <a:ext cx="39624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Knight Capital</a:t>
              </a:r>
            </a:p>
          </p:txBody>
        </p:sp>
        <p:sp>
          <p:nvSpPr>
            <p:cNvPr id="18" name="C2Stat">
              <a:extLst>
                <a:ext uri="{FF2B5EF4-FFF2-40B4-BE49-F238E27FC236}">
                  <a16:creationId xmlns:a16="http://schemas.microsoft.com/office/drawing/2014/main" id="{8837E93F-A220-4CA4-9733-A2B4300109D2}"/>
                </a:ext>
              </a:extLst>
            </p:cNvPr>
            <p:cNvSpPr txBox="1"/>
            <p:nvPr/>
          </p:nvSpPr>
          <p:spPr>
            <a:xfrm>
              <a:off x="6781800" y="3263900"/>
              <a:ext cx="3962400" cy="711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4400" b="1" dirty="0">
                  <a:solidFill>
                    <a:srgbClr val="00C2CC"/>
                  </a:solidFill>
                </a:rPr>
                <a:t>$440M+</a:t>
              </a:r>
            </a:p>
          </p:txBody>
        </p:sp>
        <p:sp>
          <p:nvSpPr>
            <p:cNvPr id="19" name="C2StatLbl">
              <a:extLst>
                <a:ext uri="{FF2B5EF4-FFF2-40B4-BE49-F238E27FC236}">
                  <a16:creationId xmlns:a16="http://schemas.microsoft.com/office/drawing/2014/main" id="{784EF5BF-268C-419E-9E70-73275A21DDC5}"/>
                </a:ext>
              </a:extLst>
            </p:cNvPr>
            <p:cNvSpPr txBox="1"/>
            <p:nvPr/>
          </p:nvSpPr>
          <p:spPr>
            <a:xfrm>
              <a:off x="6781800" y="4000500"/>
              <a:ext cx="39624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lost in under one hour</a:t>
              </a:r>
            </a:p>
          </p:txBody>
        </p:sp>
        <p:sp>
          <p:nvSpPr>
            <p:cNvPr id="20" name="C2Body">
              <a:extLst>
                <a:ext uri="{FF2B5EF4-FFF2-40B4-BE49-F238E27FC236}">
                  <a16:creationId xmlns:a16="http://schemas.microsoft.com/office/drawing/2014/main" id="{76EB1249-247D-43C5-8177-9EF2F54F0E2E}"/>
                </a:ext>
              </a:extLst>
            </p:cNvPr>
            <p:cNvSpPr txBox="1"/>
            <p:nvPr/>
          </p:nvSpPr>
          <p:spPr>
            <a:xfrm>
              <a:off x="6781800" y="4445000"/>
              <a:ext cx="3962400" cy="635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lnSpc>
                  <a:spcPts val="1400"/>
                </a:lnSpc>
                <a:buNone/>
              </a:pPr>
              <a:r>
                <a:rPr lang="en-US" sz="1300" dirty="0">
                  <a:solidFill>
                    <a:srgbClr val="FFFFFF"/>
                  </a:solidFill>
                </a:rPr>
                <a:t>Faulty deployment triggered runaway algorithmic trading; monitoring failed to detect abnormal behaviour in time.</a:t>
              </a:r>
            </a:p>
          </p:txBody>
        </p:sp>
        <p:sp>
          <p:nvSpPr>
            <p:cNvPr id="21" name="C2Cite">
              <a:extLst>
                <a:ext uri="{FF2B5EF4-FFF2-40B4-BE49-F238E27FC236}">
                  <a16:creationId xmlns:a16="http://schemas.microsoft.com/office/drawing/2014/main" id="{B9F6AA2B-D599-4738-AB6E-EC6D6B206DDC}"/>
                </a:ext>
              </a:extLst>
            </p:cNvPr>
            <p:cNvSpPr txBox="1"/>
            <p:nvPr/>
          </p:nvSpPr>
          <p:spPr>
            <a:xfrm>
              <a:off x="6781800" y="5143500"/>
              <a:ext cx="39624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8FB7D6"/>
                  </a:solidFill>
                </a:rPr>
                <a:t>Source: SEC (2013)</a:t>
              </a:r>
            </a:p>
          </p:txBody>
        </p:sp>
      </p:grpSp>
      <p:sp>
        <p:nvSpPr>
          <p:cNvPr id="22" name="ConclBar">
            <a:extLst>
              <a:ext uri="{FF2B5EF4-FFF2-40B4-BE49-F238E27FC236}">
                <a16:creationId xmlns:a16="http://schemas.microsoft.com/office/drawing/2014/main" id="{1A28F9FB-3CFC-46D4-AA04-0D51CD9B6C8E}"/>
              </a:ext>
            </a:extLst>
          </p:cNvPr>
          <p:cNvSpPr/>
          <p:nvPr/>
        </p:nvSpPr>
        <p:spPr>
          <a:xfrm>
            <a:off x="1143000" y="5969000"/>
            <a:ext cx="9906000" cy="3810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ConclText">
            <a:extLst>
              <a:ext uri="{FF2B5EF4-FFF2-40B4-BE49-F238E27FC236}">
                <a16:creationId xmlns:a16="http://schemas.microsoft.com/office/drawing/2014/main" id="{18F14B94-41E0-405F-BD17-EA1D781C08B7}"/>
              </a:ext>
            </a:extLst>
          </p:cNvPr>
          <p:cNvSpPr txBox="1"/>
          <p:nvPr/>
        </p:nvSpPr>
        <p:spPr>
          <a:xfrm>
            <a:off x="1270000" y="6019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B1E3F"/>
                </a:solidFill>
              </a:rPr>
              <a:t>Need: AI systems evaluated for prediction, explainability, monitoring and attack-resilience under live-like disturbed conditions.</a:t>
            </a:r>
          </a:p>
        </p:txBody>
      </p:sp>
      <p:sp>
        <p:nvSpPr>
          <p:cNvPr id="24" name="Footer">
            <a:extLst>
              <a:ext uri="{FF2B5EF4-FFF2-40B4-BE49-F238E27FC236}">
                <a16:creationId xmlns:a16="http://schemas.microsoft.com/office/drawing/2014/main" id="{495A52DD-D45D-43D9-ACFA-B134D25CC31F}"/>
              </a:ext>
            </a:extLst>
          </p:cNvPr>
          <p:cNvSpPr txBox="1"/>
          <p:nvPr/>
        </p:nvSpPr>
        <p:spPr>
          <a:xfrm>
            <a:off x="1143000" y="6477000"/>
            <a:ext cx="914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3 / 15  ·  LD7083  ·  w24037842</a:t>
            </a:r>
          </a:p>
        </p:txBody>
      </p:sp>
    </p:spTree>
    <p:extLst>
      <p:ext uri="{BB962C8B-B14F-4D97-AF65-F5344CB8AC3E}">
        <p14:creationId xmlns:p14="http://schemas.microsoft.com/office/powerpoint/2010/main" val="2079596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>
            <a:extLst>
              <a:ext uri="{FF2B5EF4-FFF2-40B4-BE49-F238E27FC236}">
                <a16:creationId xmlns:a16="http://schemas.microsoft.com/office/drawing/2014/main" id="{6636DF6F-7C76-433D-A419-0A88B4772FB1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centCircle">
            <a:extLst>
              <a:ext uri="{FF2B5EF4-FFF2-40B4-BE49-F238E27FC236}">
                <a16:creationId xmlns:a16="http://schemas.microsoft.com/office/drawing/2014/main" id="{481B96D5-E100-4872-A945-B475420A6848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ornerCircle">
            <a:extLst>
              <a:ext uri="{FF2B5EF4-FFF2-40B4-BE49-F238E27FC236}">
                <a16:creationId xmlns:a16="http://schemas.microsoft.com/office/drawing/2014/main" id="{F330C17C-4861-43B8-9F97-D999640F875F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09246BC5-579C-4655-8528-341DCF35F443}"/>
              </a:ext>
            </a:extLst>
          </p:cNvPr>
          <p:cNvSpPr txBox="1"/>
          <p:nvPr/>
        </p:nvSpPr>
        <p:spPr>
          <a:xfrm>
            <a:off x="1102360" y="452120"/>
            <a:ext cx="990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811920A0-2EA7-4121-80CF-608500C16A0A}"/>
              </a:ext>
            </a:extLst>
          </p:cNvPr>
          <p:cNvSpPr txBox="1"/>
          <p:nvPr/>
        </p:nvSpPr>
        <p:spPr>
          <a:xfrm>
            <a:off x="1102360" y="999123"/>
            <a:ext cx="990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D6EAF8"/>
                </a:solidFill>
              </a:rPr>
              <a:t>Predict · monitor · withstand</a:t>
            </a:r>
          </a:p>
        </p:txBody>
      </p:sp>
      <p:sp>
        <p:nvSpPr>
          <p:cNvPr id="7" name="Div">
            <a:extLst>
              <a:ext uri="{FF2B5EF4-FFF2-40B4-BE49-F238E27FC236}">
                <a16:creationId xmlns:a16="http://schemas.microsoft.com/office/drawing/2014/main" id="{7BE52A4E-E248-4DCA-B147-C992052D1E65}"/>
              </a:ext>
            </a:extLst>
          </p:cNvPr>
          <p:cNvSpPr/>
          <p:nvPr/>
        </p:nvSpPr>
        <p:spPr>
          <a:xfrm>
            <a:off x="1143000" y="148336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D7B725E-21A7-65F8-994E-5D5844D28725}"/>
              </a:ext>
            </a:extLst>
          </p:cNvPr>
          <p:cNvGrpSpPr/>
          <p:nvPr/>
        </p:nvGrpSpPr>
        <p:grpSpPr>
          <a:xfrm>
            <a:off x="1143000" y="1907540"/>
            <a:ext cx="10287000" cy="3683000"/>
            <a:chOff x="1143000" y="2413000"/>
            <a:chExt cx="10287000" cy="3683000"/>
          </a:xfrm>
        </p:grpSpPr>
        <p:sp>
          <p:nvSpPr>
            <p:cNvPr id="8" name="Card0">
              <a:extLst>
                <a:ext uri="{FF2B5EF4-FFF2-40B4-BE49-F238E27FC236}">
                  <a16:creationId xmlns:a16="http://schemas.microsoft.com/office/drawing/2014/main" id="{576866F0-11A3-421A-9A99-00CB2CE4008B}"/>
                </a:ext>
              </a:extLst>
            </p:cNvPr>
            <p:cNvSpPr/>
            <p:nvPr/>
          </p:nvSpPr>
          <p:spPr>
            <a:xfrm>
              <a:off x="1143000" y="2413000"/>
              <a:ext cx="3302000" cy="3683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9" name="Strip0">
              <a:extLst>
                <a:ext uri="{FF2B5EF4-FFF2-40B4-BE49-F238E27FC236}">
                  <a16:creationId xmlns:a16="http://schemas.microsoft.com/office/drawing/2014/main" id="{C4E8C21D-499D-41E3-9A42-5BF6C89B2EB4}"/>
                </a:ext>
              </a:extLst>
            </p:cNvPr>
            <p:cNvSpPr/>
            <p:nvPr/>
          </p:nvSpPr>
          <p:spPr>
            <a:xfrm>
              <a:off x="1143000" y="2413000"/>
              <a:ext cx="3302000" cy="762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0" name="Tag0">
              <a:extLst>
                <a:ext uri="{FF2B5EF4-FFF2-40B4-BE49-F238E27FC236}">
                  <a16:creationId xmlns:a16="http://schemas.microsoft.com/office/drawing/2014/main" id="{25C53ECC-0321-4AB7-AAF5-FB474350E492}"/>
                </a:ext>
              </a:extLst>
            </p:cNvPr>
            <p:cNvSpPr txBox="1"/>
            <p:nvPr/>
          </p:nvSpPr>
          <p:spPr>
            <a:xfrm>
              <a:off x="1371600" y="2692400"/>
              <a:ext cx="1016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b="1" spc="200" dirty="0">
                  <a:solidFill>
                    <a:srgbClr val="00C2CC"/>
                  </a:solidFill>
                </a:rPr>
                <a:t>RQ1</a:t>
              </a:r>
            </a:p>
          </p:txBody>
        </p:sp>
        <p:sp>
          <p:nvSpPr>
            <p:cNvPr id="11" name="Ttl0">
              <a:extLst>
                <a:ext uri="{FF2B5EF4-FFF2-40B4-BE49-F238E27FC236}">
                  <a16:creationId xmlns:a16="http://schemas.microsoft.com/office/drawing/2014/main" id="{9E98AFAE-C608-40B1-9325-D8C268F150A3}"/>
                </a:ext>
              </a:extLst>
            </p:cNvPr>
            <p:cNvSpPr txBox="1"/>
            <p:nvPr/>
          </p:nvSpPr>
          <p:spPr>
            <a:xfrm>
              <a:off x="1371600" y="3073400"/>
              <a:ext cx="28448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800" b="1" dirty="0">
                  <a:solidFill>
                    <a:srgbClr val="00C2CC"/>
                  </a:solidFill>
                </a:rPr>
                <a:t>Predict</a:t>
              </a:r>
            </a:p>
          </p:txBody>
        </p:sp>
        <p:sp>
          <p:nvSpPr>
            <p:cNvPr id="12" name="Body0">
              <a:extLst>
                <a:ext uri="{FF2B5EF4-FFF2-40B4-BE49-F238E27FC236}">
                  <a16:creationId xmlns:a16="http://schemas.microsoft.com/office/drawing/2014/main" id="{C2C03B86-86CE-4FEE-A2AE-401A50061657}"/>
                </a:ext>
              </a:extLst>
            </p:cNvPr>
            <p:cNvSpPr txBox="1"/>
            <p:nvPr/>
          </p:nvSpPr>
          <p:spPr>
            <a:xfrm>
              <a:off x="1371600" y="3683000"/>
              <a:ext cx="2844800" cy="1460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D6EAF8"/>
                  </a:solidFill>
                </a:rPr>
                <a:t>How effectively can AI models predict financially-significant downside-risk events from historical market data?</a:t>
              </a:r>
            </a:p>
          </p:txBody>
        </p:sp>
        <p:sp>
          <p:nvSpPr>
            <p:cNvPr id="13" name="Stat0">
              <a:extLst>
                <a:ext uri="{FF2B5EF4-FFF2-40B4-BE49-F238E27FC236}">
                  <a16:creationId xmlns:a16="http://schemas.microsoft.com/office/drawing/2014/main" id="{91FBEA93-382E-49F8-B64D-C4C18249995C}"/>
                </a:ext>
              </a:extLst>
            </p:cNvPr>
            <p:cNvSpPr txBox="1"/>
            <p:nvPr/>
          </p:nvSpPr>
          <p:spPr>
            <a:xfrm>
              <a:off x="1371600" y="5207000"/>
              <a:ext cx="28448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5 metrics</a:t>
              </a:r>
            </a:p>
          </p:txBody>
        </p:sp>
        <p:sp>
          <p:nvSpPr>
            <p:cNvPr id="14" name="Lab0">
              <a:extLst>
                <a:ext uri="{FF2B5EF4-FFF2-40B4-BE49-F238E27FC236}">
                  <a16:creationId xmlns:a16="http://schemas.microsoft.com/office/drawing/2014/main" id="{E9100F9A-8E2D-4C7B-97DA-80A334798886}"/>
                </a:ext>
              </a:extLst>
            </p:cNvPr>
            <p:cNvSpPr txBox="1"/>
            <p:nvPr/>
          </p:nvSpPr>
          <p:spPr>
            <a:xfrm>
              <a:off x="1371600" y="5613400"/>
              <a:ext cx="28448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8FB7D6"/>
                  </a:solidFill>
                </a:rPr>
                <a:t>acc · prec · rec · F1 · ROC-AUC</a:t>
              </a:r>
            </a:p>
          </p:txBody>
        </p:sp>
        <p:sp>
          <p:nvSpPr>
            <p:cNvPr id="15" name="Card1">
              <a:extLst>
                <a:ext uri="{FF2B5EF4-FFF2-40B4-BE49-F238E27FC236}">
                  <a16:creationId xmlns:a16="http://schemas.microsoft.com/office/drawing/2014/main" id="{387FA270-D67D-41C2-945B-07107C421E75}"/>
                </a:ext>
              </a:extLst>
            </p:cNvPr>
            <p:cNvSpPr/>
            <p:nvPr/>
          </p:nvSpPr>
          <p:spPr>
            <a:xfrm>
              <a:off x="4635500" y="2413000"/>
              <a:ext cx="3302000" cy="3683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6" name="Strip1">
              <a:extLst>
                <a:ext uri="{FF2B5EF4-FFF2-40B4-BE49-F238E27FC236}">
                  <a16:creationId xmlns:a16="http://schemas.microsoft.com/office/drawing/2014/main" id="{E309BDF1-73B4-4594-86BF-620566C6663A}"/>
                </a:ext>
              </a:extLst>
            </p:cNvPr>
            <p:cNvSpPr/>
            <p:nvPr/>
          </p:nvSpPr>
          <p:spPr>
            <a:xfrm>
              <a:off x="4635500" y="2413000"/>
              <a:ext cx="3302000" cy="762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7" name="Tag1">
              <a:extLst>
                <a:ext uri="{FF2B5EF4-FFF2-40B4-BE49-F238E27FC236}">
                  <a16:creationId xmlns:a16="http://schemas.microsoft.com/office/drawing/2014/main" id="{78C935CB-93BC-493D-AF80-0BBD63EC3B3C}"/>
                </a:ext>
              </a:extLst>
            </p:cNvPr>
            <p:cNvSpPr txBox="1"/>
            <p:nvPr/>
          </p:nvSpPr>
          <p:spPr>
            <a:xfrm>
              <a:off x="4864100" y="2692400"/>
              <a:ext cx="1016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b="1" spc="200" dirty="0">
                  <a:solidFill>
                    <a:srgbClr val="00C2CC"/>
                  </a:solidFill>
                </a:rPr>
                <a:t>RQ2</a:t>
              </a:r>
            </a:p>
          </p:txBody>
        </p:sp>
        <p:sp>
          <p:nvSpPr>
            <p:cNvPr id="18" name="Ttl1">
              <a:extLst>
                <a:ext uri="{FF2B5EF4-FFF2-40B4-BE49-F238E27FC236}">
                  <a16:creationId xmlns:a16="http://schemas.microsoft.com/office/drawing/2014/main" id="{B83B22C0-E33F-414F-A627-DD523A9C56B0}"/>
                </a:ext>
              </a:extLst>
            </p:cNvPr>
            <p:cNvSpPr txBox="1"/>
            <p:nvPr/>
          </p:nvSpPr>
          <p:spPr>
            <a:xfrm>
              <a:off x="4864100" y="3073400"/>
              <a:ext cx="28448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800" b="1" dirty="0">
                  <a:solidFill>
                    <a:srgbClr val="00C2CC"/>
                  </a:solidFill>
                </a:rPr>
                <a:t>Monitor</a:t>
              </a:r>
            </a:p>
          </p:txBody>
        </p:sp>
        <p:sp>
          <p:nvSpPr>
            <p:cNvPr id="19" name="Body1">
              <a:extLst>
                <a:ext uri="{FF2B5EF4-FFF2-40B4-BE49-F238E27FC236}">
                  <a16:creationId xmlns:a16="http://schemas.microsoft.com/office/drawing/2014/main" id="{A537AC4C-9956-4FC3-A64D-94449F0B7F8A}"/>
                </a:ext>
              </a:extLst>
            </p:cNvPr>
            <p:cNvSpPr txBox="1"/>
            <p:nvPr/>
          </p:nvSpPr>
          <p:spPr>
            <a:xfrm>
              <a:off x="4864100" y="3683000"/>
              <a:ext cx="2844800" cy="1460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D6EAF8"/>
                  </a:solidFill>
                </a:rPr>
                <a:t>To what extent can anomaly detection and operational monitoring identify unusual or suspicious behaviour?</a:t>
              </a:r>
            </a:p>
          </p:txBody>
        </p:sp>
        <p:sp>
          <p:nvSpPr>
            <p:cNvPr id="20" name="Stat1">
              <a:extLst>
                <a:ext uri="{FF2B5EF4-FFF2-40B4-BE49-F238E27FC236}">
                  <a16:creationId xmlns:a16="http://schemas.microsoft.com/office/drawing/2014/main" id="{1A6D9CC8-3E13-40BC-BBE6-18FA380C93FB}"/>
                </a:ext>
              </a:extLst>
            </p:cNvPr>
            <p:cNvSpPr txBox="1"/>
            <p:nvPr/>
          </p:nvSpPr>
          <p:spPr>
            <a:xfrm>
              <a:off x="4864100" y="5207000"/>
              <a:ext cx="28448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3 monitoring layers</a:t>
              </a:r>
            </a:p>
          </p:txBody>
        </p:sp>
        <p:sp>
          <p:nvSpPr>
            <p:cNvPr id="21" name="Lab1">
              <a:extLst>
                <a:ext uri="{FF2B5EF4-FFF2-40B4-BE49-F238E27FC236}">
                  <a16:creationId xmlns:a16="http://schemas.microsoft.com/office/drawing/2014/main" id="{D8A80DC5-9341-45E5-BCE6-01F54D5E0763}"/>
                </a:ext>
              </a:extLst>
            </p:cNvPr>
            <p:cNvSpPr txBox="1"/>
            <p:nvPr/>
          </p:nvSpPr>
          <p:spPr>
            <a:xfrm>
              <a:off x="4864100" y="5613400"/>
              <a:ext cx="28448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8FB7D6"/>
                  </a:solidFill>
                </a:rPr>
                <a:t>Alert fusion · drift tests · cyber simulation</a:t>
              </a:r>
            </a:p>
          </p:txBody>
        </p:sp>
        <p:sp>
          <p:nvSpPr>
            <p:cNvPr id="22" name="Card2">
              <a:extLst>
                <a:ext uri="{FF2B5EF4-FFF2-40B4-BE49-F238E27FC236}">
                  <a16:creationId xmlns:a16="http://schemas.microsoft.com/office/drawing/2014/main" id="{48793697-4257-416D-9E0C-1C54A8A492C0}"/>
                </a:ext>
              </a:extLst>
            </p:cNvPr>
            <p:cNvSpPr/>
            <p:nvPr/>
          </p:nvSpPr>
          <p:spPr>
            <a:xfrm>
              <a:off x="8128000" y="2413000"/>
              <a:ext cx="3302000" cy="3683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3" name="Strip2">
              <a:extLst>
                <a:ext uri="{FF2B5EF4-FFF2-40B4-BE49-F238E27FC236}">
                  <a16:creationId xmlns:a16="http://schemas.microsoft.com/office/drawing/2014/main" id="{8143259A-E709-4671-BF8B-B9C93FC9096A}"/>
                </a:ext>
              </a:extLst>
            </p:cNvPr>
            <p:cNvSpPr/>
            <p:nvPr/>
          </p:nvSpPr>
          <p:spPr>
            <a:xfrm>
              <a:off x="8128000" y="2413000"/>
              <a:ext cx="3302000" cy="762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4" name="Tag2">
              <a:extLst>
                <a:ext uri="{FF2B5EF4-FFF2-40B4-BE49-F238E27FC236}">
                  <a16:creationId xmlns:a16="http://schemas.microsoft.com/office/drawing/2014/main" id="{B6C785CA-DEA9-496A-A7F3-D08938BB2705}"/>
                </a:ext>
              </a:extLst>
            </p:cNvPr>
            <p:cNvSpPr txBox="1"/>
            <p:nvPr/>
          </p:nvSpPr>
          <p:spPr>
            <a:xfrm>
              <a:off x="8356600" y="2692400"/>
              <a:ext cx="1016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b="1" spc="200" dirty="0">
                  <a:solidFill>
                    <a:srgbClr val="00C2CC"/>
                  </a:solidFill>
                </a:rPr>
                <a:t>RQ3</a:t>
              </a:r>
            </a:p>
          </p:txBody>
        </p:sp>
        <p:sp>
          <p:nvSpPr>
            <p:cNvPr id="25" name="Ttl2">
              <a:extLst>
                <a:ext uri="{FF2B5EF4-FFF2-40B4-BE49-F238E27FC236}">
                  <a16:creationId xmlns:a16="http://schemas.microsoft.com/office/drawing/2014/main" id="{C18ECF34-ABBB-49B3-9CC0-D9D8BFA248FC}"/>
                </a:ext>
              </a:extLst>
            </p:cNvPr>
            <p:cNvSpPr txBox="1"/>
            <p:nvPr/>
          </p:nvSpPr>
          <p:spPr>
            <a:xfrm>
              <a:off x="8356600" y="3073400"/>
              <a:ext cx="28448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800" b="1" dirty="0">
                  <a:solidFill>
                    <a:srgbClr val="00C2CC"/>
                  </a:solidFill>
                </a:rPr>
                <a:t>Withstand</a:t>
              </a:r>
            </a:p>
          </p:txBody>
        </p:sp>
        <p:sp>
          <p:nvSpPr>
            <p:cNvPr id="26" name="Body2">
              <a:extLst>
                <a:ext uri="{FF2B5EF4-FFF2-40B4-BE49-F238E27FC236}">
                  <a16:creationId xmlns:a16="http://schemas.microsoft.com/office/drawing/2014/main" id="{7058B4C3-2E9E-4FC7-A72F-9A7BFD7E375F}"/>
                </a:ext>
              </a:extLst>
            </p:cNvPr>
            <p:cNvSpPr txBox="1"/>
            <p:nvPr/>
          </p:nvSpPr>
          <p:spPr>
            <a:xfrm>
              <a:off x="8356600" y="3683000"/>
              <a:ext cx="2844800" cy="1460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D6EAF8"/>
                  </a:solidFill>
                </a:rPr>
                <a:t>How robust, explainable and useful are these models under perturbed inputs, regime shifts and time-to-detect tests?</a:t>
              </a:r>
            </a:p>
          </p:txBody>
        </p:sp>
        <p:sp>
          <p:nvSpPr>
            <p:cNvPr id="27" name="Stat2">
              <a:extLst>
                <a:ext uri="{FF2B5EF4-FFF2-40B4-BE49-F238E27FC236}">
                  <a16:creationId xmlns:a16="http://schemas.microsoft.com/office/drawing/2014/main" id="{0D25BA46-B75E-462D-AF8D-BCE14714B356}"/>
                </a:ext>
              </a:extLst>
            </p:cNvPr>
            <p:cNvSpPr txBox="1"/>
            <p:nvPr/>
          </p:nvSpPr>
          <p:spPr>
            <a:xfrm>
              <a:off x="8356600" y="5207000"/>
              <a:ext cx="28448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3 attacks</a:t>
              </a:r>
            </a:p>
          </p:txBody>
        </p:sp>
        <p:sp>
          <p:nvSpPr>
            <p:cNvPr id="28" name="Lab2">
              <a:extLst>
                <a:ext uri="{FF2B5EF4-FFF2-40B4-BE49-F238E27FC236}">
                  <a16:creationId xmlns:a16="http://schemas.microsoft.com/office/drawing/2014/main" id="{6844831C-CF62-43CC-A06D-DBC80B1FC601}"/>
                </a:ext>
              </a:extLst>
            </p:cNvPr>
            <p:cNvSpPr txBox="1"/>
            <p:nvPr/>
          </p:nvSpPr>
          <p:spPr>
            <a:xfrm>
              <a:off x="8356600" y="5613400"/>
              <a:ext cx="28448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8FB7D6"/>
                  </a:solidFill>
                </a:rPr>
                <a:t>Gaussian · stress · FGSM</a:t>
              </a:r>
            </a:p>
          </p:txBody>
        </p:sp>
      </p:grpSp>
      <p:sp>
        <p:nvSpPr>
          <p:cNvPr id="29" name="BottomStrip">
            <a:extLst>
              <a:ext uri="{FF2B5EF4-FFF2-40B4-BE49-F238E27FC236}">
                <a16:creationId xmlns:a16="http://schemas.microsoft.com/office/drawing/2014/main" id="{562CE592-4ACF-4230-8699-4EDA7F4EC31F}"/>
              </a:ext>
            </a:extLst>
          </p:cNvPr>
          <p:cNvSpPr/>
          <p:nvPr/>
        </p:nvSpPr>
        <p:spPr>
          <a:xfrm>
            <a:off x="1143000" y="5930900"/>
            <a:ext cx="9906000" cy="304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" name="StripTxt">
            <a:extLst>
              <a:ext uri="{FF2B5EF4-FFF2-40B4-BE49-F238E27FC236}">
                <a16:creationId xmlns:a16="http://schemas.microsoft.com/office/drawing/2014/main" id="{5E9C7FA1-C291-4F3B-A5D8-0953C603EA00}"/>
              </a:ext>
            </a:extLst>
          </p:cNvPr>
          <p:cNvSpPr txBox="1"/>
          <p:nvPr/>
        </p:nvSpPr>
        <p:spPr>
          <a:xfrm>
            <a:off x="1102360" y="59563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B1E3F"/>
                </a:solidFill>
              </a:rPr>
              <a:t>Together: a single supervised framework evaluated end-to-end</a:t>
            </a:r>
          </a:p>
        </p:txBody>
      </p:sp>
      <p:sp>
        <p:nvSpPr>
          <p:cNvPr id="31" name="Footer">
            <a:extLst>
              <a:ext uri="{FF2B5EF4-FFF2-40B4-BE49-F238E27FC236}">
                <a16:creationId xmlns:a16="http://schemas.microsoft.com/office/drawing/2014/main" id="{E30C80AB-824C-4B27-9B89-BCA4E2B94D43}"/>
              </a:ext>
            </a:extLst>
          </p:cNvPr>
          <p:cNvSpPr txBox="1"/>
          <p:nvPr/>
        </p:nvSpPr>
        <p:spPr>
          <a:xfrm>
            <a:off x="1143000" y="6470655"/>
            <a:ext cx="9906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4 / 15  ·  LD7083  ·  w24037842</a:t>
            </a:r>
          </a:p>
        </p:txBody>
      </p:sp>
    </p:spTree>
    <p:extLst>
      <p:ext uri="{BB962C8B-B14F-4D97-AF65-F5344CB8AC3E}">
        <p14:creationId xmlns:p14="http://schemas.microsoft.com/office/powerpoint/2010/main" val="3067013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>
            <a:extLst>
              <a:ext uri="{FF2B5EF4-FFF2-40B4-BE49-F238E27FC236}">
                <a16:creationId xmlns:a16="http://schemas.microsoft.com/office/drawing/2014/main" id="{80E9670F-7F13-472D-96B8-5F6FF1BC3663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centCircle">
            <a:extLst>
              <a:ext uri="{FF2B5EF4-FFF2-40B4-BE49-F238E27FC236}">
                <a16:creationId xmlns:a16="http://schemas.microsoft.com/office/drawing/2014/main" id="{CB37B829-BBB8-4385-82D7-340EB947494D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ornerCircle">
            <a:extLst>
              <a:ext uri="{FF2B5EF4-FFF2-40B4-BE49-F238E27FC236}">
                <a16:creationId xmlns:a16="http://schemas.microsoft.com/office/drawing/2014/main" id="{FD336B0A-EBEF-4F8C-AB68-3735F7CF3552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5F0B1ACD-1C13-46B2-AFA6-0DFCB3AA184F}"/>
              </a:ext>
            </a:extLst>
          </p:cNvPr>
          <p:cNvSpPr txBox="1"/>
          <p:nvPr/>
        </p:nvSpPr>
        <p:spPr>
          <a:xfrm>
            <a:off x="1143000" y="323275"/>
            <a:ext cx="990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Literature gap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56433999-D826-4FFD-A59C-7253169BDC6A}"/>
              </a:ext>
            </a:extLst>
          </p:cNvPr>
          <p:cNvSpPr txBox="1"/>
          <p:nvPr/>
        </p:nvSpPr>
        <p:spPr>
          <a:xfrm>
            <a:off x="1092200" y="891173"/>
            <a:ext cx="990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D6EAF8"/>
                </a:solidFill>
              </a:rPr>
              <a:t>Four mature streams — no single integrating framework</a:t>
            </a:r>
          </a:p>
        </p:txBody>
      </p:sp>
      <p:sp>
        <p:nvSpPr>
          <p:cNvPr id="7" name="Div">
            <a:extLst>
              <a:ext uri="{FF2B5EF4-FFF2-40B4-BE49-F238E27FC236}">
                <a16:creationId xmlns:a16="http://schemas.microsoft.com/office/drawing/2014/main" id="{5640E16D-BFBB-4D5F-9C7F-31EAB124AD84}"/>
              </a:ext>
            </a:extLst>
          </p:cNvPr>
          <p:cNvSpPr/>
          <p:nvPr/>
        </p:nvSpPr>
        <p:spPr>
          <a:xfrm>
            <a:off x="1143000" y="1342757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FD54B23-43D3-C74D-70CE-81F4487B6578}"/>
              </a:ext>
            </a:extLst>
          </p:cNvPr>
          <p:cNvGrpSpPr/>
          <p:nvPr/>
        </p:nvGrpSpPr>
        <p:grpSpPr>
          <a:xfrm>
            <a:off x="1143000" y="1697806"/>
            <a:ext cx="9601200" cy="3759200"/>
            <a:chOff x="1143000" y="1930400"/>
            <a:chExt cx="9601200" cy="3759200"/>
          </a:xfrm>
        </p:grpSpPr>
        <p:sp>
          <p:nvSpPr>
            <p:cNvPr id="8" name="Card0">
              <a:extLst>
                <a:ext uri="{FF2B5EF4-FFF2-40B4-BE49-F238E27FC236}">
                  <a16:creationId xmlns:a16="http://schemas.microsoft.com/office/drawing/2014/main" id="{D37960B7-5564-4EA2-98FB-F82D999F3097}"/>
                </a:ext>
              </a:extLst>
            </p:cNvPr>
            <p:cNvSpPr/>
            <p:nvPr/>
          </p:nvSpPr>
          <p:spPr>
            <a:xfrm>
              <a:off x="1143000" y="1930400"/>
              <a:ext cx="46990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A6E8A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9" name="NumBg0">
              <a:extLst>
                <a:ext uri="{FF2B5EF4-FFF2-40B4-BE49-F238E27FC236}">
                  <a16:creationId xmlns:a16="http://schemas.microsoft.com/office/drawing/2014/main" id="{F0220F87-B655-4D3B-B286-6C3533F84AFF}"/>
                </a:ext>
              </a:extLst>
            </p:cNvPr>
            <p:cNvSpPr/>
            <p:nvPr/>
          </p:nvSpPr>
          <p:spPr>
            <a:xfrm>
              <a:off x="1143000" y="1930400"/>
              <a:ext cx="762000" cy="1778000"/>
            </a:xfrm>
            <a:prstGeom prst="rect">
              <a:avLst/>
            </a:prstGeom>
            <a:solidFill>
              <a:srgbClr val="0A6E8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0" name="Num0">
              <a:extLst>
                <a:ext uri="{FF2B5EF4-FFF2-40B4-BE49-F238E27FC236}">
                  <a16:creationId xmlns:a16="http://schemas.microsoft.com/office/drawing/2014/main" id="{DD9EC6FF-E142-43BB-9B3C-59FB27DEBD3D}"/>
                </a:ext>
              </a:extLst>
            </p:cNvPr>
            <p:cNvSpPr txBox="1"/>
            <p:nvPr/>
          </p:nvSpPr>
          <p:spPr>
            <a:xfrm>
              <a:off x="1143000" y="2590800"/>
              <a:ext cx="762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01</a:t>
              </a:r>
            </a:p>
          </p:txBody>
        </p:sp>
        <p:sp>
          <p:nvSpPr>
            <p:cNvPr id="11" name="T0">
              <a:extLst>
                <a:ext uri="{FF2B5EF4-FFF2-40B4-BE49-F238E27FC236}">
                  <a16:creationId xmlns:a16="http://schemas.microsoft.com/office/drawing/2014/main" id="{A921B5B5-2F8F-451E-A58B-96C5136688FF}"/>
                </a:ext>
              </a:extLst>
            </p:cNvPr>
            <p:cNvSpPr txBox="1"/>
            <p:nvPr/>
          </p:nvSpPr>
          <p:spPr>
            <a:xfrm>
              <a:off x="2082800" y="2108200"/>
              <a:ext cx="3556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00C2CC"/>
                  </a:solidFill>
                </a:rPr>
                <a:t>Predictive modelling</a:t>
              </a:r>
            </a:p>
          </p:txBody>
        </p:sp>
        <p:sp>
          <p:nvSpPr>
            <p:cNvPr id="12" name="B0">
              <a:extLst>
                <a:ext uri="{FF2B5EF4-FFF2-40B4-BE49-F238E27FC236}">
                  <a16:creationId xmlns:a16="http://schemas.microsoft.com/office/drawing/2014/main" id="{BA3AD702-8FE9-4973-B90D-79322C9AD1F3}"/>
                </a:ext>
              </a:extLst>
            </p:cNvPr>
            <p:cNvSpPr txBox="1"/>
            <p:nvPr/>
          </p:nvSpPr>
          <p:spPr>
            <a:xfrm>
              <a:off x="2082800" y="2489200"/>
              <a:ext cx="3556000" cy="660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lnSpc>
                  <a:spcPts val="1400"/>
                </a:lnSpc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ML beats classic factor models but back-tests overstate live performance.</a:t>
              </a:r>
            </a:p>
          </p:txBody>
        </p:sp>
        <p:sp>
          <p:nvSpPr>
            <p:cNvPr id="13" name="C0">
              <a:extLst>
                <a:ext uri="{FF2B5EF4-FFF2-40B4-BE49-F238E27FC236}">
                  <a16:creationId xmlns:a16="http://schemas.microsoft.com/office/drawing/2014/main" id="{71C29642-A46B-46CF-8E46-FE487FF49110}"/>
                </a:ext>
              </a:extLst>
            </p:cNvPr>
            <p:cNvSpPr txBox="1"/>
            <p:nvPr/>
          </p:nvSpPr>
          <p:spPr>
            <a:xfrm>
              <a:off x="2082800" y="3225800"/>
              <a:ext cx="3556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i="1" dirty="0">
                  <a:solidFill>
                    <a:srgbClr val="8FB7D6"/>
                  </a:solidFill>
                </a:rPr>
                <a:t>Gu, Kelly &amp; Xiu 2020 · Lopez de Prado 2018</a:t>
              </a:r>
            </a:p>
          </p:txBody>
        </p:sp>
        <p:sp>
          <p:nvSpPr>
            <p:cNvPr id="14" name="Card1">
              <a:extLst>
                <a:ext uri="{FF2B5EF4-FFF2-40B4-BE49-F238E27FC236}">
                  <a16:creationId xmlns:a16="http://schemas.microsoft.com/office/drawing/2014/main" id="{D4EFF064-1A56-4DFE-A888-1C7854B94D26}"/>
                </a:ext>
              </a:extLst>
            </p:cNvPr>
            <p:cNvSpPr/>
            <p:nvPr/>
          </p:nvSpPr>
          <p:spPr>
            <a:xfrm>
              <a:off x="6045200" y="1930400"/>
              <a:ext cx="46990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A6E8A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5" name="NumBg1">
              <a:extLst>
                <a:ext uri="{FF2B5EF4-FFF2-40B4-BE49-F238E27FC236}">
                  <a16:creationId xmlns:a16="http://schemas.microsoft.com/office/drawing/2014/main" id="{7683A8D6-1995-47F8-88BA-E2BCE7C71402}"/>
                </a:ext>
              </a:extLst>
            </p:cNvPr>
            <p:cNvSpPr/>
            <p:nvPr/>
          </p:nvSpPr>
          <p:spPr>
            <a:xfrm>
              <a:off x="6045200" y="1930400"/>
              <a:ext cx="762000" cy="1778000"/>
            </a:xfrm>
            <a:prstGeom prst="rect">
              <a:avLst/>
            </a:prstGeom>
            <a:solidFill>
              <a:srgbClr val="0A6E8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6" name="Num1">
              <a:extLst>
                <a:ext uri="{FF2B5EF4-FFF2-40B4-BE49-F238E27FC236}">
                  <a16:creationId xmlns:a16="http://schemas.microsoft.com/office/drawing/2014/main" id="{0B68AAAF-2FA9-4572-BF4D-26F962222ECD}"/>
                </a:ext>
              </a:extLst>
            </p:cNvPr>
            <p:cNvSpPr txBox="1"/>
            <p:nvPr/>
          </p:nvSpPr>
          <p:spPr>
            <a:xfrm>
              <a:off x="6045200" y="2590800"/>
              <a:ext cx="762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02</a:t>
              </a:r>
            </a:p>
          </p:txBody>
        </p:sp>
        <p:sp>
          <p:nvSpPr>
            <p:cNvPr id="17" name="T1">
              <a:extLst>
                <a:ext uri="{FF2B5EF4-FFF2-40B4-BE49-F238E27FC236}">
                  <a16:creationId xmlns:a16="http://schemas.microsoft.com/office/drawing/2014/main" id="{654E81FE-49D9-45F1-BCA1-21A9D90A09A7}"/>
                </a:ext>
              </a:extLst>
            </p:cNvPr>
            <p:cNvSpPr txBox="1"/>
            <p:nvPr/>
          </p:nvSpPr>
          <p:spPr>
            <a:xfrm>
              <a:off x="6985000" y="2108200"/>
              <a:ext cx="3556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00C2CC"/>
                  </a:solidFill>
                </a:rPr>
                <a:t>Distributional shift</a:t>
              </a:r>
            </a:p>
          </p:txBody>
        </p:sp>
        <p:sp>
          <p:nvSpPr>
            <p:cNvPr id="18" name="B1">
              <a:extLst>
                <a:ext uri="{FF2B5EF4-FFF2-40B4-BE49-F238E27FC236}">
                  <a16:creationId xmlns:a16="http://schemas.microsoft.com/office/drawing/2014/main" id="{17043180-0116-4987-8341-410E5D4F4D2A}"/>
                </a:ext>
              </a:extLst>
            </p:cNvPr>
            <p:cNvSpPr txBox="1"/>
            <p:nvPr/>
          </p:nvSpPr>
          <p:spPr>
            <a:xfrm>
              <a:off x="6985000" y="2489200"/>
              <a:ext cx="3556000" cy="660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lnSpc>
                  <a:spcPts val="1400"/>
                </a:lnSpc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Regimes break i.i.d. assumptions; concept drift is rarely operationalised.</a:t>
              </a:r>
            </a:p>
          </p:txBody>
        </p:sp>
        <p:sp>
          <p:nvSpPr>
            <p:cNvPr id="19" name="C1">
              <a:extLst>
                <a:ext uri="{FF2B5EF4-FFF2-40B4-BE49-F238E27FC236}">
                  <a16:creationId xmlns:a16="http://schemas.microsoft.com/office/drawing/2014/main" id="{E819FC79-34AA-4340-9F68-47E6E8820172}"/>
                </a:ext>
              </a:extLst>
            </p:cNvPr>
            <p:cNvSpPr txBox="1"/>
            <p:nvPr/>
          </p:nvSpPr>
          <p:spPr>
            <a:xfrm>
              <a:off x="6985000" y="3225800"/>
              <a:ext cx="3556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i="1" dirty="0">
                  <a:solidFill>
                    <a:srgbClr val="8FB7D6"/>
                  </a:solidFill>
                </a:rPr>
                <a:t>Gama et al. 2014 · Quiñonero-Candela 2009</a:t>
              </a:r>
            </a:p>
          </p:txBody>
        </p:sp>
        <p:sp>
          <p:nvSpPr>
            <p:cNvPr id="20" name="Card2">
              <a:extLst>
                <a:ext uri="{FF2B5EF4-FFF2-40B4-BE49-F238E27FC236}">
                  <a16:creationId xmlns:a16="http://schemas.microsoft.com/office/drawing/2014/main" id="{08A58531-13CC-4392-B85D-B8537103D741}"/>
                </a:ext>
              </a:extLst>
            </p:cNvPr>
            <p:cNvSpPr/>
            <p:nvPr/>
          </p:nvSpPr>
          <p:spPr>
            <a:xfrm>
              <a:off x="1143000" y="3911600"/>
              <a:ext cx="46990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A6E8A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1" name="NumBg2">
              <a:extLst>
                <a:ext uri="{FF2B5EF4-FFF2-40B4-BE49-F238E27FC236}">
                  <a16:creationId xmlns:a16="http://schemas.microsoft.com/office/drawing/2014/main" id="{2F442C1F-41F1-48EA-91BE-7CE28734A140}"/>
                </a:ext>
              </a:extLst>
            </p:cNvPr>
            <p:cNvSpPr/>
            <p:nvPr/>
          </p:nvSpPr>
          <p:spPr>
            <a:xfrm>
              <a:off x="1143000" y="3911600"/>
              <a:ext cx="762000" cy="1778000"/>
            </a:xfrm>
            <a:prstGeom prst="rect">
              <a:avLst/>
            </a:prstGeom>
            <a:solidFill>
              <a:srgbClr val="0A6E8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2" name="Num2">
              <a:extLst>
                <a:ext uri="{FF2B5EF4-FFF2-40B4-BE49-F238E27FC236}">
                  <a16:creationId xmlns:a16="http://schemas.microsoft.com/office/drawing/2014/main" id="{25C44C03-BA10-41E6-BB18-CE2E63DA1C4B}"/>
                </a:ext>
              </a:extLst>
            </p:cNvPr>
            <p:cNvSpPr txBox="1"/>
            <p:nvPr/>
          </p:nvSpPr>
          <p:spPr>
            <a:xfrm>
              <a:off x="1143000" y="4572000"/>
              <a:ext cx="762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03</a:t>
              </a:r>
            </a:p>
          </p:txBody>
        </p:sp>
        <p:sp>
          <p:nvSpPr>
            <p:cNvPr id="23" name="T2">
              <a:extLst>
                <a:ext uri="{FF2B5EF4-FFF2-40B4-BE49-F238E27FC236}">
                  <a16:creationId xmlns:a16="http://schemas.microsoft.com/office/drawing/2014/main" id="{B54D2851-C512-43E9-834E-AD5B310DDC13}"/>
                </a:ext>
              </a:extLst>
            </p:cNvPr>
            <p:cNvSpPr txBox="1"/>
            <p:nvPr/>
          </p:nvSpPr>
          <p:spPr>
            <a:xfrm>
              <a:off x="2082800" y="4089400"/>
              <a:ext cx="3556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00C2CC"/>
                  </a:solidFill>
                </a:rPr>
                <a:t>Explainable AI</a:t>
              </a:r>
            </a:p>
          </p:txBody>
        </p:sp>
        <p:sp>
          <p:nvSpPr>
            <p:cNvPr id="24" name="B2">
              <a:extLst>
                <a:ext uri="{FF2B5EF4-FFF2-40B4-BE49-F238E27FC236}">
                  <a16:creationId xmlns:a16="http://schemas.microsoft.com/office/drawing/2014/main" id="{5A95E4CA-4DD6-4ED0-9C2B-B5280CB83F80}"/>
                </a:ext>
              </a:extLst>
            </p:cNvPr>
            <p:cNvSpPr txBox="1"/>
            <p:nvPr/>
          </p:nvSpPr>
          <p:spPr>
            <a:xfrm>
              <a:off x="2082800" y="4470400"/>
              <a:ext cx="3556000" cy="660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lnSpc>
                  <a:spcPts val="1400"/>
                </a:lnSpc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SHAP widely used, but stability under perturbation seldom tested.</a:t>
              </a:r>
            </a:p>
          </p:txBody>
        </p:sp>
        <p:sp>
          <p:nvSpPr>
            <p:cNvPr id="25" name="C2">
              <a:extLst>
                <a:ext uri="{FF2B5EF4-FFF2-40B4-BE49-F238E27FC236}">
                  <a16:creationId xmlns:a16="http://schemas.microsoft.com/office/drawing/2014/main" id="{1DF6A2E2-C7B3-47F8-88E1-1B6F72414C94}"/>
                </a:ext>
              </a:extLst>
            </p:cNvPr>
            <p:cNvSpPr txBox="1"/>
            <p:nvPr/>
          </p:nvSpPr>
          <p:spPr>
            <a:xfrm>
              <a:off x="2082800" y="5207000"/>
              <a:ext cx="3556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i="1" dirty="0">
                  <a:solidFill>
                    <a:srgbClr val="8FB7D6"/>
                  </a:solidFill>
                </a:rPr>
                <a:t>Lundberg &amp; Lee 2017 · Alvarez-Melis 2018</a:t>
              </a:r>
            </a:p>
          </p:txBody>
        </p:sp>
        <p:sp>
          <p:nvSpPr>
            <p:cNvPr id="26" name="Card3">
              <a:extLst>
                <a:ext uri="{FF2B5EF4-FFF2-40B4-BE49-F238E27FC236}">
                  <a16:creationId xmlns:a16="http://schemas.microsoft.com/office/drawing/2014/main" id="{4B96CF65-FB7C-4CF0-A413-023CCB207FD9}"/>
                </a:ext>
              </a:extLst>
            </p:cNvPr>
            <p:cNvSpPr/>
            <p:nvPr/>
          </p:nvSpPr>
          <p:spPr>
            <a:xfrm>
              <a:off x="6045200" y="3911600"/>
              <a:ext cx="46990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A6E8A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7" name="NumBg3">
              <a:extLst>
                <a:ext uri="{FF2B5EF4-FFF2-40B4-BE49-F238E27FC236}">
                  <a16:creationId xmlns:a16="http://schemas.microsoft.com/office/drawing/2014/main" id="{5BB2F2AA-F7D1-4ECC-81DA-38322D3D3F65}"/>
                </a:ext>
              </a:extLst>
            </p:cNvPr>
            <p:cNvSpPr/>
            <p:nvPr/>
          </p:nvSpPr>
          <p:spPr>
            <a:xfrm>
              <a:off x="6045200" y="3911600"/>
              <a:ext cx="762000" cy="1778000"/>
            </a:xfrm>
            <a:prstGeom prst="rect">
              <a:avLst/>
            </a:prstGeom>
            <a:solidFill>
              <a:srgbClr val="0A6E8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8" name="Num3">
              <a:extLst>
                <a:ext uri="{FF2B5EF4-FFF2-40B4-BE49-F238E27FC236}">
                  <a16:creationId xmlns:a16="http://schemas.microsoft.com/office/drawing/2014/main" id="{2D191B0C-9168-4C80-9D2D-4891CB338291}"/>
                </a:ext>
              </a:extLst>
            </p:cNvPr>
            <p:cNvSpPr txBox="1"/>
            <p:nvPr/>
          </p:nvSpPr>
          <p:spPr>
            <a:xfrm>
              <a:off x="6045200" y="4572000"/>
              <a:ext cx="762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04</a:t>
              </a:r>
            </a:p>
          </p:txBody>
        </p:sp>
        <p:sp>
          <p:nvSpPr>
            <p:cNvPr id="29" name="T3">
              <a:extLst>
                <a:ext uri="{FF2B5EF4-FFF2-40B4-BE49-F238E27FC236}">
                  <a16:creationId xmlns:a16="http://schemas.microsoft.com/office/drawing/2014/main" id="{10251CA3-6A76-4A48-97C7-2C3D4DFEBDA8}"/>
                </a:ext>
              </a:extLst>
            </p:cNvPr>
            <p:cNvSpPr txBox="1"/>
            <p:nvPr/>
          </p:nvSpPr>
          <p:spPr>
            <a:xfrm>
              <a:off x="6985000" y="4089400"/>
              <a:ext cx="3556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00C2CC"/>
                  </a:solidFill>
                </a:rPr>
                <a:t>Adversarial ML</a:t>
              </a:r>
            </a:p>
          </p:txBody>
        </p:sp>
        <p:sp>
          <p:nvSpPr>
            <p:cNvPr id="30" name="B3">
              <a:extLst>
                <a:ext uri="{FF2B5EF4-FFF2-40B4-BE49-F238E27FC236}">
                  <a16:creationId xmlns:a16="http://schemas.microsoft.com/office/drawing/2014/main" id="{9C8DEA5A-D8EA-45D4-BB94-B9EEC32C7FFB}"/>
                </a:ext>
              </a:extLst>
            </p:cNvPr>
            <p:cNvSpPr txBox="1"/>
            <p:nvPr/>
          </p:nvSpPr>
          <p:spPr>
            <a:xfrm>
              <a:off x="6985000" y="4470400"/>
              <a:ext cx="3556000" cy="660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lnSpc>
                  <a:spcPts val="1400"/>
                </a:lnSpc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FGSM-style attacks studied in vision; finance time-series under-explored.</a:t>
              </a:r>
            </a:p>
          </p:txBody>
        </p:sp>
        <p:sp>
          <p:nvSpPr>
            <p:cNvPr id="31" name="C3">
              <a:extLst>
                <a:ext uri="{FF2B5EF4-FFF2-40B4-BE49-F238E27FC236}">
                  <a16:creationId xmlns:a16="http://schemas.microsoft.com/office/drawing/2014/main" id="{5FE4F40E-7DFB-495F-9A12-783C7B125C2F}"/>
                </a:ext>
              </a:extLst>
            </p:cNvPr>
            <p:cNvSpPr txBox="1"/>
            <p:nvPr/>
          </p:nvSpPr>
          <p:spPr>
            <a:xfrm>
              <a:off x="6985000" y="5207000"/>
              <a:ext cx="3556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i="1" dirty="0">
                  <a:solidFill>
                    <a:srgbClr val="8FB7D6"/>
                  </a:solidFill>
                </a:rPr>
                <a:t>Goodfellow 2015 · Gallagher 2022 · Ding 2023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6DE13FC-9D7E-0118-E141-EAC398E3B1F4}"/>
              </a:ext>
            </a:extLst>
          </p:cNvPr>
          <p:cNvGrpSpPr/>
          <p:nvPr/>
        </p:nvGrpSpPr>
        <p:grpSpPr>
          <a:xfrm>
            <a:off x="1143000" y="5784850"/>
            <a:ext cx="9906000" cy="584200"/>
            <a:chOff x="1143000" y="5994400"/>
            <a:chExt cx="9906000" cy="584200"/>
          </a:xfrm>
        </p:grpSpPr>
        <p:sp>
          <p:nvSpPr>
            <p:cNvPr id="32" name="GapBg">
              <a:extLst>
                <a:ext uri="{FF2B5EF4-FFF2-40B4-BE49-F238E27FC236}">
                  <a16:creationId xmlns:a16="http://schemas.microsoft.com/office/drawing/2014/main" id="{EB19932A-607D-4440-BC42-04D0EC0F272C}"/>
                </a:ext>
              </a:extLst>
            </p:cNvPr>
            <p:cNvSpPr/>
            <p:nvPr/>
          </p:nvSpPr>
          <p:spPr>
            <a:xfrm>
              <a:off x="1143000" y="5994400"/>
              <a:ext cx="9906000" cy="5842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33" name="GapTxt">
              <a:extLst>
                <a:ext uri="{FF2B5EF4-FFF2-40B4-BE49-F238E27FC236}">
                  <a16:creationId xmlns:a16="http://schemas.microsoft.com/office/drawing/2014/main" id="{7DCE232F-F74D-4CA0-A24D-8A954476A9AA}"/>
                </a:ext>
              </a:extLst>
            </p:cNvPr>
            <p:cNvSpPr txBox="1"/>
            <p:nvPr/>
          </p:nvSpPr>
          <p:spPr>
            <a:xfrm>
              <a:off x="1270000" y="6032500"/>
              <a:ext cx="9652000" cy="533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300" b="1" dirty="0">
                  <a:solidFill>
                    <a:srgbClr val="0B1E3F"/>
                  </a:solidFill>
                </a:rPr>
                <a:t>Gap: an integrated supervised pipeline tested for accuracy + robustness + explainability + cyber resilience</a:t>
              </a:r>
            </a:p>
            <a:p>
              <a:pPr algn="ctr">
                <a:buNone/>
              </a:pPr>
              <a:r>
                <a:rPr lang="en-US" sz="1100" i="1" dirty="0">
                  <a:solidFill>
                    <a:srgbClr val="0B1E3F"/>
                  </a:solidFill>
                </a:rPr>
                <a:t>Contribution: not a new classifier, but an integrated evaluation framework.</a:t>
              </a:r>
            </a:p>
          </p:txBody>
        </p:sp>
      </p:grpSp>
      <p:sp>
        <p:nvSpPr>
          <p:cNvPr id="34" name="Footer">
            <a:extLst>
              <a:ext uri="{FF2B5EF4-FFF2-40B4-BE49-F238E27FC236}">
                <a16:creationId xmlns:a16="http://schemas.microsoft.com/office/drawing/2014/main" id="{A092661E-4D3B-4EDC-85E4-D4C892640EAE}"/>
              </a:ext>
            </a:extLst>
          </p:cNvPr>
          <p:cNvSpPr txBox="1"/>
          <p:nvPr/>
        </p:nvSpPr>
        <p:spPr>
          <a:xfrm>
            <a:off x="1143000" y="6568440"/>
            <a:ext cx="9906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5 / 15  ·  LD7083  ·  w24037842</a:t>
            </a:r>
          </a:p>
        </p:txBody>
      </p:sp>
    </p:spTree>
    <p:extLst>
      <p:ext uri="{BB962C8B-B14F-4D97-AF65-F5344CB8AC3E}">
        <p14:creationId xmlns:p14="http://schemas.microsoft.com/office/powerpoint/2010/main" val="187739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8C344F-7D1C-4703-ADD4-6CE216C6F1A8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81813F-F5B3-41CE-8875-0A45B6AF0DED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08D6AF7-3EF2-4973-BF34-EFFC22769FDA}"/>
              </a:ext>
            </a:extLst>
          </p:cNvPr>
          <p:cNvSpPr/>
          <p:nvPr/>
        </p:nvSpPr>
        <p:spPr>
          <a:xfrm>
            <a:off x="91186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B43DEB9-64F4-4288-AFA2-E6951687F5CE}"/>
              </a:ext>
            </a:extLst>
          </p:cNvPr>
          <p:cNvSpPr txBox="1"/>
          <p:nvPr/>
        </p:nvSpPr>
        <p:spPr>
          <a:xfrm>
            <a:off x="1188720" y="44196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11485874-F696-48A6-880F-D27D779919E2}"/>
              </a:ext>
            </a:extLst>
          </p:cNvPr>
          <p:cNvSpPr txBox="1"/>
          <p:nvPr/>
        </p:nvSpPr>
        <p:spPr>
          <a:xfrm>
            <a:off x="1143000" y="113665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500" dirty="0">
                <a:solidFill>
                  <a:srgbClr val="D6EAF8"/>
                </a:solidFill>
              </a:rPr>
              <a:t>Six-phase supervised pipeline · classical + ensemble models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C46834-B135-4C63-9CD7-650285C0B0BC}"/>
              </a:ext>
            </a:extLst>
          </p:cNvPr>
          <p:cNvSpPr/>
          <p:nvPr/>
        </p:nvSpPr>
        <p:spPr>
          <a:xfrm>
            <a:off x="1143000" y="162560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4BCAF1F-F14E-48AF-99F3-42DA37CB44C5}"/>
              </a:ext>
            </a:extLst>
          </p:cNvPr>
          <p:cNvSpPr/>
          <p:nvPr/>
        </p:nvSpPr>
        <p:spPr>
          <a:xfrm>
            <a:off x="6159500" y="4102100"/>
            <a:ext cx="4826000" cy="14605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A6E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CA4B238-C17E-B078-2D0B-F3A2E9BC1EFE}"/>
              </a:ext>
            </a:extLst>
          </p:cNvPr>
          <p:cNvGrpSpPr/>
          <p:nvPr/>
        </p:nvGrpSpPr>
        <p:grpSpPr>
          <a:xfrm>
            <a:off x="1122680" y="4112260"/>
            <a:ext cx="9664700" cy="1460500"/>
            <a:chOff x="1143000" y="4508500"/>
            <a:chExt cx="9664700" cy="14605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5FDAF85-8BB8-4290-8AAA-3FD80A311427}"/>
                </a:ext>
              </a:extLst>
            </p:cNvPr>
            <p:cNvSpPr/>
            <p:nvPr/>
          </p:nvSpPr>
          <p:spPr>
            <a:xfrm>
              <a:off x="1143000" y="4508500"/>
              <a:ext cx="4826000" cy="14605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A6E8A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44" name="PLT">
              <a:extLst>
                <a:ext uri="{FF2B5EF4-FFF2-40B4-BE49-F238E27FC236}">
                  <a16:creationId xmlns:a16="http://schemas.microsoft.com/office/drawing/2014/main" id="{0B52657E-37DD-4F9C-A76D-87C04611165B}"/>
                </a:ext>
              </a:extLst>
            </p:cNvPr>
            <p:cNvSpPr txBox="1"/>
            <p:nvPr/>
          </p:nvSpPr>
          <p:spPr>
            <a:xfrm>
              <a:off x="1346200" y="4660900"/>
              <a:ext cx="4445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00C2CC"/>
                  </a:solidFill>
                </a:rPr>
                <a:t>Time-ordered split</a:t>
              </a:r>
            </a:p>
          </p:txBody>
        </p:sp>
        <p:sp>
          <p:nvSpPr>
            <p:cNvPr id="45" name="PLB">
              <a:extLst>
                <a:ext uri="{FF2B5EF4-FFF2-40B4-BE49-F238E27FC236}">
                  <a16:creationId xmlns:a16="http://schemas.microsoft.com/office/drawing/2014/main" id="{5A96A10E-0742-4AE2-9220-D50404E8301B}"/>
                </a:ext>
              </a:extLst>
            </p:cNvPr>
            <p:cNvSpPr txBox="1"/>
            <p:nvPr/>
          </p:nvSpPr>
          <p:spPr>
            <a:xfrm>
              <a:off x="1346200" y="5067300"/>
              <a:ext cx="4445000" cy="762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lnSpc>
                  <a:spcPts val="1700"/>
                </a:lnSpc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Train 24,470  ·  Validation 5,250  ·  Test 5,250
Event rate: 12.3 / 14.2 / 13.7 %</a:t>
              </a:r>
            </a:p>
          </p:txBody>
        </p:sp>
        <p:sp>
          <p:nvSpPr>
            <p:cNvPr id="47" name="PRT">
              <a:extLst>
                <a:ext uri="{FF2B5EF4-FFF2-40B4-BE49-F238E27FC236}">
                  <a16:creationId xmlns:a16="http://schemas.microsoft.com/office/drawing/2014/main" id="{37B3689B-D1FA-4B9B-83FF-96D657E5B251}"/>
                </a:ext>
              </a:extLst>
            </p:cNvPr>
            <p:cNvSpPr txBox="1"/>
            <p:nvPr/>
          </p:nvSpPr>
          <p:spPr>
            <a:xfrm>
              <a:off x="6362700" y="4660900"/>
              <a:ext cx="4445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00C2CC"/>
                  </a:solidFill>
                </a:rPr>
                <a:t>Validation-tuned threshold</a:t>
              </a:r>
            </a:p>
          </p:txBody>
        </p:sp>
        <p:sp>
          <p:nvSpPr>
            <p:cNvPr id="48" name="PRB">
              <a:extLst>
                <a:ext uri="{FF2B5EF4-FFF2-40B4-BE49-F238E27FC236}">
                  <a16:creationId xmlns:a16="http://schemas.microsoft.com/office/drawing/2014/main" id="{195995E0-51B8-452D-B14E-565EF33ED34D}"/>
                </a:ext>
              </a:extLst>
            </p:cNvPr>
            <p:cNvSpPr txBox="1"/>
            <p:nvPr/>
          </p:nvSpPr>
          <p:spPr>
            <a:xfrm>
              <a:off x="6362700" y="5067300"/>
              <a:ext cx="4445000" cy="762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lnSpc>
                  <a:spcPts val="1700"/>
                </a:lnSpc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LR threshold 0.594  ·  RF threshold 0.077
SHAP on Gradient Boosting (n = 500)</a:t>
              </a:r>
            </a:p>
          </p:txBody>
        </p:sp>
      </p:grpSp>
      <p:sp>
        <p:nvSpPr>
          <p:cNvPr id="49" name="Cite">
            <a:extLst>
              <a:ext uri="{FF2B5EF4-FFF2-40B4-BE49-F238E27FC236}">
                <a16:creationId xmlns:a16="http://schemas.microsoft.com/office/drawing/2014/main" id="{488E4C0C-1513-4A2D-9DD3-E8602BB7C319}"/>
              </a:ext>
            </a:extLst>
          </p:cNvPr>
          <p:cNvSpPr txBox="1"/>
          <p:nvPr/>
        </p:nvSpPr>
        <p:spPr>
          <a:xfrm>
            <a:off x="1143000" y="61595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000" i="1" dirty="0">
                <a:solidFill>
                  <a:srgbClr val="8FB7D6"/>
                </a:solidFill>
              </a:rPr>
              <a:t>Refs: Breiman 2001 · Chen &amp; Guestrin 2016 · Lundberg &amp; Lee 2017 · Bergmeir &amp; Benítez 2012</a:t>
            </a:r>
          </a:p>
        </p:txBody>
      </p:sp>
      <p:sp>
        <p:nvSpPr>
          <p:cNvPr id="50" name="Footer">
            <a:extLst>
              <a:ext uri="{FF2B5EF4-FFF2-40B4-BE49-F238E27FC236}">
                <a16:creationId xmlns:a16="http://schemas.microsoft.com/office/drawing/2014/main" id="{4D609E25-76F9-4682-9F2C-962D5D010793}"/>
              </a:ext>
            </a:extLst>
          </p:cNvPr>
          <p:cNvSpPr txBox="1"/>
          <p:nvPr/>
        </p:nvSpPr>
        <p:spPr>
          <a:xfrm>
            <a:off x="1143000" y="6502400"/>
            <a:ext cx="990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rgbClr val="D6EAF8"/>
                </a:solidFill>
              </a:rPr>
              <a:t>6 / 15  ·  LD7083  ·  w24037842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9ECB3FD-1460-63AF-CDC3-37BA5B4BF0F2}"/>
              </a:ext>
            </a:extLst>
          </p:cNvPr>
          <p:cNvGrpSpPr/>
          <p:nvPr/>
        </p:nvGrpSpPr>
        <p:grpSpPr>
          <a:xfrm>
            <a:off x="1102360" y="2213610"/>
            <a:ext cx="10287000" cy="1662430"/>
            <a:chOff x="1153160" y="2528570"/>
            <a:chExt cx="10287000" cy="1662430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50F8D5EE-2004-C8C7-3704-B483FE6DCCDB}"/>
                </a:ext>
              </a:extLst>
            </p:cNvPr>
            <p:cNvGrpSpPr/>
            <p:nvPr/>
          </p:nvGrpSpPr>
          <p:grpSpPr>
            <a:xfrm>
              <a:off x="1153160" y="2540000"/>
              <a:ext cx="1587500" cy="1651000"/>
              <a:chOff x="1143000" y="2540000"/>
              <a:chExt cx="1587500" cy="1651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4DD10E7-6AC9-42C6-8A13-888A38B26413}"/>
                  </a:ext>
                </a:extLst>
              </p:cNvPr>
              <p:cNvSpPr/>
              <p:nvPr/>
            </p:nvSpPr>
            <p:spPr>
              <a:xfrm>
                <a:off x="1143000" y="2540000"/>
                <a:ext cx="1587500" cy="1651000"/>
              </a:xfrm>
              <a:prstGeom prst="rect">
                <a:avLst/>
              </a:prstGeom>
              <a:solidFill>
                <a:srgbClr val="102C56"/>
              </a:solidFill>
              <a:ln w="12700" cap="flat" cmpd="sng" algn="ctr">
                <a:solidFill>
                  <a:srgbClr val="00C2CC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8B4C4B6-E991-4534-930A-610878D27865}"/>
                  </a:ext>
                </a:extLst>
              </p:cNvPr>
              <p:cNvSpPr/>
              <p:nvPr/>
            </p:nvSpPr>
            <p:spPr>
              <a:xfrm>
                <a:off x="1143000" y="2540000"/>
                <a:ext cx="1587500" cy="63500"/>
              </a:xfrm>
              <a:prstGeom prst="rect">
                <a:avLst/>
              </a:prstGeom>
              <a:solidFill>
                <a:srgbClr val="00C2CC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10" name="Num0">
                <a:extLst>
                  <a:ext uri="{FF2B5EF4-FFF2-40B4-BE49-F238E27FC236}">
                    <a16:creationId xmlns:a16="http://schemas.microsoft.com/office/drawing/2014/main" id="{F501BE28-04CC-47EA-A74F-50E5B4658E6D}"/>
                  </a:ext>
                </a:extLst>
              </p:cNvPr>
              <p:cNvSpPr txBox="1"/>
              <p:nvPr/>
            </p:nvSpPr>
            <p:spPr>
              <a:xfrm>
                <a:off x="1295400" y="2743200"/>
                <a:ext cx="1016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00C2CC"/>
                    </a:solidFill>
                  </a:rPr>
                  <a:t>01</a:t>
                </a:r>
              </a:p>
            </p:txBody>
          </p:sp>
          <p:sp>
            <p:nvSpPr>
              <p:cNvPr id="11" name="T0">
                <a:extLst>
                  <a:ext uri="{FF2B5EF4-FFF2-40B4-BE49-F238E27FC236}">
                    <a16:creationId xmlns:a16="http://schemas.microsoft.com/office/drawing/2014/main" id="{37BB1B75-752C-4CB3-B697-AF85E117271E}"/>
                  </a:ext>
                </a:extLst>
              </p:cNvPr>
              <p:cNvSpPr txBox="1"/>
              <p:nvPr/>
            </p:nvSpPr>
            <p:spPr>
              <a:xfrm>
                <a:off x="1295400" y="3225800"/>
                <a:ext cx="12827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b="1" dirty="0">
                    <a:solidFill>
                      <a:srgbClr val="FFFFFF"/>
                    </a:solidFill>
                  </a:rPr>
                  <a:t>Data</a:t>
                </a:r>
              </a:p>
            </p:txBody>
          </p:sp>
          <p:sp>
            <p:nvSpPr>
              <p:cNvPr id="12" name="S0">
                <a:extLst>
                  <a:ext uri="{FF2B5EF4-FFF2-40B4-BE49-F238E27FC236}">
                    <a16:creationId xmlns:a16="http://schemas.microsoft.com/office/drawing/2014/main" id="{556C43F1-B323-4906-90B5-8C1C4A8DE32E}"/>
                  </a:ext>
                </a:extLst>
              </p:cNvPr>
              <p:cNvSpPr txBox="1"/>
              <p:nvPr/>
            </p:nvSpPr>
            <p:spPr>
              <a:xfrm>
                <a:off x="1295400" y="3657600"/>
                <a:ext cx="12827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lnSpc>
                    <a:spcPts val="1300"/>
                  </a:lnSpc>
                  <a:buNone/>
                </a:pPr>
                <a:r>
                  <a:rPr lang="en-US" sz="1100" dirty="0">
                    <a:solidFill>
                      <a:srgbClr val="D6EAF8"/>
                    </a:solidFill>
                  </a:rPr>
                  <a:t>OHLCV 2010–24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3907DF0-7C87-5930-1516-DFF213D7F034}"/>
                </a:ext>
              </a:extLst>
            </p:cNvPr>
            <p:cNvGrpSpPr/>
            <p:nvPr/>
          </p:nvGrpSpPr>
          <p:grpSpPr>
            <a:xfrm>
              <a:off x="2893060" y="2540000"/>
              <a:ext cx="1587500" cy="1651000"/>
              <a:chOff x="2862580" y="2540000"/>
              <a:chExt cx="1587500" cy="1651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8FF9AC7-071F-483A-923B-E5839ED0CAB3}"/>
                  </a:ext>
                </a:extLst>
              </p:cNvPr>
              <p:cNvSpPr/>
              <p:nvPr/>
            </p:nvSpPr>
            <p:spPr>
              <a:xfrm>
                <a:off x="2862580" y="2540000"/>
                <a:ext cx="1587500" cy="1651000"/>
              </a:xfrm>
              <a:prstGeom prst="rect">
                <a:avLst/>
              </a:prstGeom>
              <a:solidFill>
                <a:srgbClr val="102C56"/>
              </a:solidFill>
              <a:ln w="12700" cap="flat" cmpd="sng" algn="ctr">
                <a:solidFill>
                  <a:srgbClr val="00C2CC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F5D44F-78F7-428B-816E-D633288A66FA}"/>
                  </a:ext>
                </a:extLst>
              </p:cNvPr>
              <p:cNvSpPr/>
              <p:nvPr/>
            </p:nvSpPr>
            <p:spPr>
              <a:xfrm>
                <a:off x="2862580" y="2540000"/>
                <a:ext cx="1587500" cy="63500"/>
              </a:xfrm>
              <a:prstGeom prst="rect">
                <a:avLst/>
              </a:prstGeom>
              <a:solidFill>
                <a:srgbClr val="00C2CC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16" name="Num1">
                <a:extLst>
                  <a:ext uri="{FF2B5EF4-FFF2-40B4-BE49-F238E27FC236}">
                    <a16:creationId xmlns:a16="http://schemas.microsoft.com/office/drawing/2014/main" id="{7981C109-F9D5-4BB6-B1C8-B447FFA8E9CA}"/>
                  </a:ext>
                </a:extLst>
              </p:cNvPr>
              <p:cNvSpPr txBox="1"/>
              <p:nvPr/>
            </p:nvSpPr>
            <p:spPr>
              <a:xfrm>
                <a:off x="3014980" y="2743200"/>
                <a:ext cx="1016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00C2CC"/>
                    </a:solidFill>
                  </a:rPr>
                  <a:t>02</a:t>
                </a:r>
              </a:p>
            </p:txBody>
          </p:sp>
          <p:sp>
            <p:nvSpPr>
              <p:cNvPr id="17" name="T1">
                <a:extLst>
                  <a:ext uri="{FF2B5EF4-FFF2-40B4-BE49-F238E27FC236}">
                    <a16:creationId xmlns:a16="http://schemas.microsoft.com/office/drawing/2014/main" id="{5AC26864-2680-433E-8AB8-EF847EEF5F39}"/>
                  </a:ext>
                </a:extLst>
              </p:cNvPr>
              <p:cNvSpPr txBox="1"/>
              <p:nvPr/>
            </p:nvSpPr>
            <p:spPr>
              <a:xfrm>
                <a:off x="3014980" y="3225800"/>
                <a:ext cx="12827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b="1" dirty="0">
                    <a:solidFill>
                      <a:srgbClr val="FFFFFF"/>
                    </a:solidFill>
                  </a:rPr>
                  <a:t>Features</a:t>
                </a:r>
              </a:p>
            </p:txBody>
          </p:sp>
          <p:sp>
            <p:nvSpPr>
              <p:cNvPr id="18" name="S1">
                <a:extLst>
                  <a:ext uri="{FF2B5EF4-FFF2-40B4-BE49-F238E27FC236}">
                    <a16:creationId xmlns:a16="http://schemas.microsoft.com/office/drawing/2014/main" id="{CB66F4F5-CB91-49EF-AF90-9B4E3D28632F}"/>
                  </a:ext>
                </a:extLst>
              </p:cNvPr>
              <p:cNvSpPr txBox="1"/>
              <p:nvPr/>
            </p:nvSpPr>
            <p:spPr>
              <a:xfrm>
                <a:off x="3014980" y="3657600"/>
                <a:ext cx="12827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lnSpc>
                    <a:spcPts val="1300"/>
                  </a:lnSpc>
                  <a:buNone/>
                </a:pPr>
                <a:r>
                  <a:rPr lang="en-US" sz="1100" dirty="0">
                    <a:solidFill>
                      <a:srgbClr val="D6EAF8"/>
                    </a:solidFill>
                  </a:rPr>
                  <a:t>15 engineered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322A9C98-C613-3207-CE5F-969F7B72738D}"/>
                </a:ext>
              </a:extLst>
            </p:cNvPr>
            <p:cNvGrpSpPr/>
            <p:nvPr/>
          </p:nvGrpSpPr>
          <p:grpSpPr>
            <a:xfrm>
              <a:off x="4622800" y="2540000"/>
              <a:ext cx="1587500" cy="1651000"/>
              <a:chOff x="4419600" y="2540000"/>
              <a:chExt cx="1587500" cy="1651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F3A2971-5CF2-4657-9245-3159CE460352}"/>
                  </a:ext>
                </a:extLst>
              </p:cNvPr>
              <p:cNvSpPr/>
              <p:nvPr/>
            </p:nvSpPr>
            <p:spPr>
              <a:xfrm>
                <a:off x="4419600" y="2540000"/>
                <a:ext cx="1587500" cy="1651000"/>
              </a:xfrm>
              <a:prstGeom prst="rect">
                <a:avLst/>
              </a:prstGeom>
              <a:solidFill>
                <a:srgbClr val="102C56"/>
              </a:solidFill>
              <a:ln w="12700" cap="flat" cmpd="sng" algn="ctr">
                <a:solidFill>
                  <a:srgbClr val="00C2CC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4F689EB-A3B3-4500-9B3C-C3D8F6DC0B6B}"/>
                  </a:ext>
                </a:extLst>
              </p:cNvPr>
              <p:cNvSpPr/>
              <p:nvPr/>
            </p:nvSpPr>
            <p:spPr>
              <a:xfrm>
                <a:off x="4419600" y="2540000"/>
                <a:ext cx="1587500" cy="63500"/>
              </a:xfrm>
              <a:prstGeom prst="rect">
                <a:avLst/>
              </a:prstGeom>
              <a:solidFill>
                <a:srgbClr val="00C2CC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22" name="Num2">
                <a:extLst>
                  <a:ext uri="{FF2B5EF4-FFF2-40B4-BE49-F238E27FC236}">
                    <a16:creationId xmlns:a16="http://schemas.microsoft.com/office/drawing/2014/main" id="{712C0D41-E960-4177-BE3B-01B77F65D6A6}"/>
                  </a:ext>
                </a:extLst>
              </p:cNvPr>
              <p:cNvSpPr txBox="1"/>
              <p:nvPr/>
            </p:nvSpPr>
            <p:spPr>
              <a:xfrm>
                <a:off x="4572000" y="2743200"/>
                <a:ext cx="1016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00C2CC"/>
                    </a:solidFill>
                  </a:rPr>
                  <a:t>03</a:t>
                </a:r>
              </a:p>
            </p:txBody>
          </p:sp>
          <p:sp>
            <p:nvSpPr>
              <p:cNvPr id="23" name="T2">
                <a:extLst>
                  <a:ext uri="{FF2B5EF4-FFF2-40B4-BE49-F238E27FC236}">
                    <a16:creationId xmlns:a16="http://schemas.microsoft.com/office/drawing/2014/main" id="{D9F3345B-90CA-4AF4-8293-DF917E07E39A}"/>
                  </a:ext>
                </a:extLst>
              </p:cNvPr>
              <p:cNvSpPr txBox="1"/>
              <p:nvPr/>
            </p:nvSpPr>
            <p:spPr>
              <a:xfrm>
                <a:off x="4572000" y="3225800"/>
                <a:ext cx="12827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b="1" dirty="0">
                    <a:solidFill>
                      <a:srgbClr val="FFFFFF"/>
                    </a:solidFill>
                  </a:rPr>
                  <a:t>Target</a:t>
                </a:r>
              </a:p>
            </p:txBody>
          </p:sp>
          <p:sp>
            <p:nvSpPr>
              <p:cNvPr id="24" name="S2">
                <a:extLst>
                  <a:ext uri="{FF2B5EF4-FFF2-40B4-BE49-F238E27FC236}">
                    <a16:creationId xmlns:a16="http://schemas.microsoft.com/office/drawing/2014/main" id="{207629B8-9D27-442A-8155-4C871C5D7DB5}"/>
                  </a:ext>
                </a:extLst>
              </p:cNvPr>
              <p:cNvSpPr txBox="1"/>
              <p:nvPr/>
            </p:nvSpPr>
            <p:spPr>
              <a:xfrm>
                <a:off x="4572000" y="3657600"/>
                <a:ext cx="12827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lnSpc>
                    <a:spcPts val="1300"/>
                  </a:lnSpc>
                  <a:buNone/>
                </a:pPr>
                <a:r>
                  <a:rPr lang="en-US" sz="1100" dirty="0">
                    <a:solidFill>
                      <a:srgbClr val="D6EAF8"/>
                    </a:solidFill>
                  </a:rPr>
                  <a:t>Drawdown −3% 5d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99C3D07-BF6B-A1DA-24D0-32BD1821B8D7}"/>
                </a:ext>
              </a:extLst>
            </p:cNvPr>
            <p:cNvGrpSpPr/>
            <p:nvPr/>
          </p:nvGrpSpPr>
          <p:grpSpPr>
            <a:xfrm>
              <a:off x="6362700" y="2540000"/>
              <a:ext cx="1587500" cy="1651000"/>
              <a:chOff x="6057900" y="2540000"/>
              <a:chExt cx="1587500" cy="16510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CE6198E-EBCC-4D37-8AC3-50AEB0A1FB5D}"/>
                  </a:ext>
                </a:extLst>
              </p:cNvPr>
              <p:cNvSpPr/>
              <p:nvPr/>
            </p:nvSpPr>
            <p:spPr>
              <a:xfrm>
                <a:off x="6057900" y="2540000"/>
                <a:ext cx="1587500" cy="1651000"/>
              </a:xfrm>
              <a:prstGeom prst="rect">
                <a:avLst/>
              </a:prstGeom>
              <a:solidFill>
                <a:srgbClr val="102C56"/>
              </a:solidFill>
              <a:ln w="12700" cap="flat" cmpd="sng" algn="ctr">
                <a:solidFill>
                  <a:srgbClr val="00C2CC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66B9302-2812-4FA4-9301-19BD452F2093}"/>
                  </a:ext>
                </a:extLst>
              </p:cNvPr>
              <p:cNvSpPr/>
              <p:nvPr/>
            </p:nvSpPr>
            <p:spPr>
              <a:xfrm>
                <a:off x="6057900" y="2540000"/>
                <a:ext cx="1587500" cy="63500"/>
              </a:xfrm>
              <a:prstGeom prst="rect">
                <a:avLst/>
              </a:prstGeom>
              <a:solidFill>
                <a:srgbClr val="00C2CC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28" name="Num3">
                <a:extLst>
                  <a:ext uri="{FF2B5EF4-FFF2-40B4-BE49-F238E27FC236}">
                    <a16:creationId xmlns:a16="http://schemas.microsoft.com/office/drawing/2014/main" id="{FC1C46DE-2779-47C2-8F11-3B8EFE9118E5}"/>
                  </a:ext>
                </a:extLst>
              </p:cNvPr>
              <p:cNvSpPr txBox="1"/>
              <p:nvPr/>
            </p:nvSpPr>
            <p:spPr>
              <a:xfrm>
                <a:off x="6210300" y="2743200"/>
                <a:ext cx="1016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00C2CC"/>
                    </a:solidFill>
                  </a:rPr>
                  <a:t>04</a:t>
                </a:r>
              </a:p>
            </p:txBody>
          </p:sp>
          <p:sp>
            <p:nvSpPr>
              <p:cNvPr id="29" name="T3">
                <a:extLst>
                  <a:ext uri="{FF2B5EF4-FFF2-40B4-BE49-F238E27FC236}">
                    <a16:creationId xmlns:a16="http://schemas.microsoft.com/office/drawing/2014/main" id="{AA9BBB4E-3422-4DD7-8796-4A3B12089795}"/>
                  </a:ext>
                </a:extLst>
              </p:cNvPr>
              <p:cNvSpPr txBox="1"/>
              <p:nvPr/>
            </p:nvSpPr>
            <p:spPr>
              <a:xfrm>
                <a:off x="6210300" y="3225800"/>
                <a:ext cx="12827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b="1" dirty="0">
                    <a:solidFill>
                      <a:srgbClr val="FFFFFF"/>
                    </a:solidFill>
                  </a:rPr>
                  <a:t>Models</a:t>
                </a:r>
              </a:p>
            </p:txBody>
          </p:sp>
          <p:sp>
            <p:nvSpPr>
              <p:cNvPr id="30" name="S3">
                <a:extLst>
                  <a:ext uri="{FF2B5EF4-FFF2-40B4-BE49-F238E27FC236}">
                    <a16:creationId xmlns:a16="http://schemas.microsoft.com/office/drawing/2014/main" id="{73D72108-21A3-4F82-A216-D7EF1890DD0D}"/>
                  </a:ext>
                </a:extLst>
              </p:cNvPr>
              <p:cNvSpPr txBox="1"/>
              <p:nvPr/>
            </p:nvSpPr>
            <p:spPr>
              <a:xfrm>
                <a:off x="6210300" y="3657600"/>
                <a:ext cx="12827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lnSpc>
                    <a:spcPts val="1300"/>
                  </a:lnSpc>
                  <a:buNone/>
                </a:pPr>
                <a:r>
                  <a:rPr lang="en-US" sz="1100" dirty="0">
                    <a:solidFill>
                      <a:srgbClr val="D6EAF8"/>
                    </a:solidFill>
                  </a:rPr>
                  <a:t>LR · RF · GB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7D816EE-401A-C487-177E-897E1E316CC5}"/>
                </a:ext>
              </a:extLst>
            </p:cNvPr>
            <p:cNvGrpSpPr/>
            <p:nvPr/>
          </p:nvGrpSpPr>
          <p:grpSpPr>
            <a:xfrm>
              <a:off x="8102600" y="2540000"/>
              <a:ext cx="1587500" cy="1651000"/>
              <a:chOff x="7696200" y="2540000"/>
              <a:chExt cx="1587500" cy="1651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F422D390-1598-2E50-3AE5-DEE847D1EF71}"/>
                  </a:ext>
                </a:extLst>
              </p:cNvPr>
              <p:cNvGrpSpPr/>
              <p:nvPr/>
            </p:nvGrpSpPr>
            <p:grpSpPr>
              <a:xfrm>
                <a:off x="7696200" y="2540000"/>
                <a:ext cx="1587500" cy="1651000"/>
                <a:chOff x="7696200" y="2540000"/>
                <a:chExt cx="1587500" cy="1651000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F3BB31C-B532-4808-AD75-9C07138B8512}"/>
                    </a:ext>
                  </a:extLst>
                </p:cNvPr>
                <p:cNvSpPr/>
                <p:nvPr/>
              </p:nvSpPr>
              <p:spPr>
                <a:xfrm>
                  <a:off x="7696200" y="2540000"/>
                  <a:ext cx="1587500" cy="1651000"/>
                </a:xfrm>
                <a:prstGeom prst="rect">
                  <a:avLst/>
                </a:prstGeom>
                <a:solidFill>
                  <a:srgbClr val="102C56"/>
                </a:solidFill>
                <a:ln w="12700" cap="flat" cmpd="sng" algn="ctr">
                  <a:solidFill>
                    <a:srgbClr val="00C2CC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clip" horzOverflow="clip" rtlCol="0" anchor="t"/>
                <a:lstStyle/>
                <a:p>
                  <a:pPr algn="l"/>
                  <a:endParaRPr lang="en-GB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B66E487D-CC3B-488E-949D-D43FEA5FF167}"/>
                    </a:ext>
                  </a:extLst>
                </p:cNvPr>
                <p:cNvSpPr/>
                <p:nvPr/>
              </p:nvSpPr>
              <p:spPr>
                <a:xfrm>
                  <a:off x="7696200" y="2540000"/>
                  <a:ext cx="1587500" cy="63500"/>
                </a:xfrm>
                <a:prstGeom prst="rect">
                  <a:avLst/>
                </a:prstGeom>
                <a:solidFill>
                  <a:srgbClr val="00C2CC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clip" horzOverflow="clip" rtlCol="0" anchor="t"/>
                <a:lstStyle/>
                <a:p>
                  <a:pPr algn="l"/>
                  <a:endParaRPr lang="en-GB" dirty="0"/>
                </a:p>
              </p:txBody>
            </p:sp>
          </p:grpSp>
          <p:sp>
            <p:nvSpPr>
              <p:cNvPr id="34" name="Num4">
                <a:extLst>
                  <a:ext uri="{FF2B5EF4-FFF2-40B4-BE49-F238E27FC236}">
                    <a16:creationId xmlns:a16="http://schemas.microsoft.com/office/drawing/2014/main" id="{DA128015-6861-401A-A509-7967DFFF2B2A}"/>
                  </a:ext>
                </a:extLst>
              </p:cNvPr>
              <p:cNvSpPr txBox="1"/>
              <p:nvPr/>
            </p:nvSpPr>
            <p:spPr>
              <a:xfrm>
                <a:off x="7848600" y="2743200"/>
                <a:ext cx="1016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00C2CC"/>
                    </a:solidFill>
                  </a:rPr>
                  <a:t>05</a:t>
                </a:r>
              </a:p>
            </p:txBody>
          </p:sp>
          <p:sp>
            <p:nvSpPr>
              <p:cNvPr id="35" name="T4">
                <a:extLst>
                  <a:ext uri="{FF2B5EF4-FFF2-40B4-BE49-F238E27FC236}">
                    <a16:creationId xmlns:a16="http://schemas.microsoft.com/office/drawing/2014/main" id="{2CFD62E2-2F9E-46E3-AA17-EA59CBAFC8C7}"/>
                  </a:ext>
                </a:extLst>
              </p:cNvPr>
              <p:cNvSpPr txBox="1"/>
              <p:nvPr/>
            </p:nvSpPr>
            <p:spPr>
              <a:xfrm>
                <a:off x="7848600" y="3225800"/>
                <a:ext cx="12827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b="1" dirty="0">
                    <a:solidFill>
                      <a:srgbClr val="FFFFFF"/>
                    </a:solidFill>
                  </a:rPr>
                  <a:t>Robust</a:t>
                </a:r>
              </a:p>
            </p:txBody>
          </p:sp>
          <p:sp>
            <p:nvSpPr>
              <p:cNvPr id="36" name="S4">
                <a:extLst>
                  <a:ext uri="{FF2B5EF4-FFF2-40B4-BE49-F238E27FC236}">
                    <a16:creationId xmlns:a16="http://schemas.microsoft.com/office/drawing/2014/main" id="{EA38DA73-AD72-4B73-8C35-8B66272E0F02}"/>
                  </a:ext>
                </a:extLst>
              </p:cNvPr>
              <p:cNvSpPr txBox="1"/>
              <p:nvPr/>
            </p:nvSpPr>
            <p:spPr>
              <a:xfrm>
                <a:off x="7848600" y="3657600"/>
                <a:ext cx="12827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lnSpc>
                    <a:spcPts val="1300"/>
                  </a:lnSpc>
                  <a:buNone/>
                </a:pPr>
                <a:r>
                  <a:rPr lang="en-US" sz="1100" dirty="0">
                    <a:solidFill>
                      <a:srgbClr val="D6EAF8"/>
                    </a:solidFill>
                  </a:rPr>
                  <a:t>Noise · stress · FGSM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A865DBA-47D1-CD9A-8B46-C809DBB9CCA3}"/>
                </a:ext>
              </a:extLst>
            </p:cNvPr>
            <p:cNvGrpSpPr/>
            <p:nvPr/>
          </p:nvGrpSpPr>
          <p:grpSpPr>
            <a:xfrm>
              <a:off x="2748280" y="2528570"/>
              <a:ext cx="8691880" cy="1651000"/>
              <a:chOff x="2748280" y="2528570"/>
              <a:chExt cx="8691880" cy="1651000"/>
            </a:xfrm>
          </p:grpSpPr>
          <p:sp>
            <p:nvSpPr>
              <p:cNvPr id="37" name="Arrow: Right 36">
                <a:extLst>
                  <a:ext uri="{FF2B5EF4-FFF2-40B4-BE49-F238E27FC236}">
                    <a16:creationId xmlns:a16="http://schemas.microsoft.com/office/drawing/2014/main" id="{EA986BE6-5AF5-4CE7-9A24-3EB11ED0EF13}"/>
                  </a:ext>
                </a:extLst>
              </p:cNvPr>
              <p:cNvSpPr/>
              <p:nvPr/>
            </p:nvSpPr>
            <p:spPr>
              <a:xfrm>
                <a:off x="9697720" y="3289300"/>
                <a:ext cx="157480" cy="139700"/>
              </a:xfrm>
              <a:prstGeom prst="rightArrow">
                <a:avLst/>
              </a:prstGeom>
              <a:solidFill>
                <a:srgbClr val="00C2CC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3EEA81B7-9AA6-AC9B-A8EE-8516DA5038FB}"/>
                  </a:ext>
                </a:extLst>
              </p:cNvPr>
              <p:cNvGrpSpPr/>
              <p:nvPr/>
            </p:nvGrpSpPr>
            <p:grpSpPr>
              <a:xfrm>
                <a:off x="9852660" y="2528570"/>
                <a:ext cx="1587500" cy="1651000"/>
                <a:chOff x="9740900" y="2508250"/>
                <a:chExt cx="1587500" cy="1651000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7E76C487-CBD7-44CF-8D75-224AAD4C5A9B}"/>
                    </a:ext>
                  </a:extLst>
                </p:cNvPr>
                <p:cNvSpPr/>
                <p:nvPr/>
              </p:nvSpPr>
              <p:spPr>
                <a:xfrm>
                  <a:off x="9740900" y="2508250"/>
                  <a:ext cx="1587500" cy="1651000"/>
                </a:xfrm>
                <a:prstGeom prst="rect">
                  <a:avLst/>
                </a:prstGeom>
                <a:solidFill>
                  <a:srgbClr val="102C56"/>
                </a:solidFill>
                <a:ln w="12700" cap="flat" cmpd="sng" algn="ctr">
                  <a:solidFill>
                    <a:srgbClr val="00C2CC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clip" horzOverflow="clip" rtlCol="0" anchor="t"/>
                <a:lstStyle/>
                <a:p>
                  <a:pPr algn="l"/>
                  <a:endParaRPr lang="en-GB"/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8B9CDD0F-E80A-A4F6-4A73-1D4F0962A348}"/>
                    </a:ext>
                  </a:extLst>
                </p:cNvPr>
                <p:cNvGrpSpPr/>
                <p:nvPr/>
              </p:nvGrpSpPr>
              <p:grpSpPr>
                <a:xfrm>
                  <a:off x="9740900" y="2514600"/>
                  <a:ext cx="1587500" cy="1574800"/>
                  <a:chOff x="9334500" y="2540000"/>
                  <a:chExt cx="1587500" cy="1574800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929BCB93-ABA0-4EFF-AA4D-FFE8A5A47811}"/>
                      </a:ext>
                    </a:extLst>
                  </p:cNvPr>
                  <p:cNvSpPr/>
                  <p:nvPr/>
                </p:nvSpPr>
                <p:spPr>
                  <a:xfrm>
                    <a:off x="9334500" y="2540000"/>
                    <a:ext cx="1587500" cy="63500"/>
                  </a:xfrm>
                  <a:prstGeom prst="rect">
                    <a:avLst/>
                  </a:prstGeom>
                  <a:solidFill>
                    <a:srgbClr val="00C2CC"/>
                  </a:solidFill>
                  <a:ln w="12700" cap="flat" cmpd="sng" algn="ctr">
                    <a:noFill/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clip" horzOverflow="clip" rtlCol="0" anchor="t"/>
                  <a:lstStyle/>
                  <a:p>
                    <a:pPr algn="l"/>
                    <a:endParaRPr lang="en-GB"/>
                  </a:p>
                </p:txBody>
              </p:sp>
              <p:sp>
                <p:nvSpPr>
                  <p:cNvPr id="40" name="Num5">
                    <a:extLst>
                      <a:ext uri="{FF2B5EF4-FFF2-40B4-BE49-F238E27FC236}">
                        <a16:creationId xmlns:a16="http://schemas.microsoft.com/office/drawing/2014/main" id="{DA46A68A-09AB-4EFA-8985-5C0FC1A76BBC}"/>
                      </a:ext>
                    </a:extLst>
                  </p:cNvPr>
                  <p:cNvSpPr txBox="1"/>
                  <p:nvPr/>
                </p:nvSpPr>
                <p:spPr>
                  <a:xfrm>
                    <a:off x="9486900" y="2743200"/>
                    <a:ext cx="1016000" cy="381000"/>
                  </a:xfrm>
                  <a:prstGeom prst="rect">
                    <a:avLst/>
                  </a:prstGeom>
                  <a:noFill/>
                </p:spPr>
                <p:txBody>
                  <a:bodyPr vertOverflow="overflow" vert="horz" wrap="square" rtlCol="0" anchor="t">
                    <a:noAutofit/>
                  </a:bodyPr>
                  <a:lstStyle/>
                  <a:p>
                    <a:pPr>
                      <a:buNone/>
                    </a:pPr>
                    <a:r>
                      <a:rPr lang="en-US" sz="1800" b="1" dirty="0">
                        <a:solidFill>
                          <a:srgbClr val="00C2CC"/>
                        </a:solidFill>
                      </a:rPr>
                      <a:t>06</a:t>
                    </a:r>
                  </a:p>
                </p:txBody>
              </p:sp>
              <p:sp>
                <p:nvSpPr>
                  <p:cNvPr id="41" name="T5">
                    <a:extLst>
                      <a:ext uri="{FF2B5EF4-FFF2-40B4-BE49-F238E27FC236}">
                        <a16:creationId xmlns:a16="http://schemas.microsoft.com/office/drawing/2014/main" id="{F6E42A53-07D3-432C-8594-AFE8DBBD502A}"/>
                      </a:ext>
                    </a:extLst>
                  </p:cNvPr>
                  <p:cNvSpPr txBox="1"/>
                  <p:nvPr/>
                </p:nvSpPr>
                <p:spPr>
                  <a:xfrm>
                    <a:off x="9486900" y="3225800"/>
                    <a:ext cx="1282700" cy="381000"/>
                  </a:xfrm>
                  <a:prstGeom prst="rect">
                    <a:avLst/>
                  </a:prstGeom>
                  <a:noFill/>
                </p:spPr>
                <p:txBody>
                  <a:bodyPr vertOverflow="overflow" vert="horz" wrap="square" rtlCol="0" anchor="t">
                    <a:noAutofit/>
                  </a:bodyPr>
                  <a:lstStyle/>
                  <a:p>
                    <a:pPr>
                      <a:buNone/>
                    </a:pPr>
                    <a:r>
                      <a:rPr lang="en-US" sz="1500" b="1" dirty="0">
                        <a:solidFill>
                          <a:srgbClr val="FFFFFF"/>
                        </a:solidFill>
                      </a:rPr>
                      <a:t>Resilience</a:t>
                    </a:r>
                  </a:p>
                </p:txBody>
              </p:sp>
              <p:sp>
                <p:nvSpPr>
                  <p:cNvPr id="42" name="S5">
                    <a:extLst>
                      <a:ext uri="{FF2B5EF4-FFF2-40B4-BE49-F238E27FC236}">
                        <a16:creationId xmlns:a16="http://schemas.microsoft.com/office/drawing/2014/main" id="{9761ADD4-042A-4260-9892-FB8501E5ED41}"/>
                      </a:ext>
                    </a:extLst>
                  </p:cNvPr>
                  <p:cNvSpPr txBox="1"/>
                  <p:nvPr/>
                </p:nvSpPr>
                <p:spPr>
                  <a:xfrm>
                    <a:off x="9486900" y="3657600"/>
                    <a:ext cx="1282700" cy="457200"/>
                  </a:xfrm>
                  <a:prstGeom prst="rect">
                    <a:avLst/>
                  </a:prstGeom>
                  <a:noFill/>
                </p:spPr>
                <p:txBody>
                  <a:bodyPr vertOverflow="overflow" vert="horz" wrap="square" rtlCol="0" anchor="t">
                    <a:noAutofit/>
                  </a:bodyPr>
                  <a:lstStyle/>
                  <a:p>
                    <a:pPr>
                      <a:lnSpc>
                        <a:spcPts val="1300"/>
                      </a:lnSpc>
                      <a:buNone/>
                    </a:pPr>
                    <a:r>
                      <a:rPr lang="en-US" sz="1100" dirty="0">
                        <a:solidFill>
                          <a:srgbClr val="D6EAF8"/>
                        </a:solidFill>
                      </a:rPr>
                      <a:t>Drift · cyber · SHAP</a:t>
                    </a:r>
                  </a:p>
                </p:txBody>
              </p:sp>
            </p:grpSp>
          </p:grpSp>
          <p:sp>
            <p:nvSpPr>
              <p:cNvPr id="66" name="Arrow: Right 65">
                <a:extLst>
                  <a:ext uri="{FF2B5EF4-FFF2-40B4-BE49-F238E27FC236}">
                    <a16:creationId xmlns:a16="http://schemas.microsoft.com/office/drawing/2014/main" id="{3875D243-8953-70CA-6A5C-84EA14168873}"/>
                  </a:ext>
                </a:extLst>
              </p:cNvPr>
              <p:cNvSpPr/>
              <p:nvPr/>
            </p:nvSpPr>
            <p:spPr>
              <a:xfrm>
                <a:off x="7960360" y="3329940"/>
                <a:ext cx="157480" cy="139700"/>
              </a:xfrm>
              <a:prstGeom prst="rightArrow">
                <a:avLst/>
              </a:prstGeom>
              <a:solidFill>
                <a:srgbClr val="00C2CC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67" name="Arrow: Right 66">
                <a:extLst>
                  <a:ext uri="{FF2B5EF4-FFF2-40B4-BE49-F238E27FC236}">
                    <a16:creationId xmlns:a16="http://schemas.microsoft.com/office/drawing/2014/main" id="{AD84E235-0B3B-156B-D65D-77CECE4D9BE6}"/>
                  </a:ext>
                </a:extLst>
              </p:cNvPr>
              <p:cNvSpPr/>
              <p:nvPr/>
            </p:nvSpPr>
            <p:spPr>
              <a:xfrm>
                <a:off x="6212840" y="3319780"/>
                <a:ext cx="157480" cy="139700"/>
              </a:xfrm>
              <a:prstGeom prst="rightArrow">
                <a:avLst/>
              </a:prstGeom>
              <a:solidFill>
                <a:srgbClr val="00C2CC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68" name="Arrow: Right 67">
                <a:extLst>
                  <a:ext uri="{FF2B5EF4-FFF2-40B4-BE49-F238E27FC236}">
                    <a16:creationId xmlns:a16="http://schemas.microsoft.com/office/drawing/2014/main" id="{8712976F-D7FF-0D45-41B6-BF9EBAF983F4}"/>
                  </a:ext>
                </a:extLst>
              </p:cNvPr>
              <p:cNvSpPr/>
              <p:nvPr/>
            </p:nvSpPr>
            <p:spPr>
              <a:xfrm>
                <a:off x="4485640" y="3319780"/>
                <a:ext cx="157480" cy="139700"/>
              </a:xfrm>
              <a:prstGeom prst="rightArrow">
                <a:avLst/>
              </a:prstGeom>
              <a:solidFill>
                <a:srgbClr val="00C2CC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71" name="Arrow: Right 70">
                <a:extLst>
                  <a:ext uri="{FF2B5EF4-FFF2-40B4-BE49-F238E27FC236}">
                    <a16:creationId xmlns:a16="http://schemas.microsoft.com/office/drawing/2014/main" id="{F7FF417C-C46F-AEBD-38B8-C86283C2A26E}"/>
                  </a:ext>
                </a:extLst>
              </p:cNvPr>
              <p:cNvSpPr/>
              <p:nvPr/>
            </p:nvSpPr>
            <p:spPr>
              <a:xfrm>
                <a:off x="2748280" y="3329940"/>
                <a:ext cx="157480" cy="139700"/>
              </a:xfrm>
              <a:prstGeom prst="rightArrow">
                <a:avLst/>
              </a:prstGeom>
              <a:solidFill>
                <a:srgbClr val="00C2CC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0841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04970E31-86A0-4F38-9639-0395C6964007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">
            <a:extLst>
              <a:ext uri="{FF2B5EF4-FFF2-40B4-BE49-F238E27FC236}">
                <a16:creationId xmlns:a16="http://schemas.microsoft.com/office/drawing/2014/main" id="{93575972-E3C8-40BA-9CC9-E0867C33A6C6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C82AD1B4-0A3A-44CC-88F3-4B0024DE3E4C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F2DA90B-20D8-4A50-85DE-79971707047E}"/>
              </a:ext>
            </a:extLst>
          </p:cNvPr>
          <p:cNvSpPr txBox="1"/>
          <p:nvPr/>
        </p:nvSpPr>
        <p:spPr>
          <a:xfrm>
            <a:off x="1143000" y="45720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&amp; chronological split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5F3C6F4E-2E23-4710-93BD-E62C8246660A}"/>
              </a:ext>
            </a:extLst>
          </p:cNvPr>
          <p:cNvSpPr txBox="1"/>
          <p:nvPr/>
        </p:nvSpPr>
        <p:spPr>
          <a:xfrm>
            <a:off x="1143000" y="105410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D6EAF8"/>
                </a:solidFill>
              </a:rPr>
              <a:t>Daily market data · 2010–2024 · time-ordered to prevent leakage</a:t>
            </a:r>
          </a:p>
        </p:txBody>
      </p:sp>
      <p:sp>
        <p:nvSpPr>
          <p:cNvPr id="7" name="Div">
            <a:extLst>
              <a:ext uri="{FF2B5EF4-FFF2-40B4-BE49-F238E27FC236}">
                <a16:creationId xmlns:a16="http://schemas.microsoft.com/office/drawing/2014/main" id="{1FB0334F-C741-400E-98C5-62DCB28C3D42}"/>
              </a:ext>
            </a:extLst>
          </p:cNvPr>
          <p:cNvSpPr/>
          <p:nvPr/>
        </p:nvSpPr>
        <p:spPr>
          <a:xfrm>
            <a:off x="1143000" y="148590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B3B790-1EFC-01EE-6BED-B54D8782AB6F}"/>
              </a:ext>
            </a:extLst>
          </p:cNvPr>
          <p:cNvGrpSpPr/>
          <p:nvPr/>
        </p:nvGrpSpPr>
        <p:grpSpPr>
          <a:xfrm>
            <a:off x="1143000" y="2034540"/>
            <a:ext cx="4572000" cy="3810000"/>
            <a:chOff x="1143000" y="2146300"/>
            <a:chExt cx="4572000" cy="3810000"/>
          </a:xfrm>
        </p:grpSpPr>
        <p:sp>
          <p:nvSpPr>
            <p:cNvPr id="8" name="DSCard">
              <a:extLst>
                <a:ext uri="{FF2B5EF4-FFF2-40B4-BE49-F238E27FC236}">
                  <a16:creationId xmlns:a16="http://schemas.microsoft.com/office/drawing/2014/main" id="{6448A37F-51F7-4F86-9AE1-4950E5158FF3}"/>
                </a:ext>
              </a:extLst>
            </p:cNvPr>
            <p:cNvSpPr/>
            <p:nvPr/>
          </p:nvSpPr>
          <p:spPr>
            <a:xfrm>
              <a:off x="1143000" y="2146300"/>
              <a:ext cx="4572000" cy="3810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9" name="DSStrip">
              <a:extLst>
                <a:ext uri="{FF2B5EF4-FFF2-40B4-BE49-F238E27FC236}">
                  <a16:creationId xmlns:a16="http://schemas.microsoft.com/office/drawing/2014/main" id="{96998BD4-0B82-4920-85A1-C6BF333474BA}"/>
                </a:ext>
              </a:extLst>
            </p:cNvPr>
            <p:cNvSpPr/>
            <p:nvPr/>
          </p:nvSpPr>
          <p:spPr>
            <a:xfrm>
              <a:off x="1143000" y="2146300"/>
              <a:ext cx="4572000" cy="762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0" name="DSTag">
              <a:extLst>
                <a:ext uri="{FF2B5EF4-FFF2-40B4-BE49-F238E27FC236}">
                  <a16:creationId xmlns:a16="http://schemas.microsoft.com/office/drawing/2014/main" id="{FE3539B3-9734-4633-B973-AA1A6DC68787}"/>
                </a:ext>
              </a:extLst>
            </p:cNvPr>
            <p:cNvSpPr txBox="1"/>
            <p:nvPr/>
          </p:nvSpPr>
          <p:spPr>
            <a:xfrm>
              <a:off x="1397000" y="2400300"/>
              <a:ext cx="254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200" b="1" spc="300" dirty="0">
                  <a:solidFill>
                    <a:srgbClr val="00C2CC"/>
                  </a:solidFill>
                </a:rPr>
                <a:t>DATASET</a:t>
              </a:r>
            </a:p>
          </p:txBody>
        </p:sp>
        <p:sp>
          <p:nvSpPr>
            <p:cNvPr id="11" name="DSTitle">
              <a:extLst>
                <a:ext uri="{FF2B5EF4-FFF2-40B4-BE49-F238E27FC236}">
                  <a16:creationId xmlns:a16="http://schemas.microsoft.com/office/drawing/2014/main" id="{4627E50C-FACA-41F7-9394-C0D3F70BA527}"/>
                </a:ext>
              </a:extLst>
            </p:cNvPr>
            <p:cNvSpPr txBox="1"/>
            <p:nvPr/>
          </p:nvSpPr>
          <p:spPr>
            <a:xfrm>
              <a:off x="1397000" y="2781300"/>
              <a:ext cx="4064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900" b="1" dirty="0">
                  <a:solidFill>
                    <a:srgbClr val="FFFFFF"/>
                  </a:solidFill>
                </a:rPr>
                <a:t>Yahoo Finance — 10 major assets</a:t>
              </a:r>
            </a:p>
          </p:txBody>
        </p:sp>
        <p:sp>
          <p:nvSpPr>
            <p:cNvPr id="12" name="DSPeriod">
              <a:extLst>
                <a:ext uri="{FF2B5EF4-FFF2-40B4-BE49-F238E27FC236}">
                  <a16:creationId xmlns:a16="http://schemas.microsoft.com/office/drawing/2014/main" id="{38E30DA3-663B-4E4A-895B-FDF36DD5F0E4}"/>
                </a:ext>
              </a:extLst>
            </p:cNvPr>
            <p:cNvSpPr txBox="1"/>
            <p:nvPr/>
          </p:nvSpPr>
          <p:spPr>
            <a:xfrm>
              <a:off x="1397000" y="3289300"/>
              <a:ext cx="4064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dirty="0">
                  <a:solidFill>
                    <a:srgbClr val="D6EAF8"/>
                  </a:solidFill>
                </a:rPr>
                <a:t>2010 — 2024 · daily OHLCV</a:t>
              </a:r>
            </a:p>
          </p:txBody>
        </p:sp>
        <p:sp>
          <p:nvSpPr>
            <p:cNvPr id="13" name="DSL1">
              <a:extLst>
                <a:ext uri="{FF2B5EF4-FFF2-40B4-BE49-F238E27FC236}">
                  <a16:creationId xmlns:a16="http://schemas.microsoft.com/office/drawing/2014/main" id="{0E1818AE-7E28-4F5F-9FAF-DB08EA556B31}"/>
                </a:ext>
              </a:extLst>
            </p:cNvPr>
            <p:cNvSpPr txBox="1"/>
            <p:nvPr/>
          </p:nvSpPr>
          <p:spPr>
            <a:xfrm>
              <a:off x="1397000" y="3733800"/>
              <a:ext cx="4064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400" dirty="0">
                  <a:solidFill>
                    <a:srgbClr val="D6EAF8"/>
                  </a:solidFill>
                </a:rPr>
                <a:t>15 engineered features</a:t>
              </a:r>
            </a:p>
          </p:txBody>
        </p:sp>
        <p:sp>
          <p:nvSpPr>
            <p:cNvPr id="14" name="DSL2">
              <a:extLst>
                <a:ext uri="{FF2B5EF4-FFF2-40B4-BE49-F238E27FC236}">
                  <a16:creationId xmlns:a16="http://schemas.microsoft.com/office/drawing/2014/main" id="{5A384E01-310A-4506-BFF1-3EB889F3C2AB}"/>
                </a:ext>
              </a:extLst>
            </p:cNvPr>
            <p:cNvSpPr txBox="1"/>
            <p:nvPr/>
          </p:nvSpPr>
          <p:spPr>
            <a:xfrm>
              <a:off x="1397000" y="4089400"/>
              <a:ext cx="4064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400" dirty="0">
                  <a:solidFill>
                    <a:srgbClr val="D6EAF8"/>
                  </a:solidFill>
                </a:rPr>
                <a:t>Returns · volatility · momentum · drawdown</a:t>
              </a:r>
            </a:p>
          </p:txBody>
        </p:sp>
        <p:sp>
          <p:nvSpPr>
            <p:cNvPr id="15" name="DSL3">
              <a:extLst>
                <a:ext uri="{FF2B5EF4-FFF2-40B4-BE49-F238E27FC236}">
                  <a16:creationId xmlns:a16="http://schemas.microsoft.com/office/drawing/2014/main" id="{B0FD07F2-775F-4EEE-B77B-46AA7E872632}"/>
                </a:ext>
              </a:extLst>
            </p:cNvPr>
            <p:cNvSpPr txBox="1"/>
            <p:nvPr/>
          </p:nvSpPr>
          <p:spPr>
            <a:xfrm>
              <a:off x="1397000" y="4445000"/>
              <a:ext cx="4064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400" dirty="0">
                  <a:solidFill>
                    <a:srgbClr val="D6EAF8"/>
                  </a:solidFill>
                </a:rPr>
                <a:t>Binary supervised target:</a:t>
              </a:r>
            </a:p>
          </p:txBody>
        </p:sp>
        <p:sp>
          <p:nvSpPr>
            <p:cNvPr id="16" name="DSL4">
              <a:extLst>
                <a:ext uri="{FF2B5EF4-FFF2-40B4-BE49-F238E27FC236}">
                  <a16:creationId xmlns:a16="http://schemas.microsoft.com/office/drawing/2014/main" id="{38099A29-C473-4A24-84AA-8F5F350B5F21}"/>
                </a:ext>
              </a:extLst>
            </p:cNvPr>
            <p:cNvSpPr txBox="1"/>
            <p:nvPr/>
          </p:nvSpPr>
          <p:spPr>
            <a:xfrm>
              <a:off x="1397000" y="4800600"/>
              <a:ext cx="4064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400" b="1" dirty="0">
                  <a:solidFill>
                    <a:srgbClr val="00C2CC"/>
                  </a:solidFill>
                </a:rPr>
                <a:t>5-day forward return ≤ −3 %</a:t>
              </a:r>
            </a:p>
          </p:txBody>
        </p:sp>
        <p:sp>
          <p:nvSpPr>
            <p:cNvPr id="17" name="DSL5">
              <a:extLst>
                <a:ext uri="{FF2B5EF4-FFF2-40B4-BE49-F238E27FC236}">
                  <a16:creationId xmlns:a16="http://schemas.microsoft.com/office/drawing/2014/main" id="{FB22FC8A-8451-4893-81BE-3DFFCFBC0996}"/>
                </a:ext>
              </a:extLst>
            </p:cNvPr>
            <p:cNvSpPr txBox="1"/>
            <p:nvPr/>
          </p:nvSpPr>
          <p:spPr>
            <a:xfrm>
              <a:off x="1397000" y="5257800"/>
              <a:ext cx="4064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i="1" dirty="0">
                  <a:solidFill>
                    <a:srgbClr val="8FB7D6"/>
                  </a:solidFill>
                </a:rPr>
                <a:t>Sources: Cartea et al. 2015; Lopez de Prado 2018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12BB4C-F0E7-680F-EC52-2D299EED3B76}"/>
              </a:ext>
            </a:extLst>
          </p:cNvPr>
          <p:cNvGrpSpPr/>
          <p:nvPr/>
        </p:nvGrpSpPr>
        <p:grpSpPr>
          <a:xfrm>
            <a:off x="6096000" y="1871980"/>
            <a:ext cx="4826000" cy="4163060"/>
            <a:chOff x="6096000" y="2146300"/>
            <a:chExt cx="4826000" cy="4163060"/>
          </a:xfrm>
        </p:grpSpPr>
        <p:sp>
          <p:nvSpPr>
            <p:cNvPr id="18" name="SplitHdr">
              <a:extLst>
                <a:ext uri="{FF2B5EF4-FFF2-40B4-BE49-F238E27FC236}">
                  <a16:creationId xmlns:a16="http://schemas.microsoft.com/office/drawing/2014/main" id="{9586652D-E4FB-419F-807B-EAE87C49DAD9}"/>
                </a:ext>
              </a:extLst>
            </p:cNvPr>
            <p:cNvSpPr txBox="1"/>
            <p:nvPr/>
          </p:nvSpPr>
          <p:spPr>
            <a:xfrm>
              <a:off x="6096000" y="2146300"/>
              <a:ext cx="4826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Chronological train · validation · test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EEB1250-54B6-6D35-DFEE-53411A4C41B4}"/>
                </a:ext>
              </a:extLst>
            </p:cNvPr>
            <p:cNvGrpSpPr/>
            <p:nvPr/>
          </p:nvGrpSpPr>
          <p:grpSpPr>
            <a:xfrm>
              <a:off x="6096000" y="2677160"/>
              <a:ext cx="4191000" cy="3632200"/>
              <a:chOff x="6096000" y="2717800"/>
              <a:chExt cx="4191000" cy="3632200"/>
            </a:xfrm>
          </p:grpSpPr>
          <p:sp>
            <p:nvSpPr>
              <p:cNvPr id="19" name="Row0Tag">
                <a:extLst>
                  <a:ext uri="{FF2B5EF4-FFF2-40B4-BE49-F238E27FC236}">
                    <a16:creationId xmlns:a16="http://schemas.microsoft.com/office/drawing/2014/main" id="{09E1932A-9900-4FDA-9D10-C67F20797BA5}"/>
                  </a:ext>
                </a:extLst>
              </p:cNvPr>
              <p:cNvSpPr txBox="1"/>
              <p:nvPr/>
            </p:nvSpPr>
            <p:spPr>
              <a:xfrm>
                <a:off x="6096000" y="2717800"/>
                <a:ext cx="2032000" cy="279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100" b="1" spc="200" dirty="0">
                    <a:solidFill>
                      <a:srgbClr val="00C2CC"/>
                    </a:solidFill>
                  </a:rPr>
                  <a:t>TRAIN</a:t>
                </a:r>
              </a:p>
            </p:txBody>
          </p:sp>
          <p:sp>
            <p:nvSpPr>
              <p:cNvPr id="20" name="Row0BgBar">
                <a:extLst>
                  <a:ext uri="{FF2B5EF4-FFF2-40B4-BE49-F238E27FC236}">
                    <a16:creationId xmlns:a16="http://schemas.microsoft.com/office/drawing/2014/main" id="{607F0926-36C1-4F3D-8B6C-7D113D533BDC}"/>
                  </a:ext>
                </a:extLst>
              </p:cNvPr>
              <p:cNvSpPr/>
              <p:nvPr/>
            </p:nvSpPr>
            <p:spPr>
              <a:xfrm>
                <a:off x="6096000" y="3098800"/>
                <a:ext cx="4191000" cy="228600"/>
              </a:xfrm>
              <a:prstGeom prst="rect">
                <a:avLst/>
              </a:prstGeom>
              <a:solidFill>
                <a:srgbClr val="1A325A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21" name="Row0Bar">
                <a:extLst>
                  <a:ext uri="{FF2B5EF4-FFF2-40B4-BE49-F238E27FC236}">
                    <a16:creationId xmlns:a16="http://schemas.microsoft.com/office/drawing/2014/main" id="{66FB0511-E62C-45B4-8194-2C6E0755A389}"/>
                  </a:ext>
                </a:extLst>
              </p:cNvPr>
              <p:cNvSpPr/>
              <p:nvPr/>
            </p:nvSpPr>
            <p:spPr>
              <a:xfrm>
                <a:off x="6096000" y="3098800"/>
                <a:ext cx="2921000" cy="228600"/>
              </a:xfrm>
              <a:prstGeom prst="rect">
                <a:avLst/>
              </a:prstGeom>
              <a:solidFill>
                <a:srgbClr val="00C2CC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22" name="Row0Stats">
                <a:extLst>
                  <a:ext uri="{FF2B5EF4-FFF2-40B4-BE49-F238E27FC236}">
                    <a16:creationId xmlns:a16="http://schemas.microsoft.com/office/drawing/2014/main" id="{B1E3332F-F35A-4CEB-8624-FF7B90DA70BC}"/>
                  </a:ext>
                </a:extLst>
              </p:cNvPr>
              <p:cNvSpPr txBox="1"/>
              <p:nvPr/>
            </p:nvSpPr>
            <p:spPr>
              <a:xfrm>
                <a:off x="6096000" y="3403600"/>
                <a:ext cx="4191000" cy="228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300" dirty="0">
                    <a:solidFill>
                      <a:srgbClr val="D6EAF8"/>
                    </a:solidFill>
                  </a:rPr>
                  <a:t>24,470 rows  ·  2010-02 → 2019-10  ·  event rate 12.3 %</a:t>
                </a:r>
              </a:p>
            </p:txBody>
          </p:sp>
          <p:sp>
            <p:nvSpPr>
              <p:cNvPr id="23" name="Row1Tag">
                <a:extLst>
                  <a:ext uri="{FF2B5EF4-FFF2-40B4-BE49-F238E27FC236}">
                    <a16:creationId xmlns:a16="http://schemas.microsoft.com/office/drawing/2014/main" id="{EF3E36CA-21A8-4277-BEA3-967E9BFAE49B}"/>
                  </a:ext>
                </a:extLst>
              </p:cNvPr>
              <p:cNvSpPr txBox="1"/>
              <p:nvPr/>
            </p:nvSpPr>
            <p:spPr>
              <a:xfrm>
                <a:off x="6096000" y="3606800"/>
                <a:ext cx="2032000" cy="279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100" b="1" spc="200" dirty="0">
                    <a:solidFill>
                      <a:srgbClr val="00C2CC"/>
                    </a:solidFill>
                  </a:rPr>
                  <a:t>VALIDATION</a:t>
                </a:r>
              </a:p>
            </p:txBody>
          </p:sp>
          <p:sp>
            <p:nvSpPr>
              <p:cNvPr id="24" name="Row1BgBar">
                <a:extLst>
                  <a:ext uri="{FF2B5EF4-FFF2-40B4-BE49-F238E27FC236}">
                    <a16:creationId xmlns:a16="http://schemas.microsoft.com/office/drawing/2014/main" id="{64B2DCB8-D91A-4AAB-BEEE-75CF45EA2D73}"/>
                  </a:ext>
                </a:extLst>
              </p:cNvPr>
              <p:cNvSpPr/>
              <p:nvPr/>
            </p:nvSpPr>
            <p:spPr>
              <a:xfrm>
                <a:off x="6096000" y="3987800"/>
                <a:ext cx="4191000" cy="228600"/>
              </a:xfrm>
              <a:prstGeom prst="rect">
                <a:avLst/>
              </a:prstGeom>
              <a:solidFill>
                <a:srgbClr val="1A325A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25" name="Row1Bar">
                <a:extLst>
                  <a:ext uri="{FF2B5EF4-FFF2-40B4-BE49-F238E27FC236}">
                    <a16:creationId xmlns:a16="http://schemas.microsoft.com/office/drawing/2014/main" id="{F76F71E3-9216-4057-A178-52D385B52352}"/>
                  </a:ext>
                </a:extLst>
              </p:cNvPr>
              <p:cNvSpPr/>
              <p:nvPr/>
            </p:nvSpPr>
            <p:spPr>
              <a:xfrm>
                <a:off x="6096000" y="3987800"/>
                <a:ext cx="635000" cy="228600"/>
              </a:xfrm>
              <a:prstGeom prst="rect">
                <a:avLst/>
              </a:prstGeom>
              <a:solidFill>
                <a:srgbClr val="1FB6B9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26" name="Row1Stats">
                <a:extLst>
                  <a:ext uri="{FF2B5EF4-FFF2-40B4-BE49-F238E27FC236}">
                    <a16:creationId xmlns:a16="http://schemas.microsoft.com/office/drawing/2014/main" id="{3F3D58E3-206D-47E1-B57C-B9593320F09F}"/>
                  </a:ext>
                </a:extLst>
              </p:cNvPr>
              <p:cNvSpPr txBox="1"/>
              <p:nvPr/>
            </p:nvSpPr>
            <p:spPr>
              <a:xfrm>
                <a:off x="6096000" y="4292600"/>
                <a:ext cx="4191000" cy="228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300" dirty="0">
                    <a:solidFill>
                      <a:srgbClr val="D6EAF8"/>
                    </a:solidFill>
                  </a:rPr>
                  <a:t>5,250 rows  ·  2019-10 → 2021-11  ·  event rate 14.2 %</a:t>
                </a:r>
              </a:p>
            </p:txBody>
          </p:sp>
          <p:sp>
            <p:nvSpPr>
              <p:cNvPr id="27" name="Row2Tag">
                <a:extLst>
                  <a:ext uri="{FF2B5EF4-FFF2-40B4-BE49-F238E27FC236}">
                    <a16:creationId xmlns:a16="http://schemas.microsoft.com/office/drawing/2014/main" id="{C55D4F6D-F477-4335-BC48-4D3CA556B68C}"/>
                  </a:ext>
                </a:extLst>
              </p:cNvPr>
              <p:cNvSpPr txBox="1"/>
              <p:nvPr/>
            </p:nvSpPr>
            <p:spPr>
              <a:xfrm>
                <a:off x="6096000" y="4495800"/>
                <a:ext cx="2032000" cy="279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100" b="1" spc="200" dirty="0">
                    <a:solidFill>
                      <a:srgbClr val="00C2CC"/>
                    </a:solidFill>
                  </a:rPr>
                  <a:t>TEST</a:t>
                </a:r>
              </a:p>
            </p:txBody>
          </p:sp>
          <p:sp>
            <p:nvSpPr>
              <p:cNvPr id="28" name="Row2BgBar">
                <a:extLst>
                  <a:ext uri="{FF2B5EF4-FFF2-40B4-BE49-F238E27FC236}">
                    <a16:creationId xmlns:a16="http://schemas.microsoft.com/office/drawing/2014/main" id="{21E4D410-8735-40C4-9880-4D78705E8C1C}"/>
                  </a:ext>
                </a:extLst>
              </p:cNvPr>
              <p:cNvSpPr/>
              <p:nvPr/>
            </p:nvSpPr>
            <p:spPr>
              <a:xfrm>
                <a:off x="6096000" y="4876800"/>
                <a:ext cx="4191000" cy="228600"/>
              </a:xfrm>
              <a:prstGeom prst="rect">
                <a:avLst/>
              </a:prstGeom>
              <a:solidFill>
                <a:srgbClr val="1A325A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29" name="Row2Bar">
                <a:extLst>
                  <a:ext uri="{FF2B5EF4-FFF2-40B4-BE49-F238E27FC236}">
                    <a16:creationId xmlns:a16="http://schemas.microsoft.com/office/drawing/2014/main" id="{4BFCECFD-074B-424A-BBBE-7C8D9445FEC6}"/>
                  </a:ext>
                </a:extLst>
              </p:cNvPr>
              <p:cNvSpPr/>
              <p:nvPr/>
            </p:nvSpPr>
            <p:spPr>
              <a:xfrm>
                <a:off x="6096000" y="4876800"/>
                <a:ext cx="635000" cy="228600"/>
              </a:xfrm>
              <a:prstGeom prst="rect">
                <a:avLst/>
              </a:prstGeom>
              <a:solidFill>
                <a:srgbClr val="7AD7DA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30" name="Row2Stats">
                <a:extLst>
                  <a:ext uri="{FF2B5EF4-FFF2-40B4-BE49-F238E27FC236}">
                    <a16:creationId xmlns:a16="http://schemas.microsoft.com/office/drawing/2014/main" id="{8DF55D76-A8F3-450E-8FC3-928D63BD6CC1}"/>
                  </a:ext>
                </a:extLst>
              </p:cNvPr>
              <p:cNvSpPr txBox="1"/>
              <p:nvPr/>
            </p:nvSpPr>
            <p:spPr>
              <a:xfrm>
                <a:off x="6096000" y="5181600"/>
                <a:ext cx="4191000" cy="228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300" dirty="0">
                    <a:solidFill>
                      <a:srgbClr val="D6EAF8"/>
                    </a:solidFill>
                  </a:rPr>
                  <a:t>5,250 rows  ·  2021-11 → 2024-04  ·  event rate 13.7%  ·  hold-out</a:t>
                </a:r>
              </a:p>
            </p:txBody>
          </p:sp>
          <p:sp>
            <p:nvSpPr>
              <p:cNvPr id="31" name="NoteBar">
                <a:extLst>
                  <a:ext uri="{FF2B5EF4-FFF2-40B4-BE49-F238E27FC236}">
                    <a16:creationId xmlns:a16="http://schemas.microsoft.com/office/drawing/2014/main" id="{79F46D7A-6441-48FC-8735-61EF6CC6E1E1}"/>
                  </a:ext>
                </a:extLst>
              </p:cNvPr>
              <p:cNvSpPr/>
              <p:nvPr/>
            </p:nvSpPr>
            <p:spPr>
              <a:xfrm>
                <a:off x="6096000" y="5721350"/>
                <a:ext cx="4191000" cy="628650"/>
              </a:xfrm>
              <a:prstGeom prst="rect">
                <a:avLst/>
              </a:prstGeom>
              <a:solidFill>
                <a:srgbClr val="102C56"/>
              </a:solidFill>
              <a:ln w="12700" cap="flat" cmpd="sng" algn="ctr">
                <a:solidFill>
                  <a:srgbClr val="00C2CC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GB"/>
              </a:p>
            </p:txBody>
          </p:sp>
          <p:sp>
            <p:nvSpPr>
              <p:cNvPr id="32" name="NoteTxt">
                <a:extLst>
                  <a:ext uri="{FF2B5EF4-FFF2-40B4-BE49-F238E27FC236}">
                    <a16:creationId xmlns:a16="http://schemas.microsoft.com/office/drawing/2014/main" id="{2F8B261E-F6A3-41E4-BE91-803A27DAE6A4}"/>
                  </a:ext>
                </a:extLst>
              </p:cNvPr>
              <p:cNvSpPr txBox="1"/>
              <p:nvPr/>
            </p:nvSpPr>
            <p:spPr>
              <a:xfrm>
                <a:off x="6223000" y="5740400"/>
                <a:ext cx="3937000" cy="279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100" b="1" dirty="0">
                    <a:solidFill>
                      <a:srgbClr val="D6EAF8"/>
                    </a:solidFill>
                  </a:rPr>
                  <a:t>Time-ordered split prevents look-ahead bias (Bergmeir &amp; Benítez 2012)</a:t>
                </a:r>
              </a:p>
              <a:p>
                <a:pPr>
                  <a:buNone/>
                </a:pPr>
                <a:r>
                  <a:rPr lang="en-US" sz="1000" i="1" dirty="0">
                    <a:solidFill>
                      <a:srgbClr val="D6EAF8"/>
                    </a:solidFill>
                  </a:rPr>
                  <a:t>Validation is used for threshold tuning; test remains final hold-out.</a:t>
                </a:r>
              </a:p>
            </p:txBody>
          </p:sp>
        </p:grpSp>
      </p:grpSp>
      <p:sp>
        <p:nvSpPr>
          <p:cNvPr id="33" name="Cite">
            <a:extLst>
              <a:ext uri="{FF2B5EF4-FFF2-40B4-BE49-F238E27FC236}">
                <a16:creationId xmlns:a16="http://schemas.microsoft.com/office/drawing/2014/main" id="{B50A8EBB-C69D-4EE6-897A-1D2D4CE954B6}"/>
              </a:ext>
            </a:extLst>
          </p:cNvPr>
          <p:cNvSpPr txBox="1"/>
          <p:nvPr/>
        </p:nvSpPr>
        <p:spPr>
          <a:xfrm>
            <a:off x="1143000" y="6121400"/>
            <a:ext cx="990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000" i="1" dirty="0">
                <a:solidFill>
                  <a:srgbClr val="8FB7D6"/>
                </a:solidFill>
              </a:rPr>
              <a:t>Refs: Bergmeir &amp; Benítez 2012 · Cerqueira et al. 2020 · Lopez de Prado 2018</a:t>
            </a:r>
          </a:p>
        </p:txBody>
      </p:sp>
      <p:sp>
        <p:nvSpPr>
          <p:cNvPr id="34" name="Footer">
            <a:extLst>
              <a:ext uri="{FF2B5EF4-FFF2-40B4-BE49-F238E27FC236}">
                <a16:creationId xmlns:a16="http://schemas.microsoft.com/office/drawing/2014/main" id="{5D8226E2-38CB-415A-978E-A3AFC6AFA626}"/>
              </a:ext>
            </a:extLst>
          </p:cNvPr>
          <p:cNvSpPr txBox="1"/>
          <p:nvPr/>
        </p:nvSpPr>
        <p:spPr>
          <a:xfrm>
            <a:off x="1143000" y="6385560"/>
            <a:ext cx="990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000" dirty="0">
                <a:solidFill>
                  <a:srgbClr val="D6EAF8"/>
                </a:solidFill>
              </a:rPr>
              <a:t>7 / 15  ·  LD7083  ·  w24037842</a:t>
            </a:r>
          </a:p>
        </p:txBody>
      </p:sp>
    </p:spTree>
    <p:extLst>
      <p:ext uri="{BB962C8B-B14F-4D97-AF65-F5344CB8AC3E}">
        <p14:creationId xmlns:p14="http://schemas.microsoft.com/office/powerpoint/2010/main" val="86144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9E3DA1AC-5F34-4E05-9470-8E0AF5F811BD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">
            <a:extLst>
              <a:ext uri="{FF2B5EF4-FFF2-40B4-BE49-F238E27FC236}">
                <a16:creationId xmlns:a16="http://schemas.microsoft.com/office/drawing/2014/main" id="{3F140612-C9DC-45A0-A937-2BA54D3DFB3C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4B050300-D355-47FA-B38E-AE4E4412D8F8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54BA9F13-BCE0-4A21-99A1-6EDBCD8EC690}"/>
              </a:ext>
            </a:extLst>
          </p:cNvPr>
          <p:cNvSpPr txBox="1"/>
          <p:nvPr/>
        </p:nvSpPr>
        <p:spPr>
          <a:xfrm>
            <a:off x="1143000" y="33401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Baseline performance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35DA5165-1193-4E56-B12C-3FCDFC060B7A}"/>
              </a:ext>
            </a:extLst>
          </p:cNvPr>
          <p:cNvSpPr txBox="1"/>
          <p:nvPr/>
        </p:nvSpPr>
        <p:spPr>
          <a:xfrm>
            <a:off x="1143000" y="90170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D6EAF8"/>
                </a:solidFill>
              </a:rPr>
              <a:t>Three classifiers · default 0.5 threshold · test split</a:t>
            </a:r>
          </a:p>
        </p:txBody>
      </p:sp>
      <p:sp>
        <p:nvSpPr>
          <p:cNvPr id="7" name="Div">
            <a:extLst>
              <a:ext uri="{FF2B5EF4-FFF2-40B4-BE49-F238E27FC236}">
                <a16:creationId xmlns:a16="http://schemas.microsoft.com/office/drawing/2014/main" id="{34689AD0-F571-4CD8-B426-3BDA759AFB32}"/>
              </a:ext>
            </a:extLst>
          </p:cNvPr>
          <p:cNvSpPr/>
          <p:nvPr/>
        </p:nvSpPr>
        <p:spPr>
          <a:xfrm>
            <a:off x="1143000" y="137541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AD7E5E0-B23C-4624-F822-210220A9FEF8}"/>
              </a:ext>
            </a:extLst>
          </p:cNvPr>
          <p:cNvGrpSpPr/>
          <p:nvPr/>
        </p:nvGrpSpPr>
        <p:grpSpPr>
          <a:xfrm>
            <a:off x="1143000" y="5902960"/>
            <a:ext cx="9906000" cy="287020"/>
            <a:chOff x="1143000" y="6075680"/>
            <a:chExt cx="9906000" cy="287020"/>
          </a:xfrm>
        </p:grpSpPr>
        <p:sp>
          <p:nvSpPr>
            <p:cNvPr id="52" name="Verdict">
              <a:extLst>
                <a:ext uri="{FF2B5EF4-FFF2-40B4-BE49-F238E27FC236}">
                  <a16:creationId xmlns:a16="http://schemas.microsoft.com/office/drawing/2014/main" id="{4726FCB7-8900-4DB3-B6C6-474507D64C9A}"/>
                </a:ext>
              </a:extLst>
            </p:cNvPr>
            <p:cNvSpPr/>
            <p:nvPr/>
          </p:nvSpPr>
          <p:spPr>
            <a:xfrm>
              <a:off x="1143000" y="6083300"/>
              <a:ext cx="9906000" cy="2794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53" name="VerdictTxt">
              <a:extLst>
                <a:ext uri="{FF2B5EF4-FFF2-40B4-BE49-F238E27FC236}">
                  <a16:creationId xmlns:a16="http://schemas.microsoft.com/office/drawing/2014/main" id="{B87749C3-6B90-4DE0-A132-6CF7326CE551}"/>
                </a:ext>
              </a:extLst>
            </p:cNvPr>
            <p:cNvSpPr txBox="1"/>
            <p:nvPr/>
          </p:nvSpPr>
          <p:spPr>
            <a:xfrm>
              <a:off x="1270000" y="6075680"/>
              <a:ext cx="9652000" cy="25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b="1" dirty="0">
                  <a:solidFill>
                    <a:srgbClr val="00C2CC"/>
                  </a:solidFill>
                </a:rPr>
                <a:t>Verdict:  </a:t>
              </a:r>
              <a:r>
                <a:rPr lang="en-US" sz="1300" dirty="0">
                  <a:solidFill>
                    <a:srgbClr val="D6EAF8"/>
                  </a:solidFill>
                </a:rPr>
                <a:t>LR gives the strongest event coverage at the default threshold.</a:t>
              </a:r>
            </a:p>
          </p:txBody>
        </p:sp>
      </p:grpSp>
      <p:sp>
        <p:nvSpPr>
          <p:cNvPr id="54" name="Footer">
            <a:extLst>
              <a:ext uri="{FF2B5EF4-FFF2-40B4-BE49-F238E27FC236}">
                <a16:creationId xmlns:a16="http://schemas.microsoft.com/office/drawing/2014/main" id="{AA6B83A6-B945-42D4-A9E1-F200FA425A8B}"/>
              </a:ext>
            </a:extLst>
          </p:cNvPr>
          <p:cNvSpPr txBox="1"/>
          <p:nvPr/>
        </p:nvSpPr>
        <p:spPr>
          <a:xfrm>
            <a:off x="1143000" y="6502400"/>
            <a:ext cx="9906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000" dirty="0">
                <a:solidFill>
                  <a:srgbClr val="D6EAF8"/>
                </a:solidFill>
              </a:rPr>
              <a:t>8 / 15  ·  LD7083  ·  w24037842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6E1F76D-77E6-1C53-9595-0BE490511C02}"/>
              </a:ext>
            </a:extLst>
          </p:cNvPr>
          <p:cNvGrpSpPr/>
          <p:nvPr/>
        </p:nvGrpSpPr>
        <p:grpSpPr>
          <a:xfrm>
            <a:off x="1143000" y="1739900"/>
            <a:ext cx="10020300" cy="3810000"/>
            <a:chOff x="1143000" y="1993900"/>
            <a:chExt cx="10020300" cy="3810000"/>
          </a:xfrm>
        </p:grpSpPr>
        <p:sp>
          <p:nvSpPr>
            <p:cNvPr id="8" name="Card0">
              <a:extLst>
                <a:ext uri="{FF2B5EF4-FFF2-40B4-BE49-F238E27FC236}">
                  <a16:creationId xmlns:a16="http://schemas.microsoft.com/office/drawing/2014/main" id="{75004F63-4B94-4B98-8FA6-5567F8B7ED27}"/>
                </a:ext>
              </a:extLst>
            </p:cNvPr>
            <p:cNvSpPr/>
            <p:nvPr/>
          </p:nvSpPr>
          <p:spPr>
            <a:xfrm>
              <a:off x="1143000" y="1993900"/>
              <a:ext cx="3238500" cy="3810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9" name="Strip0">
              <a:extLst>
                <a:ext uri="{FF2B5EF4-FFF2-40B4-BE49-F238E27FC236}">
                  <a16:creationId xmlns:a16="http://schemas.microsoft.com/office/drawing/2014/main" id="{A80643AA-212C-4F67-9D26-88EA8A022453}"/>
                </a:ext>
              </a:extLst>
            </p:cNvPr>
            <p:cNvSpPr/>
            <p:nvPr/>
          </p:nvSpPr>
          <p:spPr>
            <a:xfrm>
              <a:off x="1143000" y="1993900"/>
              <a:ext cx="3238500" cy="762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0" name="Tag0">
              <a:extLst>
                <a:ext uri="{FF2B5EF4-FFF2-40B4-BE49-F238E27FC236}">
                  <a16:creationId xmlns:a16="http://schemas.microsoft.com/office/drawing/2014/main" id="{79FA9B0B-1A96-4353-A0A3-154CBECA6C9A}"/>
                </a:ext>
              </a:extLst>
            </p:cNvPr>
            <p:cNvSpPr txBox="1"/>
            <p:nvPr/>
          </p:nvSpPr>
          <p:spPr>
            <a:xfrm>
              <a:off x="1371600" y="2273300"/>
              <a:ext cx="1016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400" b="1" spc="200" dirty="0">
                  <a:solidFill>
                    <a:srgbClr val="00C2CC"/>
                  </a:solidFill>
                </a:rPr>
                <a:t>LR</a:t>
              </a:r>
            </a:p>
          </p:txBody>
        </p:sp>
        <p:sp>
          <p:nvSpPr>
            <p:cNvPr id="11" name="Name0">
              <a:extLst>
                <a:ext uri="{FF2B5EF4-FFF2-40B4-BE49-F238E27FC236}">
                  <a16:creationId xmlns:a16="http://schemas.microsoft.com/office/drawing/2014/main" id="{5787C3BE-8EB4-45D8-AA4D-BC19201435F6}"/>
                </a:ext>
              </a:extLst>
            </p:cNvPr>
            <p:cNvSpPr txBox="1"/>
            <p:nvPr/>
          </p:nvSpPr>
          <p:spPr>
            <a:xfrm>
              <a:off x="1371600" y="2654300"/>
              <a:ext cx="27813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Logistic Regression</a:t>
              </a:r>
            </a:p>
          </p:txBody>
        </p:sp>
        <p:sp>
          <p:nvSpPr>
            <p:cNvPr id="12" name="ML0_0">
              <a:extLst>
                <a:ext uri="{FF2B5EF4-FFF2-40B4-BE49-F238E27FC236}">
                  <a16:creationId xmlns:a16="http://schemas.microsoft.com/office/drawing/2014/main" id="{011EECA1-2FBA-425F-82B9-6C227ED79FAB}"/>
                </a:ext>
              </a:extLst>
            </p:cNvPr>
            <p:cNvSpPr txBox="1"/>
            <p:nvPr/>
          </p:nvSpPr>
          <p:spPr>
            <a:xfrm>
              <a:off x="1371600" y="32385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Accuracy</a:t>
              </a:r>
            </a:p>
          </p:txBody>
        </p:sp>
        <p:sp>
          <p:nvSpPr>
            <p:cNvPr id="13" name="MV0_0">
              <a:extLst>
                <a:ext uri="{FF2B5EF4-FFF2-40B4-BE49-F238E27FC236}">
                  <a16:creationId xmlns:a16="http://schemas.microsoft.com/office/drawing/2014/main" id="{BE784622-2C97-4856-87B8-ABEA15014B3C}"/>
                </a:ext>
              </a:extLst>
            </p:cNvPr>
            <p:cNvSpPr txBox="1"/>
            <p:nvPr/>
          </p:nvSpPr>
          <p:spPr>
            <a:xfrm>
              <a:off x="2641600" y="32385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0.477</a:t>
              </a:r>
            </a:p>
          </p:txBody>
        </p:sp>
        <p:sp>
          <p:nvSpPr>
            <p:cNvPr id="14" name="ML0_1">
              <a:extLst>
                <a:ext uri="{FF2B5EF4-FFF2-40B4-BE49-F238E27FC236}">
                  <a16:creationId xmlns:a16="http://schemas.microsoft.com/office/drawing/2014/main" id="{FD7734C2-83D4-41D7-8CA4-207DE7C501E1}"/>
                </a:ext>
              </a:extLst>
            </p:cNvPr>
            <p:cNvSpPr txBox="1"/>
            <p:nvPr/>
          </p:nvSpPr>
          <p:spPr>
            <a:xfrm>
              <a:off x="1371600" y="36449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Precision</a:t>
              </a:r>
            </a:p>
          </p:txBody>
        </p:sp>
        <p:sp>
          <p:nvSpPr>
            <p:cNvPr id="15" name="MV0_1">
              <a:extLst>
                <a:ext uri="{FF2B5EF4-FFF2-40B4-BE49-F238E27FC236}">
                  <a16:creationId xmlns:a16="http://schemas.microsoft.com/office/drawing/2014/main" id="{BCA549FE-0CC5-4ABC-B047-7F40F9C7807C}"/>
                </a:ext>
              </a:extLst>
            </p:cNvPr>
            <p:cNvSpPr txBox="1"/>
            <p:nvPr/>
          </p:nvSpPr>
          <p:spPr>
            <a:xfrm>
              <a:off x="2641600" y="36449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0.235</a:t>
              </a:r>
            </a:p>
          </p:txBody>
        </p:sp>
        <p:sp>
          <p:nvSpPr>
            <p:cNvPr id="16" name="ML0_2">
              <a:extLst>
                <a:ext uri="{FF2B5EF4-FFF2-40B4-BE49-F238E27FC236}">
                  <a16:creationId xmlns:a16="http://schemas.microsoft.com/office/drawing/2014/main" id="{A4F91E17-D0B5-4342-B367-624661698044}"/>
                </a:ext>
              </a:extLst>
            </p:cNvPr>
            <p:cNvSpPr txBox="1"/>
            <p:nvPr/>
          </p:nvSpPr>
          <p:spPr>
            <a:xfrm>
              <a:off x="1371600" y="40513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Recall</a:t>
              </a:r>
            </a:p>
          </p:txBody>
        </p:sp>
        <p:sp>
          <p:nvSpPr>
            <p:cNvPr id="17" name="MV0_2">
              <a:extLst>
                <a:ext uri="{FF2B5EF4-FFF2-40B4-BE49-F238E27FC236}">
                  <a16:creationId xmlns:a16="http://schemas.microsoft.com/office/drawing/2014/main" id="{83F81B6C-0E84-4734-9AD6-A97192B2B5EF}"/>
                </a:ext>
              </a:extLst>
            </p:cNvPr>
            <p:cNvSpPr txBox="1"/>
            <p:nvPr/>
          </p:nvSpPr>
          <p:spPr>
            <a:xfrm>
              <a:off x="2641600" y="40513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00C2CC"/>
                  </a:solidFill>
                </a:rPr>
                <a:t>0.745</a:t>
              </a:r>
            </a:p>
          </p:txBody>
        </p:sp>
        <p:sp>
          <p:nvSpPr>
            <p:cNvPr id="18" name="ML0_3">
              <a:extLst>
                <a:ext uri="{FF2B5EF4-FFF2-40B4-BE49-F238E27FC236}">
                  <a16:creationId xmlns:a16="http://schemas.microsoft.com/office/drawing/2014/main" id="{8E4900DA-5F93-4822-BA0D-09C7F0B35C98}"/>
                </a:ext>
              </a:extLst>
            </p:cNvPr>
            <p:cNvSpPr txBox="1"/>
            <p:nvPr/>
          </p:nvSpPr>
          <p:spPr>
            <a:xfrm>
              <a:off x="1371600" y="44577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F1</a:t>
              </a:r>
            </a:p>
          </p:txBody>
        </p:sp>
        <p:sp>
          <p:nvSpPr>
            <p:cNvPr id="19" name="MV0_3">
              <a:extLst>
                <a:ext uri="{FF2B5EF4-FFF2-40B4-BE49-F238E27FC236}">
                  <a16:creationId xmlns:a16="http://schemas.microsoft.com/office/drawing/2014/main" id="{BCD3224E-572D-4140-84D8-EAFF72218E95}"/>
                </a:ext>
              </a:extLst>
            </p:cNvPr>
            <p:cNvSpPr txBox="1"/>
            <p:nvPr/>
          </p:nvSpPr>
          <p:spPr>
            <a:xfrm>
              <a:off x="2641600" y="44577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00C2CC"/>
                  </a:solidFill>
                </a:rPr>
                <a:t>0.357</a:t>
              </a:r>
            </a:p>
          </p:txBody>
        </p:sp>
        <p:sp>
          <p:nvSpPr>
            <p:cNvPr id="20" name="ML0_4">
              <a:extLst>
                <a:ext uri="{FF2B5EF4-FFF2-40B4-BE49-F238E27FC236}">
                  <a16:creationId xmlns:a16="http://schemas.microsoft.com/office/drawing/2014/main" id="{5BB9241D-7345-40A1-A1AA-E851CC5662BC}"/>
                </a:ext>
              </a:extLst>
            </p:cNvPr>
            <p:cNvSpPr txBox="1"/>
            <p:nvPr/>
          </p:nvSpPr>
          <p:spPr>
            <a:xfrm>
              <a:off x="1371600" y="48641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ROC-AUC</a:t>
              </a:r>
            </a:p>
          </p:txBody>
        </p:sp>
        <p:sp>
          <p:nvSpPr>
            <p:cNvPr id="21" name="MV0_4">
              <a:extLst>
                <a:ext uri="{FF2B5EF4-FFF2-40B4-BE49-F238E27FC236}">
                  <a16:creationId xmlns:a16="http://schemas.microsoft.com/office/drawing/2014/main" id="{9E85822A-4BE1-4FDB-AAA1-C790EED490E9}"/>
                </a:ext>
              </a:extLst>
            </p:cNvPr>
            <p:cNvSpPr txBox="1"/>
            <p:nvPr/>
          </p:nvSpPr>
          <p:spPr>
            <a:xfrm>
              <a:off x="2641600" y="48641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0.611</a:t>
              </a:r>
            </a:p>
          </p:txBody>
        </p:sp>
        <p:sp>
          <p:nvSpPr>
            <p:cNvPr id="22" name="BadgeBg0">
              <a:extLst>
                <a:ext uri="{FF2B5EF4-FFF2-40B4-BE49-F238E27FC236}">
                  <a16:creationId xmlns:a16="http://schemas.microsoft.com/office/drawing/2014/main" id="{0CC898BC-30E6-4CBF-9228-2CE472C8ECF3}"/>
                </a:ext>
              </a:extLst>
            </p:cNvPr>
            <p:cNvSpPr/>
            <p:nvPr/>
          </p:nvSpPr>
          <p:spPr>
            <a:xfrm>
              <a:off x="1371600" y="5295900"/>
              <a:ext cx="2781300" cy="3556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3" name="Badge0">
              <a:extLst>
                <a:ext uri="{FF2B5EF4-FFF2-40B4-BE49-F238E27FC236}">
                  <a16:creationId xmlns:a16="http://schemas.microsoft.com/office/drawing/2014/main" id="{699A0647-DD26-4512-A262-A9EF0D4B4192}"/>
                </a:ext>
              </a:extLst>
            </p:cNvPr>
            <p:cNvSpPr txBox="1"/>
            <p:nvPr/>
          </p:nvSpPr>
          <p:spPr>
            <a:xfrm>
              <a:off x="1371600" y="5334000"/>
              <a:ext cx="27813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000" b="1" spc="200" dirty="0">
                  <a:solidFill>
                    <a:srgbClr val="0B1E3F"/>
                  </a:solidFill>
                </a:rPr>
                <a:t>PRIMARY · 764 / 1,025 EVENTS</a:t>
              </a:r>
            </a:p>
          </p:txBody>
        </p:sp>
        <p:sp>
          <p:nvSpPr>
            <p:cNvPr id="24" name="Card1">
              <a:extLst>
                <a:ext uri="{FF2B5EF4-FFF2-40B4-BE49-F238E27FC236}">
                  <a16:creationId xmlns:a16="http://schemas.microsoft.com/office/drawing/2014/main" id="{8F03BEC6-6AF8-4E58-8DD1-98028803E339}"/>
                </a:ext>
              </a:extLst>
            </p:cNvPr>
            <p:cNvSpPr/>
            <p:nvPr/>
          </p:nvSpPr>
          <p:spPr>
            <a:xfrm>
              <a:off x="4533900" y="1993900"/>
              <a:ext cx="3238500" cy="3810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5" name="Strip1">
              <a:extLst>
                <a:ext uri="{FF2B5EF4-FFF2-40B4-BE49-F238E27FC236}">
                  <a16:creationId xmlns:a16="http://schemas.microsoft.com/office/drawing/2014/main" id="{DD8F8378-2A70-4331-ABF9-5DE591CDD65A}"/>
                </a:ext>
              </a:extLst>
            </p:cNvPr>
            <p:cNvSpPr/>
            <p:nvPr/>
          </p:nvSpPr>
          <p:spPr>
            <a:xfrm>
              <a:off x="4533900" y="1993900"/>
              <a:ext cx="3238500" cy="76200"/>
            </a:xfrm>
            <a:prstGeom prst="rect">
              <a:avLst/>
            </a:prstGeom>
            <a:solidFill>
              <a:srgbClr val="1FB6B9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6" name="Tag1">
              <a:extLst>
                <a:ext uri="{FF2B5EF4-FFF2-40B4-BE49-F238E27FC236}">
                  <a16:creationId xmlns:a16="http://schemas.microsoft.com/office/drawing/2014/main" id="{10AA8962-CDF6-4E64-AE16-359A3B4FD4C5}"/>
                </a:ext>
              </a:extLst>
            </p:cNvPr>
            <p:cNvSpPr txBox="1"/>
            <p:nvPr/>
          </p:nvSpPr>
          <p:spPr>
            <a:xfrm>
              <a:off x="4762500" y="2273300"/>
              <a:ext cx="1016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400" b="1" spc="200" dirty="0">
                  <a:solidFill>
                    <a:srgbClr val="00C2CC"/>
                  </a:solidFill>
                </a:rPr>
                <a:t>RF</a:t>
              </a:r>
            </a:p>
          </p:txBody>
        </p:sp>
        <p:sp>
          <p:nvSpPr>
            <p:cNvPr id="27" name="Name1">
              <a:extLst>
                <a:ext uri="{FF2B5EF4-FFF2-40B4-BE49-F238E27FC236}">
                  <a16:creationId xmlns:a16="http://schemas.microsoft.com/office/drawing/2014/main" id="{8F8B164D-2B58-4D7D-9B4C-39DE763ACDF2}"/>
                </a:ext>
              </a:extLst>
            </p:cNvPr>
            <p:cNvSpPr txBox="1"/>
            <p:nvPr/>
          </p:nvSpPr>
          <p:spPr>
            <a:xfrm>
              <a:off x="4762500" y="2654300"/>
              <a:ext cx="27813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Random Forest</a:t>
              </a:r>
            </a:p>
          </p:txBody>
        </p:sp>
        <p:sp>
          <p:nvSpPr>
            <p:cNvPr id="28" name="ML1_0">
              <a:extLst>
                <a:ext uri="{FF2B5EF4-FFF2-40B4-BE49-F238E27FC236}">
                  <a16:creationId xmlns:a16="http://schemas.microsoft.com/office/drawing/2014/main" id="{5D86140C-ACFF-4014-ADEF-3C9CC7A48321}"/>
                </a:ext>
              </a:extLst>
            </p:cNvPr>
            <p:cNvSpPr txBox="1"/>
            <p:nvPr/>
          </p:nvSpPr>
          <p:spPr>
            <a:xfrm>
              <a:off x="4762500" y="32385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Accuracy</a:t>
              </a:r>
            </a:p>
          </p:txBody>
        </p:sp>
        <p:sp>
          <p:nvSpPr>
            <p:cNvPr id="29" name="MV1_0">
              <a:extLst>
                <a:ext uri="{FF2B5EF4-FFF2-40B4-BE49-F238E27FC236}">
                  <a16:creationId xmlns:a16="http://schemas.microsoft.com/office/drawing/2014/main" id="{A990A162-087A-422D-9F8A-93C29D1D8C09}"/>
                </a:ext>
              </a:extLst>
            </p:cNvPr>
            <p:cNvSpPr txBox="1"/>
            <p:nvPr/>
          </p:nvSpPr>
          <p:spPr>
            <a:xfrm>
              <a:off x="6032500" y="32385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0.805</a:t>
              </a:r>
            </a:p>
          </p:txBody>
        </p:sp>
        <p:sp>
          <p:nvSpPr>
            <p:cNvPr id="30" name="ML1_1">
              <a:extLst>
                <a:ext uri="{FF2B5EF4-FFF2-40B4-BE49-F238E27FC236}">
                  <a16:creationId xmlns:a16="http://schemas.microsoft.com/office/drawing/2014/main" id="{2D98CB5B-23D2-47D8-829E-FADE9C8F03C2}"/>
                </a:ext>
              </a:extLst>
            </p:cNvPr>
            <p:cNvSpPr txBox="1"/>
            <p:nvPr/>
          </p:nvSpPr>
          <p:spPr>
            <a:xfrm>
              <a:off x="4762500" y="36449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Precision</a:t>
              </a:r>
            </a:p>
          </p:txBody>
        </p:sp>
        <p:sp>
          <p:nvSpPr>
            <p:cNvPr id="31" name="MV1_1">
              <a:extLst>
                <a:ext uri="{FF2B5EF4-FFF2-40B4-BE49-F238E27FC236}">
                  <a16:creationId xmlns:a16="http://schemas.microsoft.com/office/drawing/2014/main" id="{675DF31A-5D28-40C7-A833-2825BF9D40D7}"/>
                </a:ext>
              </a:extLst>
            </p:cNvPr>
            <p:cNvSpPr txBox="1"/>
            <p:nvPr/>
          </p:nvSpPr>
          <p:spPr>
            <a:xfrm>
              <a:off x="6032500" y="36449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0.600</a:t>
              </a:r>
            </a:p>
          </p:txBody>
        </p:sp>
        <p:sp>
          <p:nvSpPr>
            <p:cNvPr id="32" name="ML1_2">
              <a:extLst>
                <a:ext uri="{FF2B5EF4-FFF2-40B4-BE49-F238E27FC236}">
                  <a16:creationId xmlns:a16="http://schemas.microsoft.com/office/drawing/2014/main" id="{D32C4EEF-154A-4644-AA0C-BD40EDE27C55}"/>
                </a:ext>
              </a:extLst>
            </p:cNvPr>
            <p:cNvSpPr txBox="1"/>
            <p:nvPr/>
          </p:nvSpPr>
          <p:spPr>
            <a:xfrm>
              <a:off x="4762500" y="40513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Recall</a:t>
              </a:r>
            </a:p>
          </p:txBody>
        </p:sp>
        <p:sp>
          <p:nvSpPr>
            <p:cNvPr id="33" name="MV1_2">
              <a:extLst>
                <a:ext uri="{FF2B5EF4-FFF2-40B4-BE49-F238E27FC236}">
                  <a16:creationId xmlns:a16="http://schemas.microsoft.com/office/drawing/2014/main" id="{365415E5-891B-4AFD-B1DF-97A568BF570A}"/>
                </a:ext>
              </a:extLst>
            </p:cNvPr>
            <p:cNvSpPr txBox="1"/>
            <p:nvPr/>
          </p:nvSpPr>
          <p:spPr>
            <a:xfrm>
              <a:off x="6032500" y="40513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7E7E"/>
                  </a:solidFill>
                </a:rPr>
                <a:t>0.005</a:t>
              </a:r>
            </a:p>
          </p:txBody>
        </p:sp>
        <p:sp>
          <p:nvSpPr>
            <p:cNvPr id="34" name="ML1_3">
              <a:extLst>
                <a:ext uri="{FF2B5EF4-FFF2-40B4-BE49-F238E27FC236}">
                  <a16:creationId xmlns:a16="http://schemas.microsoft.com/office/drawing/2014/main" id="{C5FC002F-2D9B-401F-9460-087CC7CA9407}"/>
                </a:ext>
              </a:extLst>
            </p:cNvPr>
            <p:cNvSpPr txBox="1"/>
            <p:nvPr/>
          </p:nvSpPr>
          <p:spPr>
            <a:xfrm>
              <a:off x="4762500" y="44577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F1</a:t>
              </a:r>
            </a:p>
          </p:txBody>
        </p:sp>
        <p:sp>
          <p:nvSpPr>
            <p:cNvPr id="35" name="MV1_3">
              <a:extLst>
                <a:ext uri="{FF2B5EF4-FFF2-40B4-BE49-F238E27FC236}">
                  <a16:creationId xmlns:a16="http://schemas.microsoft.com/office/drawing/2014/main" id="{A50E00CD-6AAE-40E0-9F32-5AA300F6C26E}"/>
                </a:ext>
              </a:extLst>
            </p:cNvPr>
            <p:cNvSpPr txBox="1"/>
            <p:nvPr/>
          </p:nvSpPr>
          <p:spPr>
            <a:xfrm>
              <a:off x="6032500" y="44577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0.011</a:t>
              </a:r>
            </a:p>
          </p:txBody>
        </p:sp>
        <p:sp>
          <p:nvSpPr>
            <p:cNvPr id="36" name="ML1_4">
              <a:extLst>
                <a:ext uri="{FF2B5EF4-FFF2-40B4-BE49-F238E27FC236}">
                  <a16:creationId xmlns:a16="http://schemas.microsoft.com/office/drawing/2014/main" id="{10B8AF6A-B7A0-430B-8738-76F82F79FC5C}"/>
                </a:ext>
              </a:extLst>
            </p:cNvPr>
            <p:cNvSpPr txBox="1"/>
            <p:nvPr/>
          </p:nvSpPr>
          <p:spPr>
            <a:xfrm>
              <a:off x="4762500" y="48641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ROC-AUC</a:t>
              </a:r>
            </a:p>
          </p:txBody>
        </p:sp>
        <p:sp>
          <p:nvSpPr>
            <p:cNvPr id="37" name="MV1_4">
              <a:extLst>
                <a:ext uri="{FF2B5EF4-FFF2-40B4-BE49-F238E27FC236}">
                  <a16:creationId xmlns:a16="http://schemas.microsoft.com/office/drawing/2014/main" id="{79075F25-7587-4A6F-A1DF-3490818CA51F}"/>
                </a:ext>
              </a:extLst>
            </p:cNvPr>
            <p:cNvSpPr txBox="1"/>
            <p:nvPr/>
          </p:nvSpPr>
          <p:spPr>
            <a:xfrm>
              <a:off x="6032500" y="48641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0.548</a:t>
              </a:r>
            </a:p>
          </p:txBody>
        </p:sp>
        <p:sp>
          <p:nvSpPr>
            <p:cNvPr id="38" name="Card2">
              <a:extLst>
                <a:ext uri="{FF2B5EF4-FFF2-40B4-BE49-F238E27FC236}">
                  <a16:creationId xmlns:a16="http://schemas.microsoft.com/office/drawing/2014/main" id="{A053EDE5-3515-4CAF-BF42-CC2C1EE37A5B}"/>
                </a:ext>
              </a:extLst>
            </p:cNvPr>
            <p:cNvSpPr/>
            <p:nvPr/>
          </p:nvSpPr>
          <p:spPr>
            <a:xfrm>
              <a:off x="7924800" y="1993900"/>
              <a:ext cx="3238500" cy="3810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39" name="Strip2">
              <a:extLst>
                <a:ext uri="{FF2B5EF4-FFF2-40B4-BE49-F238E27FC236}">
                  <a16:creationId xmlns:a16="http://schemas.microsoft.com/office/drawing/2014/main" id="{7F221ECD-1DEB-4AB8-A9D4-E375E30E4C92}"/>
                </a:ext>
              </a:extLst>
            </p:cNvPr>
            <p:cNvSpPr/>
            <p:nvPr/>
          </p:nvSpPr>
          <p:spPr>
            <a:xfrm>
              <a:off x="7924800" y="1993900"/>
              <a:ext cx="3238500" cy="76200"/>
            </a:xfrm>
            <a:prstGeom prst="rect">
              <a:avLst/>
            </a:prstGeom>
            <a:solidFill>
              <a:srgbClr val="1FB6B9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40" name="Tag2">
              <a:extLst>
                <a:ext uri="{FF2B5EF4-FFF2-40B4-BE49-F238E27FC236}">
                  <a16:creationId xmlns:a16="http://schemas.microsoft.com/office/drawing/2014/main" id="{7D03DD2D-5458-4E80-A723-EB54DF1DE14B}"/>
                </a:ext>
              </a:extLst>
            </p:cNvPr>
            <p:cNvSpPr txBox="1"/>
            <p:nvPr/>
          </p:nvSpPr>
          <p:spPr>
            <a:xfrm>
              <a:off x="8153400" y="2273300"/>
              <a:ext cx="1016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400" b="1" spc="200" dirty="0">
                  <a:solidFill>
                    <a:srgbClr val="00C2CC"/>
                  </a:solidFill>
                </a:rPr>
                <a:t>GB</a:t>
              </a:r>
            </a:p>
          </p:txBody>
        </p:sp>
        <p:sp>
          <p:nvSpPr>
            <p:cNvPr id="41" name="Name2">
              <a:extLst>
                <a:ext uri="{FF2B5EF4-FFF2-40B4-BE49-F238E27FC236}">
                  <a16:creationId xmlns:a16="http://schemas.microsoft.com/office/drawing/2014/main" id="{4216BBE3-F070-441E-8826-410B03DD91C0}"/>
                </a:ext>
              </a:extLst>
            </p:cNvPr>
            <p:cNvSpPr txBox="1"/>
            <p:nvPr/>
          </p:nvSpPr>
          <p:spPr>
            <a:xfrm>
              <a:off x="8153400" y="2654300"/>
              <a:ext cx="27813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Gradient Boosting</a:t>
              </a:r>
            </a:p>
          </p:txBody>
        </p:sp>
        <p:sp>
          <p:nvSpPr>
            <p:cNvPr id="42" name="ML2_0">
              <a:extLst>
                <a:ext uri="{FF2B5EF4-FFF2-40B4-BE49-F238E27FC236}">
                  <a16:creationId xmlns:a16="http://schemas.microsoft.com/office/drawing/2014/main" id="{2071769E-89E2-4A0A-88D4-25F0775EE926}"/>
                </a:ext>
              </a:extLst>
            </p:cNvPr>
            <p:cNvSpPr txBox="1"/>
            <p:nvPr/>
          </p:nvSpPr>
          <p:spPr>
            <a:xfrm>
              <a:off x="8153400" y="32385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Accuracy</a:t>
              </a:r>
            </a:p>
          </p:txBody>
        </p:sp>
        <p:sp>
          <p:nvSpPr>
            <p:cNvPr id="43" name="MV2_0">
              <a:extLst>
                <a:ext uri="{FF2B5EF4-FFF2-40B4-BE49-F238E27FC236}">
                  <a16:creationId xmlns:a16="http://schemas.microsoft.com/office/drawing/2014/main" id="{51F0FC3C-470F-4A83-8A92-7C36D0855CC7}"/>
                </a:ext>
              </a:extLst>
            </p:cNvPr>
            <p:cNvSpPr txBox="1"/>
            <p:nvPr/>
          </p:nvSpPr>
          <p:spPr>
            <a:xfrm>
              <a:off x="9423400" y="32385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0.776</a:t>
              </a:r>
            </a:p>
          </p:txBody>
        </p:sp>
        <p:sp>
          <p:nvSpPr>
            <p:cNvPr id="44" name="ML2_1">
              <a:extLst>
                <a:ext uri="{FF2B5EF4-FFF2-40B4-BE49-F238E27FC236}">
                  <a16:creationId xmlns:a16="http://schemas.microsoft.com/office/drawing/2014/main" id="{8F6FB7FC-592F-4213-B750-65086718F851}"/>
                </a:ext>
              </a:extLst>
            </p:cNvPr>
            <p:cNvSpPr txBox="1"/>
            <p:nvPr/>
          </p:nvSpPr>
          <p:spPr>
            <a:xfrm>
              <a:off x="8153400" y="36449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Precision</a:t>
              </a:r>
            </a:p>
          </p:txBody>
        </p:sp>
        <p:sp>
          <p:nvSpPr>
            <p:cNvPr id="45" name="MV2_1">
              <a:extLst>
                <a:ext uri="{FF2B5EF4-FFF2-40B4-BE49-F238E27FC236}">
                  <a16:creationId xmlns:a16="http://schemas.microsoft.com/office/drawing/2014/main" id="{89F4A5FD-5664-4B1E-A5EC-6901D7DEA4DD}"/>
                </a:ext>
              </a:extLst>
            </p:cNvPr>
            <p:cNvSpPr txBox="1"/>
            <p:nvPr/>
          </p:nvSpPr>
          <p:spPr>
            <a:xfrm>
              <a:off x="9423400" y="36449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0.230</a:t>
              </a:r>
            </a:p>
          </p:txBody>
        </p:sp>
        <p:sp>
          <p:nvSpPr>
            <p:cNvPr id="46" name="ML2_2">
              <a:extLst>
                <a:ext uri="{FF2B5EF4-FFF2-40B4-BE49-F238E27FC236}">
                  <a16:creationId xmlns:a16="http://schemas.microsoft.com/office/drawing/2014/main" id="{BB7929C6-389D-4A21-9ED1-20161B58F97F}"/>
                </a:ext>
              </a:extLst>
            </p:cNvPr>
            <p:cNvSpPr txBox="1"/>
            <p:nvPr/>
          </p:nvSpPr>
          <p:spPr>
            <a:xfrm>
              <a:off x="8153400" y="40513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Recall</a:t>
              </a:r>
            </a:p>
          </p:txBody>
        </p:sp>
        <p:sp>
          <p:nvSpPr>
            <p:cNvPr id="47" name="MV2_2">
              <a:extLst>
                <a:ext uri="{FF2B5EF4-FFF2-40B4-BE49-F238E27FC236}">
                  <a16:creationId xmlns:a16="http://schemas.microsoft.com/office/drawing/2014/main" id="{72465279-8B12-4C13-A546-1CA1C88C0707}"/>
                </a:ext>
              </a:extLst>
            </p:cNvPr>
            <p:cNvSpPr txBox="1"/>
            <p:nvPr/>
          </p:nvSpPr>
          <p:spPr>
            <a:xfrm>
              <a:off x="9423400" y="40513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0.061</a:t>
              </a:r>
            </a:p>
          </p:txBody>
        </p:sp>
        <p:sp>
          <p:nvSpPr>
            <p:cNvPr id="48" name="ML2_3">
              <a:extLst>
                <a:ext uri="{FF2B5EF4-FFF2-40B4-BE49-F238E27FC236}">
                  <a16:creationId xmlns:a16="http://schemas.microsoft.com/office/drawing/2014/main" id="{A09D4700-C5DC-424D-BEBC-08863094ED93}"/>
                </a:ext>
              </a:extLst>
            </p:cNvPr>
            <p:cNvSpPr txBox="1"/>
            <p:nvPr/>
          </p:nvSpPr>
          <p:spPr>
            <a:xfrm>
              <a:off x="8153400" y="44577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F1</a:t>
              </a:r>
            </a:p>
          </p:txBody>
        </p:sp>
        <p:sp>
          <p:nvSpPr>
            <p:cNvPr id="49" name="MV2_3">
              <a:extLst>
                <a:ext uri="{FF2B5EF4-FFF2-40B4-BE49-F238E27FC236}">
                  <a16:creationId xmlns:a16="http://schemas.microsoft.com/office/drawing/2014/main" id="{8EB85D04-E1AE-4067-9561-73158D7A2D54}"/>
                </a:ext>
              </a:extLst>
            </p:cNvPr>
            <p:cNvSpPr txBox="1"/>
            <p:nvPr/>
          </p:nvSpPr>
          <p:spPr>
            <a:xfrm>
              <a:off x="9423400" y="44577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0.097</a:t>
              </a:r>
            </a:p>
          </p:txBody>
        </p:sp>
        <p:sp>
          <p:nvSpPr>
            <p:cNvPr id="50" name="ML2_4">
              <a:extLst>
                <a:ext uri="{FF2B5EF4-FFF2-40B4-BE49-F238E27FC236}">
                  <a16:creationId xmlns:a16="http://schemas.microsoft.com/office/drawing/2014/main" id="{346D0097-094A-4BD8-8F44-1B85D9FB702D}"/>
                </a:ext>
              </a:extLst>
            </p:cNvPr>
            <p:cNvSpPr txBox="1"/>
            <p:nvPr/>
          </p:nvSpPr>
          <p:spPr>
            <a:xfrm>
              <a:off x="8153400" y="4864100"/>
              <a:ext cx="1270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8FB7D6"/>
                  </a:solidFill>
                </a:rPr>
                <a:t>ROC-AUC</a:t>
              </a:r>
            </a:p>
          </p:txBody>
        </p:sp>
        <p:sp>
          <p:nvSpPr>
            <p:cNvPr id="51" name="MV2_4">
              <a:extLst>
                <a:ext uri="{FF2B5EF4-FFF2-40B4-BE49-F238E27FC236}">
                  <a16:creationId xmlns:a16="http://schemas.microsoft.com/office/drawing/2014/main" id="{3F911B22-F747-42A2-9D65-EAA5D792E0AF}"/>
                </a:ext>
              </a:extLst>
            </p:cNvPr>
            <p:cNvSpPr txBox="1"/>
            <p:nvPr/>
          </p:nvSpPr>
          <p:spPr>
            <a:xfrm>
              <a:off x="9423400" y="4864100"/>
              <a:ext cx="15113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700" b="1" dirty="0">
                  <a:solidFill>
                    <a:srgbClr val="FFFFFF"/>
                  </a:solidFill>
                </a:rPr>
                <a:t>0.544</a:t>
              </a:r>
            </a:p>
          </p:txBody>
        </p:sp>
        <p:sp>
          <p:nvSpPr>
            <p:cNvPr id="200" name="RFEvents"/>
            <p:cNvSpPr txBox="1"/>
            <p:nvPr/>
          </p:nvSpPr>
          <p:spPr>
            <a:xfrm>
              <a:off x="4762500" y="5334000"/>
              <a:ext cx="2781300" cy="3048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1000" b="1" spc="200" dirty="0">
                  <a:solidFill>
                    <a:srgbClr val="8FB7D6"/>
                  </a:solidFill>
                </a:rPr>
                <a:t>~6 / 1,025 EVENTS</a:t>
              </a:r>
            </a:p>
          </p:txBody>
        </p:sp>
        <p:sp>
          <p:nvSpPr>
            <p:cNvPr id="201" name="GBEvents"/>
            <p:cNvSpPr txBox="1"/>
            <p:nvPr/>
          </p:nvSpPr>
          <p:spPr>
            <a:xfrm>
              <a:off x="8153400" y="5334000"/>
              <a:ext cx="2781300" cy="3048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1000" b="1" spc="200" dirty="0">
                  <a:solidFill>
                    <a:srgbClr val="8FB7D6"/>
                  </a:solidFill>
                </a:rPr>
                <a:t>~63 / 1,025 EVENTS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9508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02E391B7-F883-404F-A60C-DD885D03FB82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">
            <a:extLst>
              <a:ext uri="{FF2B5EF4-FFF2-40B4-BE49-F238E27FC236}">
                <a16:creationId xmlns:a16="http://schemas.microsoft.com/office/drawing/2014/main" id="{4C1A6958-824B-4309-888A-8915832EEDC0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D69E87BF-5EED-40CF-A4B7-6BD855075DA3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2496376-335A-432B-9D8E-65A2AE186B3D}"/>
              </a:ext>
            </a:extLst>
          </p:cNvPr>
          <p:cNvSpPr txBox="1"/>
          <p:nvPr/>
        </p:nvSpPr>
        <p:spPr>
          <a:xfrm>
            <a:off x="1143000" y="29210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Threshold optimization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8138661F-92BD-4C28-85E6-FC8D1B6CF57D}"/>
              </a:ext>
            </a:extLst>
          </p:cNvPr>
          <p:cNvSpPr txBox="1"/>
          <p:nvPr/>
        </p:nvSpPr>
        <p:spPr>
          <a:xfrm>
            <a:off x="1143000" y="89154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D6EAF8"/>
                </a:solidFill>
              </a:rPr>
              <a:t>Calibrate the decision cut-off, not the model</a:t>
            </a:r>
          </a:p>
        </p:txBody>
      </p:sp>
      <p:sp>
        <p:nvSpPr>
          <p:cNvPr id="7" name="Div">
            <a:extLst>
              <a:ext uri="{FF2B5EF4-FFF2-40B4-BE49-F238E27FC236}">
                <a16:creationId xmlns:a16="http://schemas.microsoft.com/office/drawing/2014/main" id="{AEF8DC71-6676-4F0B-9039-BC5358B29983}"/>
              </a:ext>
            </a:extLst>
          </p:cNvPr>
          <p:cNvSpPr/>
          <p:nvPr/>
        </p:nvSpPr>
        <p:spPr>
          <a:xfrm>
            <a:off x="1143000" y="138303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320F24A-4D29-70F0-170A-C40CD2302D57}"/>
              </a:ext>
            </a:extLst>
          </p:cNvPr>
          <p:cNvGrpSpPr/>
          <p:nvPr/>
        </p:nvGrpSpPr>
        <p:grpSpPr>
          <a:xfrm>
            <a:off x="1143000" y="1861820"/>
            <a:ext cx="9906000" cy="3873500"/>
            <a:chOff x="1143000" y="1993900"/>
            <a:chExt cx="9906000" cy="3873500"/>
          </a:xfrm>
        </p:grpSpPr>
        <p:sp>
          <p:nvSpPr>
            <p:cNvPr id="8" name="Card0">
              <a:extLst>
                <a:ext uri="{FF2B5EF4-FFF2-40B4-BE49-F238E27FC236}">
                  <a16:creationId xmlns:a16="http://schemas.microsoft.com/office/drawing/2014/main" id="{3940DFE5-CB59-4105-B3DB-A2A7B24678C6}"/>
                </a:ext>
              </a:extLst>
            </p:cNvPr>
            <p:cNvSpPr/>
            <p:nvPr/>
          </p:nvSpPr>
          <p:spPr>
            <a:xfrm>
              <a:off x="1143000" y="1993900"/>
              <a:ext cx="99060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9" name="Strip0">
              <a:extLst>
                <a:ext uri="{FF2B5EF4-FFF2-40B4-BE49-F238E27FC236}">
                  <a16:creationId xmlns:a16="http://schemas.microsoft.com/office/drawing/2014/main" id="{DDF95ED4-1CD2-4F1A-A2C9-733BB464B052}"/>
                </a:ext>
              </a:extLst>
            </p:cNvPr>
            <p:cNvSpPr/>
            <p:nvPr/>
          </p:nvSpPr>
          <p:spPr>
            <a:xfrm>
              <a:off x="1143000" y="1993900"/>
              <a:ext cx="9906000" cy="762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0" name="Tag0">
              <a:extLst>
                <a:ext uri="{FF2B5EF4-FFF2-40B4-BE49-F238E27FC236}">
                  <a16:creationId xmlns:a16="http://schemas.microsoft.com/office/drawing/2014/main" id="{D4B29B77-E257-4EFE-97A3-F39BFFC2454E}"/>
                </a:ext>
              </a:extLst>
            </p:cNvPr>
            <p:cNvSpPr txBox="1"/>
            <p:nvPr/>
          </p:nvSpPr>
          <p:spPr>
            <a:xfrm>
              <a:off x="1397000" y="2273300"/>
              <a:ext cx="1016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400" b="1" spc="200" dirty="0">
                  <a:solidFill>
                    <a:srgbClr val="00C2CC"/>
                  </a:solidFill>
                </a:rPr>
                <a:t>LR</a:t>
              </a:r>
            </a:p>
          </p:txBody>
        </p:sp>
        <p:sp>
          <p:nvSpPr>
            <p:cNvPr id="11" name="Nm0">
              <a:extLst>
                <a:ext uri="{FF2B5EF4-FFF2-40B4-BE49-F238E27FC236}">
                  <a16:creationId xmlns:a16="http://schemas.microsoft.com/office/drawing/2014/main" id="{F244E934-12D9-406F-A03F-0A980B9C1C2E}"/>
                </a:ext>
              </a:extLst>
            </p:cNvPr>
            <p:cNvSpPr txBox="1"/>
            <p:nvPr/>
          </p:nvSpPr>
          <p:spPr>
            <a:xfrm>
              <a:off x="1397000" y="2562860"/>
              <a:ext cx="2794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Logistic Regression</a:t>
              </a:r>
            </a:p>
          </p:txBody>
        </p:sp>
        <p:sp>
          <p:nvSpPr>
            <p:cNvPr id="12" name="ThBg0">
              <a:extLst>
                <a:ext uri="{FF2B5EF4-FFF2-40B4-BE49-F238E27FC236}">
                  <a16:creationId xmlns:a16="http://schemas.microsoft.com/office/drawing/2014/main" id="{0910E0D3-0372-49A1-9188-4C454E27AF29}"/>
                </a:ext>
              </a:extLst>
            </p:cNvPr>
            <p:cNvSpPr/>
            <p:nvPr/>
          </p:nvSpPr>
          <p:spPr>
            <a:xfrm>
              <a:off x="1397000" y="3045460"/>
              <a:ext cx="2794000" cy="599440"/>
            </a:xfrm>
            <a:prstGeom prst="rect">
              <a:avLst/>
            </a:prstGeom>
            <a:solidFill>
              <a:srgbClr val="0B1E3F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3" name="ThLbl0">
              <a:extLst>
                <a:ext uri="{FF2B5EF4-FFF2-40B4-BE49-F238E27FC236}">
                  <a16:creationId xmlns:a16="http://schemas.microsoft.com/office/drawing/2014/main" id="{22C26FA3-51FA-4B6E-AE39-716711203393}"/>
                </a:ext>
              </a:extLst>
            </p:cNvPr>
            <p:cNvSpPr txBox="1"/>
            <p:nvPr/>
          </p:nvSpPr>
          <p:spPr>
            <a:xfrm>
              <a:off x="1503680" y="3116580"/>
              <a:ext cx="2540000" cy="203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spc="100" dirty="0">
                  <a:solidFill>
                    <a:srgbClr val="D6EAF8"/>
                  </a:solidFill>
                </a:rPr>
                <a:t>Optimised threshold</a:t>
              </a:r>
            </a:p>
          </p:txBody>
        </p:sp>
        <p:sp>
          <p:nvSpPr>
            <p:cNvPr id="14" name="ThVal0">
              <a:extLst>
                <a:ext uri="{FF2B5EF4-FFF2-40B4-BE49-F238E27FC236}">
                  <a16:creationId xmlns:a16="http://schemas.microsoft.com/office/drawing/2014/main" id="{30CFAF4C-405F-4DE3-98FD-810793878182}"/>
                </a:ext>
              </a:extLst>
            </p:cNvPr>
            <p:cNvSpPr txBox="1"/>
            <p:nvPr/>
          </p:nvSpPr>
          <p:spPr>
            <a:xfrm>
              <a:off x="1524000" y="3284220"/>
              <a:ext cx="2540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000" b="1" dirty="0">
                  <a:solidFill>
                    <a:srgbClr val="00C2CC"/>
                  </a:solidFill>
                </a:rPr>
                <a:t>0.594</a:t>
              </a:r>
            </a:p>
          </p:txBody>
        </p:sp>
        <p:sp>
          <p:nvSpPr>
            <p:cNvPr id="15" name="SL0_0">
              <a:extLst>
                <a:ext uri="{FF2B5EF4-FFF2-40B4-BE49-F238E27FC236}">
                  <a16:creationId xmlns:a16="http://schemas.microsoft.com/office/drawing/2014/main" id="{D5411886-6CC4-43AC-8432-19E2E999410B}"/>
                </a:ext>
              </a:extLst>
            </p:cNvPr>
            <p:cNvSpPr txBox="1"/>
            <p:nvPr/>
          </p:nvSpPr>
          <p:spPr>
            <a:xfrm>
              <a:off x="4572000" y="2374900"/>
              <a:ext cx="16510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000" spc="200" dirty="0">
                  <a:solidFill>
                    <a:srgbClr val="D6EAF8"/>
                  </a:solidFill>
                </a:rPr>
                <a:t>VAL F1</a:t>
              </a:r>
            </a:p>
          </p:txBody>
        </p:sp>
        <p:sp>
          <p:nvSpPr>
            <p:cNvPr id="16" name="SV0_0">
              <a:extLst>
                <a:ext uri="{FF2B5EF4-FFF2-40B4-BE49-F238E27FC236}">
                  <a16:creationId xmlns:a16="http://schemas.microsoft.com/office/drawing/2014/main" id="{0C332474-4BE5-459D-9376-D8952C399CE6}"/>
                </a:ext>
              </a:extLst>
            </p:cNvPr>
            <p:cNvSpPr txBox="1"/>
            <p:nvPr/>
          </p:nvSpPr>
          <p:spPr>
            <a:xfrm>
              <a:off x="4572000" y="2628900"/>
              <a:ext cx="1651000" cy="635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0.315</a:t>
              </a:r>
            </a:p>
          </p:txBody>
        </p:sp>
        <p:sp>
          <p:nvSpPr>
            <p:cNvPr id="17" name="SC0_0">
              <a:extLst>
                <a:ext uri="{FF2B5EF4-FFF2-40B4-BE49-F238E27FC236}">
                  <a16:creationId xmlns:a16="http://schemas.microsoft.com/office/drawing/2014/main" id="{9A828122-9094-4CB8-83D6-F53C2E64239B}"/>
                </a:ext>
              </a:extLst>
            </p:cNvPr>
            <p:cNvSpPr txBox="1"/>
            <p:nvPr/>
          </p:nvSpPr>
          <p:spPr>
            <a:xfrm>
              <a:off x="4572000" y="3289300"/>
              <a:ext cx="1651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validated</a:t>
              </a:r>
            </a:p>
          </p:txBody>
        </p:sp>
        <p:sp>
          <p:nvSpPr>
            <p:cNvPr id="18" name="SL0_1">
              <a:extLst>
                <a:ext uri="{FF2B5EF4-FFF2-40B4-BE49-F238E27FC236}">
                  <a16:creationId xmlns:a16="http://schemas.microsoft.com/office/drawing/2014/main" id="{23E7F210-7BAB-4C47-9304-467B090FB63B}"/>
                </a:ext>
              </a:extLst>
            </p:cNvPr>
            <p:cNvSpPr txBox="1"/>
            <p:nvPr/>
          </p:nvSpPr>
          <p:spPr>
            <a:xfrm>
              <a:off x="6477000" y="2374900"/>
              <a:ext cx="16510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000" spc="200" dirty="0">
                  <a:solidFill>
                    <a:srgbClr val="D6EAF8"/>
                  </a:solidFill>
                </a:rPr>
                <a:t>TEST F1</a:t>
              </a:r>
            </a:p>
          </p:txBody>
        </p:sp>
        <p:sp>
          <p:nvSpPr>
            <p:cNvPr id="19" name="SV0_1">
              <a:extLst>
                <a:ext uri="{FF2B5EF4-FFF2-40B4-BE49-F238E27FC236}">
                  <a16:creationId xmlns:a16="http://schemas.microsoft.com/office/drawing/2014/main" id="{8AEB99E5-4CF3-4B7E-9DE5-88F8097A4C20}"/>
                </a:ext>
              </a:extLst>
            </p:cNvPr>
            <p:cNvSpPr txBox="1"/>
            <p:nvPr/>
          </p:nvSpPr>
          <p:spPr>
            <a:xfrm>
              <a:off x="6477000" y="2628900"/>
              <a:ext cx="1651000" cy="635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3200" b="1" dirty="0">
                  <a:solidFill>
                    <a:srgbClr val="00C2CC"/>
                  </a:solidFill>
                </a:rPr>
                <a:t>0.326</a:t>
              </a:r>
            </a:p>
          </p:txBody>
        </p:sp>
        <p:sp>
          <p:nvSpPr>
            <p:cNvPr id="20" name="SC0_1">
              <a:extLst>
                <a:ext uri="{FF2B5EF4-FFF2-40B4-BE49-F238E27FC236}">
                  <a16:creationId xmlns:a16="http://schemas.microsoft.com/office/drawing/2014/main" id="{3FA17DE6-31EE-4641-A8BF-72BBB363C9B6}"/>
                </a:ext>
              </a:extLst>
            </p:cNvPr>
            <p:cNvSpPr txBox="1"/>
            <p:nvPr/>
          </p:nvSpPr>
          <p:spPr>
            <a:xfrm>
              <a:off x="6477000" y="3289300"/>
              <a:ext cx="1651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vs 0.358 default</a:t>
              </a:r>
            </a:p>
          </p:txBody>
        </p:sp>
        <p:sp>
          <p:nvSpPr>
            <p:cNvPr id="21" name="SL0_2">
              <a:extLst>
                <a:ext uri="{FF2B5EF4-FFF2-40B4-BE49-F238E27FC236}">
                  <a16:creationId xmlns:a16="http://schemas.microsoft.com/office/drawing/2014/main" id="{75B85E7F-1D75-4BCE-8D44-3714961A8C67}"/>
                </a:ext>
              </a:extLst>
            </p:cNvPr>
            <p:cNvSpPr txBox="1"/>
            <p:nvPr/>
          </p:nvSpPr>
          <p:spPr>
            <a:xfrm>
              <a:off x="8382000" y="2374900"/>
              <a:ext cx="16510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000" spc="200" dirty="0">
                  <a:solidFill>
                    <a:srgbClr val="D6EAF8"/>
                  </a:solidFill>
                </a:rPr>
                <a:t>TEST RECALL</a:t>
              </a:r>
            </a:p>
          </p:txBody>
        </p:sp>
        <p:sp>
          <p:nvSpPr>
            <p:cNvPr id="22" name="SV0_2">
              <a:extLst>
                <a:ext uri="{FF2B5EF4-FFF2-40B4-BE49-F238E27FC236}">
                  <a16:creationId xmlns:a16="http://schemas.microsoft.com/office/drawing/2014/main" id="{1E71AA7C-8222-4C52-BFDA-55F489BB393C}"/>
                </a:ext>
              </a:extLst>
            </p:cNvPr>
            <p:cNvSpPr txBox="1"/>
            <p:nvPr/>
          </p:nvSpPr>
          <p:spPr>
            <a:xfrm>
              <a:off x="8382000" y="2628900"/>
              <a:ext cx="1651000" cy="635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3200" b="1" dirty="0">
                  <a:solidFill>
                    <a:srgbClr val="00C2CC"/>
                  </a:solidFill>
                </a:rPr>
                <a:t>0.491</a:t>
              </a:r>
            </a:p>
          </p:txBody>
        </p:sp>
        <p:sp>
          <p:nvSpPr>
            <p:cNvPr id="23" name="SC0_2">
              <a:extLst>
                <a:ext uri="{FF2B5EF4-FFF2-40B4-BE49-F238E27FC236}">
                  <a16:creationId xmlns:a16="http://schemas.microsoft.com/office/drawing/2014/main" id="{354C8BAD-77BE-486B-B8D9-0E12B049BD30}"/>
                </a:ext>
              </a:extLst>
            </p:cNvPr>
            <p:cNvSpPr txBox="1"/>
            <p:nvPr/>
          </p:nvSpPr>
          <p:spPr>
            <a:xfrm>
              <a:off x="8382000" y="3289300"/>
              <a:ext cx="1651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calibrated precision</a:t>
              </a:r>
            </a:p>
          </p:txBody>
        </p:sp>
        <p:sp>
          <p:nvSpPr>
            <p:cNvPr id="24" name="Card1">
              <a:extLst>
                <a:ext uri="{FF2B5EF4-FFF2-40B4-BE49-F238E27FC236}">
                  <a16:creationId xmlns:a16="http://schemas.microsoft.com/office/drawing/2014/main" id="{543C6A0B-A868-456C-B014-04CD7B23C1A2}"/>
                </a:ext>
              </a:extLst>
            </p:cNvPr>
            <p:cNvSpPr/>
            <p:nvPr/>
          </p:nvSpPr>
          <p:spPr>
            <a:xfrm>
              <a:off x="1143000" y="4089400"/>
              <a:ext cx="9906000" cy="1778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5" name="Strip1">
              <a:extLst>
                <a:ext uri="{FF2B5EF4-FFF2-40B4-BE49-F238E27FC236}">
                  <a16:creationId xmlns:a16="http://schemas.microsoft.com/office/drawing/2014/main" id="{54CD7361-4648-4C27-A44F-AEC8F7DDD869}"/>
                </a:ext>
              </a:extLst>
            </p:cNvPr>
            <p:cNvSpPr/>
            <p:nvPr/>
          </p:nvSpPr>
          <p:spPr>
            <a:xfrm>
              <a:off x="1143000" y="4089400"/>
              <a:ext cx="9906000" cy="762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6" name="Tag1">
              <a:extLst>
                <a:ext uri="{FF2B5EF4-FFF2-40B4-BE49-F238E27FC236}">
                  <a16:creationId xmlns:a16="http://schemas.microsoft.com/office/drawing/2014/main" id="{85CDDFBA-EDB3-4042-B980-13EB2E2E9CCA}"/>
                </a:ext>
              </a:extLst>
            </p:cNvPr>
            <p:cNvSpPr txBox="1"/>
            <p:nvPr/>
          </p:nvSpPr>
          <p:spPr>
            <a:xfrm>
              <a:off x="1397000" y="4368800"/>
              <a:ext cx="1016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400" b="1" spc="200" dirty="0">
                  <a:solidFill>
                    <a:srgbClr val="00C2CC"/>
                  </a:solidFill>
                </a:rPr>
                <a:t>RF</a:t>
              </a:r>
            </a:p>
          </p:txBody>
        </p:sp>
        <p:sp>
          <p:nvSpPr>
            <p:cNvPr id="27" name="Nm1">
              <a:extLst>
                <a:ext uri="{FF2B5EF4-FFF2-40B4-BE49-F238E27FC236}">
                  <a16:creationId xmlns:a16="http://schemas.microsoft.com/office/drawing/2014/main" id="{2C1976EA-3155-4D4F-B875-3CBCB38E6642}"/>
                </a:ext>
              </a:extLst>
            </p:cNvPr>
            <p:cNvSpPr txBox="1"/>
            <p:nvPr/>
          </p:nvSpPr>
          <p:spPr>
            <a:xfrm>
              <a:off x="1397000" y="4678680"/>
              <a:ext cx="2794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Random Forest</a:t>
              </a:r>
            </a:p>
          </p:txBody>
        </p:sp>
        <p:sp>
          <p:nvSpPr>
            <p:cNvPr id="28" name="ThBg1">
              <a:extLst>
                <a:ext uri="{FF2B5EF4-FFF2-40B4-BE49-F238E27FC236}">
                  <a16:creationId xmlns:a16="http://schemas.microsoft.com/office/drawing/2014/main" id="{7C2B4C30-BBD4-417F-99EC-E910D937D36D}"/>
                </a:ext>
              </a:extLst>
            </p:cNvPr>
            <p:cNvSpPr/>
            <p:nvPr/>
          </p:nvSpPr>
          <p:spPr>
            <a:xfrm>
              <a:off x="1397000" y="5085080"/>
              <a:ext cx="2794000" cy="655320"/>
            </a:xfrm>
            <a:prstGeom prst="rect">
              <a:avLst/>
            </a:prstGeom>
            <a:solidFill>
              <a:srgbClr val="0B1E3F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9" name="ThLbl1">
              <a:extLst>
                <a:ext uri="{FF2B5EF4-FFF2-40B4-BE49-F238E27FC236}">
                  <a16:creationId xmlns:a16="http://schemas.microsoft.com/office/drawing/2014/main" id="{B0438E13-49F1-4A45-BFFC-D6401CB99018}"/>
                </a:ext>
              </a:extLst>
            </p:cNvPr>
            <p:cNvSpPr txBox="1"/>
            <p:nvPr/>
          </p:nvSpPr>
          <p:spPr>
            <a:xfrm>
              <a:off x="1513840" y="5173980"/>
              <a:ext cx="2540000" cy="203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spc="100" dirty="0">
                  <a:solidFill>
                    <a:srgbClr val="D6EAF8"/>
                  </a:solidFill>
                </a:rPr>
                <a:t>Optimised threshold</a:t>
              </a:r>
            </a:p>
          </p:txBody>
        </p:sp>
        <p:sp>
          <p:nvSpPr>
            <p:cNvPr id="30" name="ThVal1">
              <a:extLst>
                <a:ext uri="{FF2B5EF4-FFF2-40B4-BE49-F238E27FC236}">
                  <a16:creationId xmlns:a16="http://schemas.microsoft.com/office/drawing/2014/main" id="{FB5C9173-DFF0-4238-8EB9-ABE4A302A7FC}"/>
                </a:ext>
              </a:extLst>
            </p:cNvPr>
            <p:cNvSpPr txBox="1"/>
            <p:nvPr/>
          </p:nvSpPr>
          <p:spPr>
            <a:xfrm>
              <a:off x="1524000" y="5369560"/>
              <a:ext cx="2540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000" b="1" dirty="0">
                  <a:solidFill>
                    <a:srgbClr val="00C2CC"/>
                  </a:solidFill>
                </a:rPr>
                <a:t>0.077</a:t>
              </a:r>
            </a:p>
          </p:txBody>
        </p:sp>
        <p:sp>
          <p:nvSpPr>
            <p:cNvPr id="31" name="SL1_0">
              <a:extLst>
                <a:ext uri="{FF2B5EF4-FFF2-40B4-BE49-F238E27FC236}">
                  <a16:creationId xmlns:a16="http://schemas.microsoft.com/office/drawing/2014/main" id="{5C5289D5-0465-495B-9163-22D7FB53579C}"/>
                </a:ext>
              </a:extLst>
            </p:cNvPr>
            <p:cNvSpPr txBox="1"/>
            <p:nvPr/>
          </p:nvSpPr>
          <p:spPr>
            <a:xfrm>
              <a:off x="4572000" y="4470400"/>
              <a:ext cx="16510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000" spc="200" dirty="0">
                  <a:solidFill>
                    <a:srgbClr val="D6EAF8"/>
                  </a:solidFill>
                </a:rPr>
                <a:t>VAL F1</a:t>
              </a:r>
            </a:p>
          </p:txBody>
        </p:sp>
        <p:sp>
          <p:nvSpPr>
            <p:cNvPr id="32" name="SV1_0">
              <a:extLst>
                <a:ext uri="{FF2B5EF4-FFF2-40B4-BE49-F238E27FC236}">
                  <a16:creationId xmlns:a16="http://schemas.microsoft.com/office/drawing/2014/main" id="{BD804038-FC74-4B8A-A8B2-D28591BB072D}"/>
                </a:ext>
              </a:extLst>
            </p:cNvPr>
            <p:cNvSpPr txBox="1"/>
            <p:nvPr/>
          </p:nvSpPr>
          <p:spPr>
            <a:xfrm>
              <a:off x="4572000" y="4724400"/>
              <a:ext cx="1651000" cy="635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0.262</a:t>
              </a:r>
            </a:p>
          </p:txBody>
        </p:sp>
        <p:sp>
          <p:nvSpPr>
            <p:cNvPr id="33" name="SC1_0">
              <a:extLst>
                <a:ext uri="{FF2B5EF4-FFF2-40B4-BE49-F238E27FC236}">
                  <a16:creationId xmlns:a16="http://schemas.microsoft.com/office/drawing/2014/main" id="{4E3E44B7-CEC8-476C-93F4-CEACF25098DF}"/>
                </a:ext>
              </a:extLst>
            </p:cNvPr>
            <p:cNvSpPr txBox="1"/>
            <p:nvPr/>
          </p:nvSpPr>
          <p:spPr>
            <a:xfrm>
              <a:off x="4572000" y="5384800"/>
              <a:ext cx="1651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validated</a:t>
              </a:r>
            </a:p>
          </p:txBody>
        </p:sp>
        <p:sp>
          <p:nvSpPr>
            <p:cNvPr id="34" name="SL1_1">
              <a:extLst>
                <a:ext uri="{FF2B5EF4-FFF2-40B4-BE49-F238E27FC236}">
                  <a16:creationId xmlns:a16="http://schemas.microsoft.com/office/drawing/2014/main" id="{105395B6-F982-4F9D-A69D-F6C19055CE39}"/>
                </a:ext>
              </a:extLst>
            </p:cNvPr>
            <p:cNvSpPr txBox="1"/>
            <p:nvPr/>
          </p:nvSpPr>
          <p:spPr>
            <a:xfrm>
              <a:off x="6477000" y="4470400"/>
              <a:ext cx="16510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000" spc="200" dirty="0">
                  <a:solidFill>
                    <a:srgbClr val="D6EAF8"/>
                  </a:solidFill>
                </a:rPr>
                <a:t>TEST F1</a:t>
              </a:r>
            </a:p>
          </p:txBody>
        </p:sp>
        <p:sp>
          <p:nvSpPr>
            <p:cNvPr id="35" name="SV1_1">
              <a:extLst>
                <a:ext uri="{FF2B5EF4-FFF2-40B4-BE49-F238E27FC236}">
                  <a16:creationId xmlns:a16="http://schemas.microsoft.com/office/drawing/2014/main" id="{43241B71-4644-49C2-83D5-4A84CB65C3E2}"/>
                </a:ext>
              </a:extLst>
            </p:cNvPr>
            <p:cNvSpPr txBox="1"/>
            <p:nvPr/>
          </p:nvSpPr>
          <p:spPr>
            <a:xfrm>
              <a:off x="6477000" y="4724400"/>
              <a:ext cx="1651000" cy="635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3200" b="1" dirty="0">
                  <a:solidFill>
                    <a:srgbClr val="00C2CC"/>
                  </a:solidFill>
                </a:rPr>
                <a:t>0.334</a:t>
              </a:r>
            </a:p>
          </p:txBody>
        </p:sp>
        <p:sp>
          <p:nvSpPr>
            <p:cNvPr id="36" name="SC1_1">
              <a:extLst>
                <a:ext uri="{FF2B5EF4-FFF2-40B4-BE49-F238E27FC236}">
                  <a16:creationId xmlns:a16="http://schemas.microsoft.com/office/drawing/2014/main" id="{E2175FA5-EB21-4A1A-8EA4-C901B3B23690}"/>
                </a:ext>
              </a:extLst>
            </p:cNvPr>
            <p:cNvSpPr txBox="1"/>
            <p:nvPr/>
          </p:nvSpPr>
          <p:spPr>
            <a:xfrm>
              <a:off x="6477000" y="5384800"/>
              <a:ext cx="1651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vs 0.012 default</a:t>
              </a:r>
            </a:p>
          </p:txBody>
        </p:sp>
        <p:sp>
          <p:nvSpPr>
            <p:cNvPr id="37" name="SL1_2">
              <a:extLst>
                <a:ext uri="{FF2B5EF4-FFF2-40B4-BE49-F238E27FC236}">
                  <a16:creationId xmlns:a16="http://schemas.microsoft.com/office/drawing/2014/main" id="{255E099C-0150-4FB3-8C6C-81591DAC8BB7}"/>
                </a:ext>
              </a:extLst>
            </p:cNvPr>
            <p:cNvSpPr txBox="1"/>
            <p:nvPr/>
          </p:nvSpPr>
          <p:spPr>
            <a:xfrm>
              <a:off x="8382000" y="4470400"/>
              <a:ext cx="16510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000" spc="200" dirty="0">
                  <a:solidFill>
                    <a:srgbClr val="D6EAF8"/>
                  </a:solidFill>
                </a:rPr>
                <a:t>TEST RECALL</a:t>
              </a:r>
            </a:p>
          </p:txBody>
        </p:sp>
        <p:sp>
          <p:nvSpPr>
            <p:cNvPr id="38" name="SV1_2">
              <a:extLst>
                <a:ext uri="{FF2B5EF4-FFF2-40B4-BE49-F238E27FC236}">
                  <a16:creationId xmlns:a16="http://schemas.microsoft.com/office/drawing/2014/main" id="{6CB2E75F-4050-4486-A65F-AC39A5BB5FE3}"/>
                </a:ext>
              </a:extLst>
            </p:cNvPr>
            <p:cNvSpPr txBox="1"/>
            <p:nvPr/>
          </p:nvSpPr>
          <p:spPr>
            <a:xfrm>
              <a:off x="8382000" y="4724400"/>
              <a:ext cx="1651000" cy="635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3200" b="1" dirty="0">
                  <a:solidFill>
                    <a:srgbClr val="00C2CC"/>
                  </a:solidFill>
                </a:rPr>
                <a:t>0.900</a:t>
              </a:r>
            </a:p>
          </p:txBody>
        </p:sp>
        <p:sp>
          <p:nvSpPr>
            <p:cNvPr id="39" name="SC1_2">
              <a:extLst>
                <a:ext uri="{FF2B5EF4-FFF2-40B4-BE49-F238E27FC236}">
                  <a16:creationId xmlns:a16="http://schemas.microsoft.com/office/drawing/2014/main" id="{4258AEC0-7A05-49F4-89C8-A9F3C73AB560}"/>
                </a:ext>
              </a:extLst>
            </p:cNvPr>
            <p:cNvSpPr txBox="1"/>
            <p:nvPr/>
          </p:nvSpPr>
          <p:spPr>
            <a:xfrm>
              <a:off x="8382000" y="5384800"/>
              <a:ext cx="1651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from 0.006</a:t>
              </a:r>
            </a:p>
          </p:txBody>
        </p:sp>
      </p:grpSp>
      <p:sp>
        <p:nvSpPr>
          <p:cNvPr id="40" name="Note">
            <a:extLst>
              <a:ext uri="{FF2B5EF4-FFF2-40B4-BE49-F238E27FC236}">
                <a16:creationId xmlns:a16="http://schemas.microsoft.com/office/drawing/2014/main" id="{292A9ABB-8F5E-4786-8E5B-A1AAD5213D4F}"/>
              </a:ext>
            </a:extLst>
          </p:cNvPr>
          <p:cNvSpPr/>
          <p:nvPr/>
        </p:nvSpPr>
        <p:spPr>
          <a:xfrm>
            <a:off x="1143000" y="6146800"/>
            <a:ext cx="9906000" cy="2794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" name="NoteTxt">
            <a:extLst>
              <a:ext uri="{FF2B5EF4-FFF2-40B4-BE49-F238E27FC236}">
                <a16:creationId xmlns:a16="http://schemas.microsoft.com/office/drawing/2014/main" id="{EB2990C6-9C2C-4C7C-861C-2F6187348946}"/>
              </a:ext>
            </a:extLst>
          </p:cNvPr>
          <p:cNvSpPr txBox="1"/>
          <p:nvPr/>
        </p:nvSpPr>
        <p:spPr>
          <a:xfrm>
            <a:off x="1203960" y="6172200"/>
            <a:ext cx="965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B1E3F"/>
                </a:solidFill>
              </a:rPr>
              <a:t>Validation-tuned threshold lifts RF recall from 0.006 to 0.900, supporting its role as a high-coverage alert detector.</a:t>
            </a:r>
          </a:p>
        </p:txBody>
      </p:sp>
      <p:sp>
        <p:nvSpPr>
          <p:cNvPr id="42" name="Footer">
            <a:extLst>
              <a:ext uri="{FF2B5EF4-FFF2-40B4-BE49-F238E27FC236}">
                <a16:creationId xmlns:a16="http://schemas.microsoft.com/office/drawing/2014/main" id="{B94F1B87-7CF1-488B-9735-1C706B6EA386}"/>
              </a:ext>
            </a:extLst>
          </p:cNvPr>
          <p:cNvSpPr txBox="1"/>
          <p:nvPr/>
        </p:nvSpPr>
        <p:spPr>
          <a:xfrm>
            <a:off x="1143000" y="6573520"/>
            <a:ext cx="9906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000" dirty="0">
                <a:solidFill>
                  <a:srgbClr val="D6EAF8"/>
                </a:solidFill>
              </a:rPr>
              <a:t>9 / 15  ·  LD7083  ·  w24037842</a:t>
            </a:r>
          </a:p>
        </p:txBody>
      </p:sp>
    </p:spTree>
    <p:extLst>
      <p:ext uri="{BB962C8B-B14F-4D97-AF65-F5344CB8AC3E}">
        <p14:creationId xmlns:p14="http://schemas.microsoft.com/office/powerpoint/2010/main" val="3372488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AC58826D-D1B3-4993-B8D2-F8C2B7BE2F8B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">
            <a:extLst>
              <a:ext uri="{FF2B5EF4-FFF2-40B4-BE49-F238E27FC236}">
                <a16:creationId xmlns:a16="http://schemas.microsoft.com/office/drawing/2014/main" id="{ADE57CF9-9447-4654-9CE1-C6A3B54EBD30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5EDCBD04-DF2D-48E7-A716-56B5700A4A45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C9F69A5-A026-452E-86EE-FEDC62716CC1}"/>
              </a:ext>
            </a:extLst>
          </p:cNvPr>
          <p:cNvSpPr txBox="1"/>
          <p:nvPr/>
        </p:nvSpPr>
        <p:spPr>
          <a:xfrm>
            <a:off x="1143000" y="45720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Alert detectors &amp; fusion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4511FD78-438E-4CEB-B404-F4AAB1948A65}"/>
              </a:ext>
            </a:extLst>
          </p:cNvPr>
          <p:cNvSpPr txBox="1"/>
          <p:nvPr/>
        </p:nvSpPr>
        <p:spPr>
          <a:xfrm>
            <a:off x="1143000" y="105410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D6EAF8"/>
                </a:solidFill>
              </a:rPr>
              <a:t>From probabilities to operator-ready alerts</a:t>
            </a:r>
          </a:p>
        </p:txBody>
      </p:sp>
      <p:sp>
        <p:nvSpPr>
          <p:cNvPr id="7" name="Div">
            <a:extLst>
              <a:ext uri="{FF2B5EF4-FFF2-40B4-BE49-F238E27FC236}">
                <a16:creationId xmlns:a16="http://schemas.microsoft.com/office/drawing/2014/main" id="{D588E546-485D-4301-B6AA-32C590C30B08}"/>
              </a:ext>
            </a:extLst>
          </p:cNvPr>
          <p:cNvSpPr/>
          <p:nvPr/>
        </p:nvSpPr>
        <p:spPr>
          <a:xfrm>
            <a:off x="1143000" y="148590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DC0">
            <a:extLst>
              <a:ext uri="{FF2B5EF4-FFF2-40B4-BE49-F238E27FC236}">
                <a16:creationId xmlns:a16="http://schemas.microsoft.com/office/drawing/2014/main" id="{119096C7-8974-4365-B35A-867F496057B9}"/>
              </a:ext>
            </a:extLst>
          </p:cNvPr>
          <p:cNvSpPr/>
          <p:nvPr/>
        </p:nvSpPr>
        <p:spPr>
          <a:xfrm>
            <a:off x="1143000" y="1993900"/>
            <a:ext cx="4826000" cy="18415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DStrip0">
            <a:extLst>
              <a:ext uri="{FF2B5EF4-FFF2-40B4-BE49-F238E27FC236}">
                <a16:creationId xmlns:a16="http://schemas.microsoft.com/office/drawing/2014/main" id="{C740F3C3-5860-4E30-8120-1305B483916C}"/>
              </a:ext>
            </a:extLst>
          </p:cNvPr>
          <p:cNvSpPr/>
          <p:nvPr/>
        </p:nvSpPr>
        <p:spPr>
          <a:xfrm>
            <a:off x="1143000" y="1993900"/>
            <a:ext cx="48260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DTag0">
            <a:extLst>
              <a:ext uri="{FF2B5EF4-FFF2-40B4-BE49-F238E27FC236}">
                <a16:creationId xmlns:a16="http://schemas.microsoft.com/office/drawing/2014/main" id="{7784B802-9977-442D-8A18-1EB26A65F067}"/>
              </a:ext>
            </a:extLst>
          </p:cNvPr>
          <p:cNvSpPr txBox="1"/>
          <p:nvPr/>
        </p:nvSpPr>
        <p:spPr>
          <a:xfrm>
            <a:off x="1371600" y="2222500"/>
            <a:ext cx="436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C2CC"/>
                </a:solidFill>
              </a:rPr>
              <a:t>LR detector</a:t>
            </a:r>
          </a:p>
        </p:txBody>
      </p:sp>
      <p:sp>
        <p:nvSpPr>
          <p:cNvPr id="11" name="DSL0_0">
            <a:extLst>
              <a:ext uri="{FF2B5EF4-FFF2-40B4-BE49-F238E27FC236}">
                <a16:creationId xmlns:a16="http://schemas.microsoft.com/office/drawing/2014/main" id="{7A3362C4-542A-41D1-AD9E-3D7D6143A333}"/>
              </a:ext>
            </a:extLst>
          </p:cNvPr>
          <p:cNvSpPr txBox="1"/>
          <p:nvPr/>
        </p:nvSpPr>
        <p:spPr>
          <a:xfrm>
            <a:off x="1371600" y="2755900"/>
            <a:ext cx="14562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spc="80" dirty="0">
                <a:solidFill>
                  <a:srgbClr val="D6EAF8"/>
                </a:solidFill>
              </a:rPr>
              <a:t>Precision</a:t>
            </a:r>
          </a:p>
        </p:txBody>
      </p:sp>
      <p:sp>
        <p:nvSpPr>
          <p:cNvPr id="12" name="DSV0_0">
            <a:extLst>
              <a:ext uri="{FF2B5EF4-FFF2-40B4-BE49-F238E27FC236}">
                <a16:creationId xmlns:a16="http://schemas.microsoft.com/office/drawing/2014/main" id="{CD53BA26-28AA-408F-BA83-EA7733419B25}"/>
              </a:ext>
            </a:extLst>
          </p:cNvPr>
          <p:cNvSpPr txBox="1"/>
          <p:nvPr/>
        </p:nvSpPr>
        <p:spPr>
          <a:xfrm>
            <a:off x="1371600" y="2984500"/>
            <a:ext cx="1456266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0.244</a:t>
            </a:r>
          </a:p>
        </p:txBody>
      </p:sp>
      <p:sp>
        <p:nvSpPr>
          <p:cNvPr id="13" name="DSL0_1">
            <a:extLst>
              <a:ext uri="{FF2B5EF4-FFF2-40B4-BE49-F238E27FC236}">
                <a16:creationId xmlns:a16="http://schemas.microsoft.com/office/drawing/2014/main" id="{EF39A0A4-ED0E-4843-A245-7413F785C885}"/>
              </a:ext>
            </a:extLst>
          </p:cNvPr>
          <p:cNvSpPr txBox="1"/>
          <p:nvPr/>
        </p:nvSpPr>
        <p:spPr>
          <a:xfrm>
            <a:off x="2827866" y="2755900"/>
            <a:ext cx="14562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spc="80" dirty="0">
                <a:solidFill>
                  <a:srgbClr val="D6EAF8"/>
                </a:solidFill>
              </a:rPr>
              <a:t>Recall</a:t>
            </a:r>
          </a:p>
        </p:txBody>
      </p:sp>
      <p:sp>
        <p:nvSpPr>
          <p:cNvPr id="14" name="DSV0_1">
            <a:extLst>
              <a:ext uri="{FF2B5EF4-FFF2-40B4-BE49-F238E27FC236}">
                <a16:creationId xmlns:a16="http://schemas.microsoft.com/office/drawing/2014/main" id="{D91C1D21-9C6E-4350-9553-59318DB4F031}"/>
              </a:ext>
            </a:extLst>
          </p:cNvPr>
          <p:cNvSpPr txBox="1"/>
          <p:nvPr/>
        </p:nvSpPr>
        <p:spPr>
          <a:xfrm>
            <a:off x="2827866" y="2984500"/>
            <a:ext cx="1456266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0.491</a:t>
            </a:r>
          </a:p>
        </p:txBody>
      </p:sp>
      <p:sp>
        <p:nvSpPr>
          <p:cNvPr id="15" name="DSL0_2">
            <a:extLst>
              <a:ext uri="{FF2B5EF4-FFF2-40B4-BE49-F238E27FC236}">
                <a16:creationId xmlns:a16="http://schemas.microsoft.com/office/drawing/2014/main" id="{0153E3EF-ED9A-4887-9C8B-D00204F75D49}"/>
              </a:ext>
            </a:extLst>
          </p:cNvPr>
          <p:cNvSpPr txBox="1"/>
          <p:nvPr/>
        </p:nvSpPr>
        <p:spPr>
          <a:xfrm>
            <a:off x="4284133" y="2755900"/>
            <a:ext cx="14562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spc="80" dirty="0">
                <a:solidFill>
                  <a:srgbClr val="D6EAF8"/>
                </a:solidFill>
              </a:rPr>
              <a:t>F1</a:t>
            </a:r>
          </a:p>
        </p:txBody>
      </p:sp>
      <p:sp>
        <p:nvSpPr>
          <p:cNvPr id="16" name="DSV0_2">
            <a:extLst>
              <a:ext uri="{FF2B5EF4-FFF2-40B4-BE49-F238E27FC236}">
                <a16:creationId xmlns:a16="http://schemas.microsoft.com/office/drawing/2014/main" id="{3D52833D-29C2-41D5-A8C8-983B767779AC}"/>
              </a:ext>
            </a:extLst>
          </p:cNvPr>
          <p:cNvSpPr txBox="1"/>
          <p:nvPr/>
        </p:nvSpPr>
        <p:spPr>
          <a:xfrm>
            <a:off x="4284133" y="2984500"/>
            <a:ext cx="1456266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0.326</a:t>
            </a:r>
          </a:p>
        </p:txBody>
      </p:sp>
      <p:sp>
        <p:nvSpPr>
          <p:cNvPr id="17" name="DAlertLbl0">
            <a:extLst>
              <a:ext uri="{FF2B5EF4-FFF2-40B4-BE49-F238E27FC236}">
                <a16:creationId xmlns:a16="http://schemas.microsoft.com/office/drawing/2014/main" id="{661257F8-8A27-45F9-9856-2B6817B3C534}"/>
              </a:ext>
            </a:extLst>
          </p:cNvPr>
          <p:cNvSpPr txBox="1"/>
          <p:nvPr/>
        </p:nvSpPr>
        <p:spPr>
          <a:xfrm>
            <a:off x="1371600" y="35814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i="1" dirty="0">
                <a:solidFill>
                  <a:srgbClr val="D6EAF8"/>
                </a:solidFill>
              </a:rPr>
              <a:t>2,060 alerts on test split</a:t>
            </a:r>
          </a:p>
        </p:txBody>
      </p:sp>
      <p:sp>
        <p:nvSpPr>
          <p:cNvPr id="18" name="DC1">
            <a:extLst>
              <a:ext uri="{FF2B5EF4-FFF2-40B4-BE49-F238E27FC236}">
                <a16:creationId xmlns:a16="http://schemas.microsoft.com/office/drawing/2014/main" id="{AE40FCC7-568D-4215-B166-5942F27D7E3A}"/>
              </a:ext>
            </a:extLst>
          </p:cNvPr>
          <p:cNvSpPr/>
          <p:nvPr/>
        </p:nvSpPr>
        <p:spPr>
          <a:xfrm>
            <a:off x="6223000" y="1993900"/>
            <a:ext cx="4826000" cy="18415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DStrip1">
            <a:extLst>
              <a:ext uri="{FF2B5EF4-FFF2-40B4-BE49-F238E27FC236}">
                <a16:creationId xmlns:a16="http://schemas.microsoft.com/office/drawing/2014/main" id="{CC7506ED-6CB4-4A39-BEA3-E35985ACD7BE}"/>
              </a:ext>
            </a:extLst>
          </p:cNvPr>
          <p:cNvSpPr/>
          <p:nvPr/>
        </p:nvSpPr>
        <p:spPr>
          <a:xfrm>
            <a:off x="6223000" y="1993900"/>
            <a:ext cx="48260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DTag1">
            <a:extLst>
              <a:ext uri="{FF2B5EF4-FFF2-40B4-BE49-F238E27FC236}">
                <a16:creationId xmlns:a16="http://schemas.microsoft.com/office/drawing/2014/main" id="{792196ED-0B19-45DA-B578-7028B67B948A}"/>
              </a:ext>
            </a:extLst>
          </p:cNvPr>
          <p:cNvSpPr txBox="1"/>
          <p:nvPr/>
        </p:nvSpPr>
        <p:spPr>
          <a:xfrm>
            <a:off x="6451600" y="2222500"/>
            <a:ext cx="436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C2CC"/>
                </a:solidFill>
              </a:rPr>
              <a:t>RF detector</a:t>
            </a:r>
          </a:p>
        </p:txBody>
      </p:sp>
      <p:sp>
        <p:nvSpPr>
          <p:cNvPr id="21" name="DSL1_0">
            <a:extLst>
              <a:ext uri="{FF2B5EF4-FFF2-40B4-BE49-F238E27FC236}">
                <a16:creationId xmlns:a16="http://schemas.microsoft.com/office/drawing/2014/main" id="{508D75D4-7F27-459F-A189-18847C50B68A}"/>
              </a:ext>
            </a:extLst>
          </p:cNvPr>
          <p:cNvSpPr txBox="1"/>
          <p:nvPr/>
        </p:nvSpPr>
        <p:spPr>
          <a:xfrm>
            <a:off x="6451600" y="2755900"/>
            <a:ext cx="14562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spc="80" dirty="0">
                <a:solidFill>
                  <a:srgbClr val="D6EAF8"/>
                </a:solidFill>
              </a:rPr>
              <a:t>Precision</a:t>
            </a:r>
          </a:p>
        </p:txBody>
      </p:sp>
      <p:sp>
        <p:nvSpPr>
          <p:cNvPr id="22" name="DSV1_0">
            <a:extLst>
              <a:ext uri="{FF2B5EF4-FFF2-40B4-BE49-F238E27FC236}">
                <a16:creationId xmlns:a16="http://schemas.microsoft.com/office/drawing/2014/main" id="{6F2A4A47-9884-4A6F-89F0-1ECA4274E915}"/>
              </a:ext>
            </a:extLst>
          </p:cNvPr>
          <p:cNvSpPr txBox="1"/>
          <p:nvPr/>
        </p:nvSpPr>
        <p:spPr>
          <a:xfrm>
            <a:off x="6451600" y="2984500"/>
            <a:ext cx="1456266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0.211</a:t>
            </a:r>
          </a:p>
        </p:txBody>
      </p:sp>
      <p:sp>
        <p:nvSpPr>
          <p:cNvPr id="23" name="DSL1_1">
            <a:extLst>
              <a:ext uri="{FF2B5EF4-FFF2-40B4-BE49-F238E27FC236}">
                <a16:creationId xmlns:a16="http://schemas.microsoft.com/office/drawing/2014/main" id="{2AB034C7-5C06-4C01-8976-B0FB7DCC2438}"/>
              </a:ext>
            </a:extLst>
          </p:cNvPr>
          <p:cNvSpPr txBox="1"/>
          <p:nvPr/>
        </p:nvSpPr>
        <p:spPr>
          <a:xfrm>
            <a:off x="7907866" y="2755900"/>
            <a:ext cx="14562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spc="80" dirty="0">
                <a:solidFill>
                  <a:srgbClr val="D6EAF8"/>
                </a:solidFill>
              </a:rPr>
              <a:t>Recall</a:t>
            </a:r>
          </a:p>
        </p:txBody>
      </p:sp>
      <p:sp>
        <p:nvSpPr>
          <p:cNvPr id="24" name="DSV1_1">
            <a:extLst>
              <a:ext uri="{FF2B5EF4-FFF2-40B4-BE49-F238E27FC236}">
                <a16:creationId xmlns:a16="http://schemas.microsoft.com/office/drawing/2014/main" id="{913CA2C0-DC37-47E4-A607-55C30753AA80}"/>
              </a:ext>
            </a:extLst>
          </p:cNvPr>
          <p:cNvSpPr txBox="1"/>
          <p:nvPr/>
        </p:nvSpPr>
        <p:spPr>
          <a:xfrm>
            <a:off x="7907866" y="2984500"/>
            <a:ext cx="1456266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0.909</a:t>
            </a:r>
          </a:p>
        </p:txBody>
      </p:sp>
      <p:sp>
        <p:nvSpPr>
          <p:cNvPr id="25" name="DSL1_2">
            <a:extLst>
              <a:ext uri="{FF2B5EF4-FFF2-40B4-BE49-F238E27FC236}">
                <a16:creationId xmlns:a16="http://schemas.microsoft.com/office/drawing/2014/main" id="{702F1E3D-5898-4AE9-AA8C-87F994493A37}"/>
              </a:ext>
            </a:extLst>
          </p:cNvPr>
          <p:cNvSpPr txBox="1"/>
          <p:nvPr/>
        </p:nvSpPr>
        <p:spPr>
          <a:xfrm>
            <a:off x="9364133" y="2755900"/>
            <a:ext cx="14562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spc="80" dirty="0">
                <a:solidFill>
                  <a:srgbClr val="D6EAF8"/>
                </a:solidFill>
              </a:rPr>
              <a:t>F1</a:t>
            </a:r>
          </a:p>
        </p:txBody>
      </p:sp>
      <p:sp>
        <p:nvSpPr>
          <p:cNvPr id="26" name="DSV1_2">
            <a:extLst>
              <a:ext uri="{FF2B5EF4-FFF2-40B4-BE49-F238E27FC236}">
                <a16:creationId xmlns:a16="http://schemas.microsoft.com/office/drawing/2014/main" id="{0BA56D2A-384D-4139-860E-F207146FE2EF}"/>
              </a:ext>
            </a:extLst>
          </p:cNvPr>
          <p:cNvSpPr txBox="1"/>
          <p:nvPr/>
        </p:nvSpPr>
        <p:spPr>
          <a:xfrm>
            <a:off x="9364133" y="2984500"/>
            <a:ext cx="1456266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0.343</a:t>
            </a:r>
          </a:p>
        </p:txBody>
      </p:sp>
      <p:sp>
        <p:nvSpPr>
          <p:cNvPr id="27" name="DAlertLbl1">
            <a:extLst>
              <a:ext uri="{FF2B5EF4-FFF2-40B4-BE49-F238E27FC236}">
                <a16:creationId xmlns:a16="http://schemas.microsoft.com/office/drawing/2014/main" id="{64A9EF2B-9802-47AE-86AF-C151570FF42F}"/>
              </a:ext>
            </a:extLst>
          </p:cNvPr>
          <p:cNvSpPr txBox="1"/>
          <p:nvPr/>
        </p:nvSpPr>
        <p:spPr>
          <a:xfrm>
            <a:off x="6451600" y="35814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i="1" dirty="0">
                <a:solidFill>
                  <a:srgbClr val="D6EAF8"/>
                </a:solidFill>
              </a:rPr>
              <a:t>4,411 alerts on test split</a:t>
            </a:r>
          </a:p>
        </p:txBody>
      </p:sp>
      <p:sp>
        <p:nvSpPr>
          <p:cNvPr id="28" name="FuseLabel">
            <a:extLst>
              <a:ext uri="{FF2B5EF4-FFF2-40B4-BE49-F238E27FC236}">
                <a16:creationId xmlns:a16="http://schemas.microsoft.com/office/drawing/2014/main" id="{6BC3F85C-28AA-4B11-88C6-7C8E6C9ABC96}"/>
              </a:ext>
            </a:extLst>
          </p:cNvPr>
          <p:cNvSpPr txBox="1"/>
          <p:nvPr/>
        </p:nvSpPr>
        <p:spPr>
          <a:xfrm>
            <a:off x="1143000" y="41529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00C2CC"/>
                </a:solidFill>
              </a:rPr>
              <a:t>↓  Combine via voting policy  ↓</a:t>
            </a:r>
          </a:p>
        </p:txBody>
      </p:sp>
      <p:sp>
        <p:nvSpPr>
          <p:cNvPr id="29" name="FC0">
            <a:extLst>
              <a:ext uri="{FF2B5EF4-FFF2-40B4-BE49-F238E27FC236}">
                <a16:creationId xmlns:a16="http://schemas.microsoft.com/office/drawing/2014/main" id="{69D6F031-051A-41C4-BFD3-8605CC4B01F0}"/>
              </a:ext>
            </a:extLst>
          </p:cNvPr>
          <p:cNvSpPr/>
          <p:nvPr/>
        </p:nvSpPr>
        <p:spPr>
          <a:xfrm>
            <a:off x="1143000" y="4597400"/>
            <a:ext cx="4826000" cy="1445260"/>
          </a:xfrm>
          <a:prstGeom prst="rect">
            <a:avLst/>
          </a:prstGeom>
          <a:solidFill>
            <a:srgbClr val="0F2748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" name="FTag0">
            <a:extLst>
              <a:ext uri="{FF2B5EF4-FFF2-40B4-BE49-F238E27FC236}">
                <a16:creationId xmlns:a16="http://schemas.microsoft.com/office/drawing/2014/main" id="{BAEA5FB0-ABC8-4488-A025-89A1FA5BBEE2}"/>
              </a:ext>
            </a:extLst>
          </p:cNvPr>
          <p:cNvSpPr txBox="1"/>
          <p:nvPr/>
        </p:nvSpPr>
        <p:spPr>
          <a:xfrm>
            <a:off x="1371600" y="4749800"/>
            <a:ext cx="436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FFFFFF"/>
                </a:solidFill>
              </a:rPr>
              <a:t>OR fusion</a:t>
            </a:r>
          </a:p>
        </p:txBody>
      </p:sp>
      <p:sp>
        <p:nvSpPr>
          <p:cNvPr id="31" name="FSub0">
            <a:extLst>
              <a:ext uri="{FF2B5EF4-FFF2-40B4-BE49-F238E27FC236}">
                <a16:creationId xmlns:a16="http://schemas.microsoft.com/office/drawing/2014/main" id="{752D8C4E-A2C3-4944-87DA-8F36551D87B8}"/>
              </a:ext>
            </a:extLst>
          </p:cNvPr>
          <p:cNvSpPr txBox="1"/>
          <p:nvPr/>
        </p:nvSpPr>
        <p:spPr>
          <a:xfrm>
            <a:off x="1371600" y="50800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i="1" dirty="0">
                <a:solidFill>
                  <a:srgbClr val="D6EAF8"/>
                </a:solidFill>
              </a:rPr>
              <a:t>any detector alerts → fire</a:t>
            </a:r>
          </a:p>
        </p:txBody>
      </p:sp>
      <p:sp>
        <p:nvSpPr>
          <p:cNvPr id="32" name="FSL0_0">
            <a:extLst>
              <a:ext uri="{FF2B5EF4-FFF2-40B4-BE49-F238E27FC236}">
                <a16:creationId xmlns:a16="http://schemas.microsoft.com/office/drawing/2014/main" id="{AE086825-6065-44EA-A581-BFF9F28FB4DA}"/>
              </a:ext>
            </a:extLst>
          </p:cNvPr>
          <p:cNvSpPr txBox="1"/>
          <p:nvPr/>
        </p:nvSpPr>
        <p:spPr>
          <a:xfrm>
            <a:off x="1371600" y="5384800"/>
            <a:ext cx="1456266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Prec</a:t>
            </a:r>
          </a:p>
        </p:txBody>
      </p:sp>
      <p:sp>
        <p:nvSpPr>
          <p:cNvPr id="33" name="FSV0_0">
            <a:extLst>
              <a:ext uri="{FF2B5EF4-FFF2-40B4-BE49-F238E27FC236}">
                <a16:creationId xmlns:a16="http://schemas.microsoft.com/office/drawing/2014/main" id="{23BFBE22-65FB-4DB9-AB06-B2DE75C600C1}"/>
              </a:ext>
            </a:extLst>
          </p:cNvPr>
          <p:cNvSpPr txBox="1"/>
          <p:nvPr/>
        </p:nvSpPr>
        <p:spPr>
          <a:xfrm>
            <a:off x="1371600" y="5588000"/>
            <a:ext cx="1456266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0.208</a:t>
            </a:r>
          </a:p>
        </p:txBody>
      </p:sp>
      <p:sp>
        <p:nvSpPr>
          <p:cNvPr id="34" name="FSL0_1">
            <a:extLst>
              <a:ext uri="{FF2B5EF4-FFF2-40B4-BE49-F238E27FC236}">
                <a16:creationId xmlns:a16="http://schemas.microsoft.com/office/drawing/2014/main" id="{3A817EFE-901D-4C31-8DC3-6869ED439A8C}"/>
              </a:ext>
            </a:extLst>
          </p:cNvPr>
          <p:cNvSpPr txBox="1"/>
          <p:nvPr/>
        </p:nvSpPr>
        <p:spPr>
          <a:xfrm>
            <a:off x="2827866" y="5384800"/>
            <a:ext cx="1456266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Rec</a:t>
            </a:r>
          </a:p>
        </p:txBody>
      </p:sp>
      <p:sp>
        <p:nvSpPr>
          <p:cNvPr id="35" name="FSV0_1">
            <a:extLst>
              <a:ext uri="{FF2B5EF4-FFF2-40B4-BE49-F238E27FC236}">
                <a16:creationId xmlns:a16="http://schemas.microsoft.com/office/drawing/2014/main" id="{322CCA95-0FF7-4898-9B4B-AF48EF505C10}"/>
              </a:ext>
            </a:extLst>
          </p:cNvPr>
          <p:cNvSpPr txBox="1"/>
          <p:nvPr/>
        </p:nvSpPr>
        <p:spPr>
          <a:xfrm>
            <a:off x="2827866" y="5588000"/>
            <a:ext cx="1456266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00C2CC"/>
                </a:solidFill>
              </a:rPr>
              <a:t>0.957</a:t>
            </a:r>
          </a:p>
        </p:txBody>
      </p:sp>
      <p:sp>
        <p:nvSpPr>
          <p:cNvPr id="36" name="FSL0_2">
            <a:extLst>
              <a:ext uri="{FF2B5EF4-FFF2-40B4-BE49-F238E27FC236}">
                <a16:creationId xmlns:a16="http://schemas.microsoft.com/office/drawing/2014/main" id="{A8EBE974-3C0E-48BA-AFD3-BA3418340622}"/>
              </a:ext>
            </a:extLst>
          </p:cNvPr>
          <p:cNvSpPr txBox="1"/>
          <p:nvPr/>
        </p:nvSpPr>
        <p:spPr>
          <a:xfrm>
            <a:off x="4284133" y="5384800"/>
            <a:ext cx="1456266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F1</a:t>
            </a:r>
          </a:p>
        </p:txBody>
      </p:sp>
      <p:sp>
        <p:nvSpPr>
          <p:cNvPr id="37" name="FSV0_2">
            <a:extLst>
              <a:ext uri="{FF2B5EF4-FFF2-40B4-BE49-F238E27FC236}">
                <a16:creationId xmlns:a16="http://schemas.microsoft.com/office/drawing/2014/main" id="{12C296C4-A0D7-43CF-A296-6628C1D1F3EF}"/>
              </a:ext>
            </a:extLst>
          </p:cNvPr>
          <p:cNvSpPr txBox="1"/>
          <p:nvPr/>
        </p:nvSpPr>
        <p:spPr>
          <a:xfrm>
            <a:off x="4284133" y="5588000"/>
            <a:ext cx="1456266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0.342</a:t>
            </a:r>
          </a:p>
        </p:txBody>
      </p:sp>
      <p:sp>
        <p:nvSpPr>
          <p:cNvPr id="38" name="FC1">
            <a:extLst>
              <a:ext uri="{FF2B5EF4-FFF2-40B4-BE49-F238E27FC236}">
                <a16:creationId xmlns:a16="http://schemas.microsoft.com/office/drawing/2014/main" id="{E0F31FD5-577B-4205-B606-5572C2593553}"/>
              </a:ext>
            </a:extLst>
          </p:cNvPr>
          <p:cNvSpPr/>
          <p:nvPr/>
        </p:nvSpPr>
        <p:spPr>
          <a:xfrm>
            <a:off x="6223000" y="4597400"/>
            <a:ext cx="4826000" cy="1445260"/>
          </a:xfrm>
          <a:prstGeom prst="rect">
            <a:avLst/>
          </a:prstGeom>
          <a:solidFill>
            <a:srgbClr val="0F2748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" name="FTag1">
            <a:extLst>
              <a:ext uri="{FF2B5EF4-FFF2-40B4-BE49-F238E27FC236}">
                <a16:creationId xmlns:a16="http://schemas.microsoft.com/office/drawing/2014/main" id="{53477853-D5EF-45F4-A7F5-F24867679396}"/>
              </a:ext>
            </a:extLst>
          </p:cNvPr>
          <p:cNvSpPr txBox="1"/>
          <p:nvPr/>
        </p:nvSpPr>
        <p:spPr>
          <a:xfrm>
            <a:off x="6451600" y="4749800"/>
            <a:ext cx="436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FFFFFF"/>
                </a:solidFill>
              </a:rPr>
              <a:t>Consensus fusion</a:t>
            </a:r>
          </a:p>
        </p:txBody>
      </p:sp>
      <p:sp>
        <p:nvSpPr>
          <p:cNvPr id="40" name="FSub1">
            <a:extLst>
              <a:ext uri="{FF2B5EF4-FFF2-40B4-BE49-F238E27FC236}">
                <a16:creationId xmlns:a16="http://schemas.microsoft.com/office/drawing/2014/main" id="{5EAE4825-6AA8-436C-9081-36502CFBA2A4}"/>
              </a:ext>
            </a:extLst>
          </p:cNvPr>
          <p:cNvSpPr txBox="1"/>
          <p:nvPr/>
        </p:nvSpPr>
        <p:spPr>
          <a:xfrm>
            <a:off x="6451600" y="50800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i="1" dirty="0">
                <a:solidFill>
                  <a:srgbClr val="D6EAF8"/>
                </a:solidFill>
              </a:rPr>
              <a:t>majority must agree → fire</a:t>
            </a:r>
          </a:p>
        </p:txBody>
      </p:sp>
      <p:sp>
        <p:nvSpPr>
          <p:cNvPr id="41" name="FSL1_0">
            <a:extLst>
              <a:ext uri="{FF2B5EF4-FFF2-40B4-BE49-F238E27FC236}">
                <a16:creationId xmlns:a16="http://schemas.microsoft.com/office/drawing/2014/main" id="{E99B146B-EBAB-4A37-9552-560892047A86}"/>
              </a:ext>
            </a:extLst>
          </p:cNvPr>
          <p:cNvSpPr txBox="1"/>
          <p:nvPr/>
        </p:nvSpPr>
        <p:spPr>
          <a:xfrm>
            <a:off x="6451600" y="5384800"/>
            <a:ext cx="1456266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Prec</a:t>
            </a:r>
          </a:p>
        </p:txBody>
      </p:sp>
      <p:sp>
        <p:nvSpPr>
          <p:cNvPr id="42" name="FSV1_0">
            <a:extLst>
              <a:ext uri="{FF2B5EF4-FFF2-40B4-BE49-F238E27FC236}">
                <a16:creationId xmlns:a16="http://schemas.microsoft.com/office/drawing/2014/main" id="{8A95EDC5-0BEC-41D2-8C5E-DD3E5C8662C6}"/>
              </a:ext>
            </a:extLst>
          </p:cNvPr>
          <p:cNvSpPr txBox="1"/>
          <p:nvPr/>
        </p:nvSpPr>
        <p:spPr>
          <a:xfrm>
            <a:off x="6451600" y="5588000"/>
            <a:ext cx="1456266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0.234</a:t>
            </a:r>
          </a:p>
        </p:txBody>
      </p:sp>
      <p:sp>
        <p:nvSpPr>
          <p:cNvPr id="43" name="FSL1_1">
            <a:extLst>
              <a:ext uri="{FF2B5EF4-FFF2-40B4-BE49-F238E27FC236}">
                <a16:creationId xmlns:a16="http://schemas.microsoft.com/office/drawing/2014/main" id="{928AAA3B-49F0-4D36-B188-58D91E2A4A36}"/>
              </a:ext>
            </a:extLst>
          </p:cNvPr>
          <p:cNvSpPr txBox="1"/>
          <p:nvPr/>
        </p:nvSpPr>
        <p:spPr>
          <a:xfrm>
            <a:off x="7907866" y="5384800"/>
            <a:ext cx="1456266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Rec</a:t>
            </a:r>
          </a:p>
        </p:txBody>
      </p:sp>
      <p:sp>
        <p:nvSpPr>
          <p:cNvPr id="44" name="FSV1_1">
            <a:extLst>
              <a:ext uri="{FF2B5EF4-FFF2-40B4-BE49-F238E27FC236}">
                <a16:creationId xmlns:a16="http://schemas.microsoft.com/office/drawing/2014/main" id="{CEC8A489-3CFA-43FC-B5EB-28D861B6F637}"/>
              </a:ext>
            </a:extLst>
          </p:cNvPr>
          <p:cNvSpPr txBox="1"/>
          <p:nvPr/>
        </p:nvSpPr>
        <p:spPr>
          <a:xfrm>
            <a:off x="7907866" y="5588000"/>
            <a:ext cx="1456266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0.748</a:t>
            </a:r>
          </a:p>
        </p:txBody>
      </p:sp>
      <p:sp>
        <p:nvSpPr>
          <p:cNvPr id="45" name="FSL1_2">
            <a:extLst>
              <a:ext uri="{FF2B5EF4-FFF2-40B4-BE49-F238E27FC236}">
                <a16:creationId xmlns:a16="http://schemas.microsoft.com/office/drawing/2014/main" id="{3EB69570-5900-4794-98A2-19FB900BD313}"/>
              </a:ext>
            </a:extLst>
          </p:cNvPr>
          <p:cNvSpPr txBox="1"/>
          <p:nvPr/>
        </p:nvSpPr>
        <p:spPr>
          <a:xfrm>
            <a:off x="9364133" y="5384800"/>
            <a:ext cx="1456266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F1</a:t>
            </a:r>
          </a:p>
        </p:txBody>
      </p:sp>
      <p:sp>
        <p:nvSpPr>
          <p:cNvPr id="46" name="FSV1_2">
            <a:extLst>
              <a:ext uri="{FF2B5EF4-FFF2-40B4-BE49-F238E27FC236}">
                <a16:creationId xmlns:a16="http://schemas.microsoft.com/office/drawing/2014/main" id="{30691985-755E-42C2-8BAD-F815121CB7E2}"/>
              </a:ext>
            </a:extLst>
          </p:cNvPr>
          <p:cNvSpPr txBox="1"/>
          <p:nvPr/>
        </p:nvSpPr>
        <p:spPr>
          <a:xfrm>
            <a:off x="9364133" y="5588000"/>
            <a:ext cx="1456266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00C2CC"/>
                </a:solidFill>
              </a:rPr>
              <a:t>0.357</a:t>
            </a:r>
          </a:p>
        </p:txBody>
      </p:sp>
      <p:sp>
        <p:nvSpPr>
          <p:cNvPr id="48" name="Cite">
            <a:extLst>
              <a:ext uri="{FF2B5EF4-FFF2-40B4-BE49-F238E27FC236}">
                <a16:creationId xmlns:a16="http://schemas.microsoft.com/office/drawing/2014/main" id="{ADDF1BF4-239D-B249-34DB-57101BB285E2}"/>
              </a:ext>
            </a:extLst>
          </p:cNvPr>
          <p:cNvSpPr txBox="1"/>
          <p:nvPr/>
        </p:nvSpPr>
        <p:spPr>
          <a:xfrm>
            <a:off x="1183640" y="6263640"/>
            <a:ext cx="990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000" b="1" dirty="0">
                <a:solidFill>
                  <a:srgbClr val="00C2CC"/>
                </a:solidFill>
              </a:rPr>
              <a:t>OR = maximum coverage; Consensus = balanced default.   </a:t>
            </a:r>
            <a:r>
              <a:rPr lang="en-US" sz="1000" dirty="0">
                <a:solidFill>
                  <a:srgbClr val="8FB7D6"/>
                </a:solidFill>
              </a:rPr>
              <a:t>Tables 4.4–4.5 · Figures 4.19–4.20  </a:t>
            </a:r>
          </a:p>
        </p:txBody>
      </p:sp>
      <p:sp>
        <p:nvSpPr>
          <p:cNvPr id="49" name="Footer">
            <a:extLst>
              <a:ext uri="{FF2B5EF4-FFF2-40B4-BE49-F238E27FC236}">
                <a16:creationId xmlns:a16="http://schemas.microsoft.com/office/drawing/2014/main" id="{1A77AE3F-D35C-AF87-EDF9-7B7B3CDBCF6B}"/>
              </a:ext>
            </a:extLst>
          </p:cNvPr>
          <p:cNvSpPr txBox="1"/>
          <p:nvPr/>
        </p:nvSpPr>
        <p:spPr>
          <a:xfrm>
            <a:off x="1143000" y="6573520"/>
            <a:ext cx="9906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000" dirty="0">
                <a:solidFill>
                  <a:srgbClr val="D6EAF8"/>
                </a:solidFill>
              </a:rPr>
              <a:t>10 / 15  ·  LD7083  ·  w24037842</a:t>
            </a:r>
          </a:p>
        </p:txBody>
      </p:sp>
    </p:spTree>
    <p:extLst>
      <p:ext uri="{BB962C8B-B14F-4D97-AF65-F5344CB8AC3E}">
        <p14:creationId xmlns:p14="http://schemas.microsoft.com/office/powerpoint/2010/main" val="2531913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83CE127B-2FED-4E4B-94EE-8F068C668DE6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">
            <a:extLst>
              <a:ext uri="{FF2B5EF4-FFF2-40B4-BE49-F238E27FC236}">
                <a16:creationId xmlns:a16="http://schemas.microsoft.com/office/drawing/2014/main" id="{81DEE65B-2EC9-4C11-96BC-91FAB84432C3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BCFC34F5-294E-4F35-AD26-A5B7DC6492C8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1B055462-0F5F-4144-9B9B-D88F8235487C}"/>
              </a:ext>
            </a:extLst>
          </p:cNvPr>
          <p:cNvSpPr txBox="1"/>
          <p:nvPr/>
        </p:nvSpPr>
        <p:spPr>
          <a:xfrm>
            <a:off x="1143000" y="45720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FFFFFF"/>
                </a:solidFill>
              </a:rPr>
              <a:t>Robustness · stress · adversarial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C01C7727-1C2D-4D76-A327-53D19B754EA2}"/>
              </a:ext>
            </a:extLst>
          </p:cNvPr>
          <p:cNvSpPr txBox="1"/>
          <p:nvPr/>
        </p:nvSpPr>
        <p:spPr>
          <a:xfrm>
            <a:off x="1143000" y="105410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D6EAF8"/>
                </a:solidFill>
              </a:rPr>
              <a:t>Three attack surfaces, two very different model profiles</a:t>
            </a:r>
          </a:p>
        </p:txBody>
      </p:sp>
      <p:sp>
        <p:nvSpPr>
          <p:cNvPr id="7" name="Div">
            <a:extLst>
              <a:ext uri="{FF2B5EF4-FFF2-40B4-BE49-F238E27FC236}">
                <a16:creationId xmlns:a16="http://schemas.microsoft.com/office/drawing/2014/main" id="{6E1CB7E7-FFBC-442F-944E-CEF5A83CF97C}"/>
              </a:ext>
            </a:extLst>
          </p:cNvPr>
          <p:cNvSpPr/>
          <p:nvPr/>
        </p:nvSpPr>
        <p:spPr>
          <a:xfrm>
            <a:off x="1143000" y="148590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Col0">
            <a:extLst>
              <a:ext uri="{FF2B5EF4-FFF2-40B4-BE49-F238E27FC236}">
                <a16:creationId xmlns:a16="http://schemas.microsoft.com/office/drawing/2014/main" id="{E03FB1E8-D0D2-4652-AF56-004E39392543}"/>
              </a:ext>
            </a:extLst>
          </p:cNvPr>
          <p:cNvSpPr/>
          <p:nvPr/>
        </p:nvSpPr>
        <p:spPr>
          <a:xfrm>
            <a:off x="1143000" y="1993900"/>
            <a:ext cx="3191933" cy="2921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Strip0">
            <a:extLst>
              <a:ext uri="{FF2B5EF4-FFF2-40B4-BE49-F238E27FC236}">
                <a16:creationId xmlns:a16="http://schemas.microsoft.com/office/drawing/2014/main" id="{C7862613-A572-4416-8BDA-D762A42C313F}"/>
              </a:ext>
            </a:extLst>
          </p:cNvPr>
          <p:cNvSpPr/>
          <p:nvPr/>
        </p:nvSpPr>
        <p:spPr>
          <a:xfrm>
            <a:off x="1143000" y="1993900"/>
            <a:ext cx="3191933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CTag0">
            <a:extLst>
              <a:ext uri="{FF2B5EF4-FFF2-40B4-BE49-F238E27FC236}">
                <a16:creationId xmlns:a16="http://schemas.microsoft.com/office/drawing/2014/main" id="{8F608D88-94AE-4C7A-9D8E-90F8121A5B70}"/>
              </a:ext>
            </a:extLst>
          </p:cNvPr>
          <p:cNvSpPr txBox="1"/>
          <p:nvPr/>
        </p:nvSpPr>
        <p:spPr>
          <a:xfrm>
            <a:off x="1371600" y="2273300"/>
            <a:ext cx="2734733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spc="200" dirty="0">
                <a:solidFill>
                  <a:srgbClr val="00C2CC"/>
                </a:solidFill>
              </a:rPr>
              <a:t>GAUSSIAN NOISE</a:t>
            </a:r>
          </a:p>
        </p:txBody>
      </p:sp>
      <p:sp>
        <p:nvSpPr>
          <p:cNvPr id="11" name="CBody0">
            <a:extLst>
              <a:ext uri="{FF2B5EF4-FFF2-40B4-BE49-F238E27FC236}">
                <a16:creationId xmlns:a16="http://schemas.microsoft.com/office/drawing/2014/main" id="{68E1A810-CA7A-4D72-B9B0-CCAA6D48D804}"/>
              </a:ext>
            </a:extLst>
          </p:cNvPr>
          <p:cNvSpPr txBox="1"/>
          <p:nvPr/>
        </p:nvSpPr>
        <p:spPr>
          <a:xfrm>
            <a:off x="1371600" y="2654300"/>
            <a:ext cx="2734733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dirty="0">
                <a:solidFill>
                  <a:srgbClr val="D6EAF8"/>
                </a:solidFill>
              </a:rPr>
              <a:t>5 noise levels  ·  σ ∈ [0.01, 0.10]</a:t>
            </a:r>
          </a:p>
        </p:txBody>
      </p:sp>
      <p:sp>
        <p:nvSpPr>
          <p:cNvPr id="12" name="CLRLbl0">
            <a:extLst>
              <a:ext uri="{FF2B5EF4-FFF2-40B4-BE49-F238E27FC236}">
                <a16:creationId xmlns:a16="http://schemas.microsoft.com/office/drawing/2014/main" id="{1285E1AA-780F-4B5A-BD5B-D09833F93312}"/>
              </a:ext>
            </a:extLst>
          </p:cNvPr>
          <p:cNvSpPr txBox="1"/>
          <p:nvPr/>
        </p:nvSpPr>
        <p:spPr>
          <a:xfrm>
            <a:off x="1371600" y="3454400"/>
            <a:ext cx="2734733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8FB7D6"/>
                </a:solidFill>
              </a:rPr>
              <a:t>LR avg robustness</a:t>
            </a:r>
          </a:p>
        </p:txBody>
      </p:sp>
      <p:sp>
        <p:nvSpPr>
          <p:cNvPr id="13" name="CLRVal0">
            <a:extLst>
              <a:ext uri="{FF2B5EF4-FFF2-40B4-BE49-F238E27FC236}">
                <a16:creationId xmlns:a16="http://schemas.microsoft.com/office/drawing/2014/main" id="{EDF4E217-F4A8-48F1-A16B-54899F843F13}"/>
              </a:ext>
            </a:extLst>
          </p:cNvPr>
          <p:cNvSpPr txBox="1"/>
          <p:nvPr/>
        </p:nvSpPr>
        <p:spPr>
          <a:xfrm>
            <a:off x="1371600" y="3708400"/>
            <a:ext cx="27347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</a:rPr>
              <a:t>0.536</a:t>
            </a:r>
          </a:p>
        </p:txBody>
      </p:sp>
      <p:sp>
        <p:nvSpPr>
          <p:cNvPr id="14" name="CRFLbl0">
            <a:extLst>
              <a:ext uri="{FF2B5EF4-FFF2-40B4-BE49-F238E27FC236}">
                <a16:creationId xmlns:a16="http://schemas.microsoft.com/office/drawing/2014/main" id="{C69B4B78-C3BA-4F1B-920D-244080C4E1C6}"/>
              </a:ext>
            </a:extLst>
          </p:cNvPr>
          <p:cNvSpPr txBox="1"/>
          <p:nvPr/>
        </p:nvSpPr>
        <p:spPr>
          <a:xfrm>
            <a:off x="1371600" y="4216400"/>
            <a:ext cx="2734733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8FB7D6"/>
                </a:solidFill>
              </a:rPr>
              <a:t>RF avg robustness</a:t>
            </a:r>
          </a:p>
        </p:txBody>
      </p:sp>
      <p:sp>
        <p:nvSpPr>
          <p:cNvPr id="15" name="CRFVal0">
            <a:extLst>
              <a:ext uri="{FF2B5EF4-FFF2-40B4-BE49-F238E27FC236}">
                <a16:creationId xmlns:a16="http://schemas.microsoft.com/office/drawing/2014/main" id="{ACFE4309-2264-4DCD-A628-BEAF27E61F54}"/>
              </a:ext>
            </a:extLst>
          </p:cNvPr>
          <p:cNvSpPr txBox="1"/>
          <p:nvPr/>
        </p:nvSpPr>
        <p:spPr>
          <a:xfrm>
            <a:off x="1371600" y="4470400"/>
            <a:ext cx="27347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</a:rPr>
              <a:t>0.998</a:t>
            </a:r>
          </a:p>
        </p:txBody>
      </p:sp>
      <p:sp>
        <p:nvSpPr>
          <p:cNvPr id="16" name="Col1">
            <a:extLst>
              <a:ext uri="{FF2B5EF4-FFF2-40B4-BE49-F238E27FC236}">
                <a16:creationId xmlns:a16="http://schemas.microsoft.com/office/drawing/2014/main" id="{4A728A08-7BDB-4871-95A2-D9A63A2EE070}"/>
              </a:ext>
            </a:extLst>
          </p:cNvPr>
          <p:cNvSpPr/>
          <p:nvPr/>
        </p:nvSpPr>
        <p:spPr>
          <a:xfrm>
            <a:off x="4500033" y="1993900"/>
            <a:ext cx="3191933" cy="2921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Strip1">
            <a:extLst>
              <a:ext uri="{FF2B5EF4-FFF2-40B4-BE49-F238E27FC236}">
                <a16:creationId xmlns:a16="http://schemas.microsoft.com/office/drawing/2014/main" id="{672D5DF4-80AF-4C6F-B3D2-CF9EB1555E94}"/>
              </a:ext>
            </a:extLst>
          </p:cNvPr>
          <p:cNvSpPr/>
          <p:nvPr/>
        </p:nvSpPr>
        <p:spPr>
          <a:xfrm>
            <a:off x="4500033" y="1993900"/>
            <a:ext cx="3191933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" name="CTag1">
            <a:extLst>
              <a:ext uri="{FF2B5EF4-FFF2-40B4-BE49-F238E27FC236}">
                <a16:creationId xmlns:a16="http://schemas.microsoft.com/office/drawing/2014/main" id="{D9FADD9C-2304-4F0C-BADD-0D7ACF49A8B6}"/>
              </a:ext>
            </a:extLst>
          </p:cNvPr>
          <p:cNvSpPr txBox="1"/>
          <p:nvPr/>
        </p:nvSpPr>
        <p:spPr>
          <a:xfrm>
            <a:off x="4728633" y="2273300"/>
            <a:ext cx="2734733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spc="200" dirty="0">
                <a:solidFill>
                  <a:srgbClr val="00C2CC"/>
                </a:solidFill>
              </a:rPr>
              <a:t>STRESS SCENARIOS</a:t>
            </a:r>
          </a:p>
        </p:txBody>
      </p:sp>
      <p:sp>
        <p:nvSpPr>
          <p:cNvPr id="19" name="CBody1">
            <a:extLst>
              <a:ext uri="{FF2B5EF4-FFF2-40B4-BE49-F238E27FC236}">
                <a16:creationId xmlns:a16="http://schemas.microsoft.com/office/drawing/2014/main" id="{736736A2-C586-4C52-AEDB-A24924526117}"/>
              </a:ext>
            </a:extLst>
          </p:cNvPr>
          <p:cNvSpPr txBox="1"/>
          <p:nvPr/>
        </p:nvSpPr>
        <p:spPr>
          <a:xfrm>
            <a:off x="4728633" y="2654300"/>
            <a:ext cx="2734733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dirty="0">
                <a:solidFill>
                  <a:srgbClr val="D6EAF8"/>
                </a:solidFill>
              </a:rPr>
              <a:t>Price spike  ·  Volume shock  ·  Volatility shock</a:t>
            </a:r>
          </a:p>
        </p:txBody>
      </p:sp>
      <p:sp>
        <p:nvSpPr>
          <p:cNvPr id="20" name="CLRLbl1">
            <a:extLst>
              <a:ext uri="{FF2B5EF4-FFF2-40B4-BE49-F238E27FC236}">
                <a16:creationId xmlns:a16="http://schemas.microsoft.com/office/drawing/2014/main" id="{7ABF5114-FC70-4E13-9AFE-4567B53F8081}"/>
              </a:ext>
            </a:extLst>
          </p:cNvPr>
          <p:cNvSpPr txBox="1"/>
          <p:nvPr/>
        </p:nvSpPr>
        <p:spPr>
          <a:xfrm>
            <a:off x="4728633" y="3454400"/>
            <a:ext cx="2734733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8FB7D6"/>
                </a:solidFill>
              </a:rPr>
              <a:t>LR worst stress F1</a:t>
            </a:r>
          </a:p>
        </p:txBody>
      </p:sp>
      <p:sp>
        <p:nvSpPr>
          <p:cNvPr id="21" name="CLRVal1">
            <a:extLst>
              <a:ext uri="{FF2B5EF4-FFF2-40B4-BE49-F238E27FC236}">
                <a16:creationId xmlns:a16="http://schemas.microsoft.com/office/drawing/2014/main" id="{3CDCC4F5-E4B8-4351-8658-7095F408FF74}"/>
              </a:ext>
            </a:extLst>
          </p:cNvPr>
          <p:cNvSpPr txBox="1"/>
          <p:nvPr/>
        </p:nvSpPr>
        <p:spPr>
          <a:xfrm>
            <a:off x="4728633" y="3708400"/>
            <a:ext cx="27347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C2CC"/>
                </a:solidFill>
              </a:rPr>
              <a:t>0.346</a:t>
            </a:r>
          </a:p>
        </p:txBody>
      </p:sp>
      <p:sp>
        <p:nvSpPr>
          <p:cNvPr id="22" name="CRFLbl1">
            <a:extLst>
              <a:ext uri="{FF2B5EF4-FFF2-40B4-BE49-F238E27FC236}">
                <a16:creationId xmlns:a16="http://schemas.microsoft.com/office/drawing/2014/main" id="{405ED50E-7426-4EE0-A4FD-3ED51E85DA09}"/>
              </a:ext>
            </a:extLst>
          </p:cNvPr>
          <p:cNvSpPr txBox="1"/>
          <p:nvPr/>
        </p:nvSpPr>
        <p:spPr>
          <a:xfrm>
            <a:off x="4728633" y="4216400"/>
            <a:ext cx="2734733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8FB7D6"/>
                </a:solidFill>
              </a:rPr>
              <a:t>RF worst stress F1</a:t>
            </a:r>
          </a:p>
        </p:txBody>
      </p:sp>
      <p:sp>
        <p:nvSpPr>
          <p:cNvPr id="23" name="CRFVal1">
            <a:extLst>
              <a:ext uri="{FF2B5EF4-FFF2-40B4-BE49-F238E27FC236}">
                <a16:creationId xmlns:a16="http://schemas.microsoft.com/office/drawing/2014/main" id="{AA03322D-E507-4DF3-BE60-2F56A8549295}"/>
              </a:ext>
            </a:extLst>
          </p:cNvPr>
          <p:cNvSpPr txBox="1"/>
          <p:nvPr/>
        </p:nvSpPr>
        <p:spPr>
          <a:xfrm>
            <a:off x="4728633" y="4470400"/>
            <a:ext cx="27347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6B6B"/>
                </a:solidFill>
              </a:rPr>
              <a:t>0.000</a:t>
            </a:r>
          </a:p>
        </p:txBody>
      </p:sp>
      <p:sp>
        <p:nvSpPr>
          <p:cNvPr id="24" name="Col2">
            <a:extLst>
              <a:ext uri="{FF2B5EF4-FFF2-40B4-BE49-F238E27FC236}">
                <a16:creationId xmlns:a16="http://schemas.microsoft.com/office/drawing/2014/main" id="{F9EBA9D4-F1A0-4398-87E1-7BCB414549AC}"/>
              </a:ext>
            </a:extLst>
          </p:cNvPr>
          <p:cNvSpPr/>
          <p:nvPr/>
        </p:nvSpPr>
        <p:spPr>
          <a:xfrm>
            <a:off x="7857066" y="1993900"/>
            <a:ext cx="3191933" cy="2921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" name="Strip2">
            <a:extLst>
              <a:ext uri="{FF2B5EF4-FFF2-40B4-BE49-F238E27FC236}">
                <a16:creationId xmlns:a16="http://schemas.microsoft.com/office/drawing/2014/main" id="{564B0012-54C6-410E-B2CE-47DB5586D0F3}"/>
              </a:ext>
            </a:extLst>
          </p:cNvPr>
          <p:cNvSpPr/>
          <p:nvPr/>
        </p:nvSpPr>
        <p:spPr>
          <a:xfrm>
            <a:off x="7857066" y="1993900"/>
            <a:ext cx="3191933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" name="CTag2">
            <a:extLst>
              <a:ext uri="{FF2B5EF4-FFF2-40B4-BE49-F238E27FC236}">
                <a16:creationId xmlns:a16="http://schemas.microsoft.com/office/drawing/2014/main" id="{E1AC4E1D-00D7-42BF-9825-87F1169F41B0}"/>
              </a:ext>
            </a:extLst>
          </p:cNvPr>
          <p:cNvSpPr txBox="1"/>
          <p:nvPr/>
        </p:nvSpPr>
        <p:spPr>
          <a:xfrm>
            <a:off x="8085666" y="2273300"/>
            <a:ext cx="2734733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b="1" spc="200" dirty="0">
                <a:solidFill>
                  <a:srgbClr val="00C2CC"/>
                </a:solidFill>
              </a:rPr>
              <a:t>ADVERSARIAL / PERTURBATION RESPONSE</a:t>
            </a:r>
          </a:p>
        </p:txBody>
      </p:sp>
      <p:sp>
        <p:nvSpPr>
          <p:cNvPr id="27" name="CBody2">
            <a:extLst>
              <a:ext uri="{FF2B5EF4-FFF2-40B4-BE49-F238E27FC236}">
                <a16:creationId xmlns:a16="http://schemas.microsoft.com/office/drawing/2014/main" id="{0BB76F9D-0318-4BC7-943C-E45186B9EF60}"/>
              </a:ext>
            </a:extLst>
          </p:cNvPr>
          <p:cNvSpPr txBox="1"/>
          <p:nvPr/>
        </p:nvSpPr>
        <p:spPr>
          <a:xfrm>
            <a:off x="8085666" y="2654300"/>
            <a:ext cx="2734733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dirty="0">
                <a:solidFill>
                  <a:srgbClr val="D6EAF8"/>
                </a:solidFill>
              </a:rPr>
              <a:t>Gradient-aligned input perturbation (Goodfellow 2015)</a:t>
            </a:r>
          </a:p>
        </p:txBody>
      </p:sp>
      <p:sp>
        <p:nvSpPr>
          <p:cNvPr id="28" name="CLRLbl2">
            <a:extLst>
              <a:ext uri="{FF2B5EF4-FFF2-40B4-BE49-F238E27FC236}">
                <a16:creationId xmlns:a16="http://schemas.microsoft.com/office/drawing/2014/main" id="{97D581EC-066C-40C5-ACAA-DF60DAA4D7C3}"/>
              </a:ext>
            </a:extLst>
          </p:cNvPr>
          <p:cNvSpPr txBox="1"/>
          <p:nvPr/>
        </p:nvSpPr>
        <p:spPr>
          <a:xfrm>
            <a:off x="8085666" y="3454400"/>
            <a:ext cx="2734733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8FB7D6"/>
                </a:solidFill>
              </a:rPr>
              <a:t>LR F1 drop</a:t>
            </a:r>
          </a:p>
        </p:txBody>
      </p:sp>
      <p:sp>
        <p:nvSpPr>
          <p:cNvPr id="29" name="CLRVal2">
            <a:extLst>
              <a:ext uri="{FF2B5EF4-FFF2-40B4-BE49-F238E27FC236}">
                <a16:creationId xmlns:a16="http://schemas.microsoft.com/office/drawing/2014/main" id="{5092F26A-84AE-42DA-918A-5507AE3F10AB}"/>
              </a:ext>
            </a:extLst>
          </p:cNvPr>
          <p:cNvSpPr txBox="1"/>
          <p:nvPr/>
        </p:nvSpPr>
        <p:spPr>
          <a:xfrm>
            <a:off x="8085666" y="3708400"/>
            <a:ext cx="27347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</a:rPr>
              <a:t>0.069</a:t>
            </a:r>
          </a:p>
        </p:txBody>
      </p:sp>
      <p:sp>
        <p:nvSpPr>
          <p:cNvPr id="30" name="CRFLbl2">
            <a:extLst>
              <a:ext uri="{FF2B5EF4-FFF2-40B4-BE49-F238E27FC236}">
                <a16:creationId xmlns:a16="http://schemas.microsoft.com/office/drawing/2014/main" id="{A9C01D39-9BCC-4CB0-B851-6CA53B9935BB}"/>
              </a:ext>
            </a:extLst>
          </p:cNvPr>
          <p:cNvSpPr txBox="1"/>
          <p:nvPr/>
        </p:nvSpPr>
        <p:spPr>
          <a:xfrm>
            <a:off x="8085666" y="4216400"/>
            <a:ext cx="2734733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8FB7D6"/>
                </a:solidFill>
              </a:rPr>
              <a:t>RF F1 drop</a:t>
            </a:r>
          </a:p>
        </p:txBody>
      </p:sp>
      <p:sp>
        <p:nvSpPr>
          <p:cNvPr id="31" name="CRFVal2">
            <a:extLst>
              <a:ext uri="{FF2B5EF4-FFF2-40B4-BE49-F238E27FC236}">
                <a16:creationId xmlns:a16="http://schemas.microsoft.com/office/drawing/2014/main" id="{A396A034-ECF7-4C70-A25D-65126DF4CF0A}"/>
              </a:ext>
            </a:extLst>
          </p:cNvPr>
          <p:cNvSpPr txBox="1"/>
          <p:nvPr/>
        </p:nvSpPr>
        <p:spPr>
          <a:xfrm>
            <a:off x="8085666" y="4470400"/>
            <a:ext cx="27347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</a:rPr>
              <a:t>0.010</a:t>
            </a:r>
          </a:p>
        </p:txBody>
      </p:sp>
      <p:sp>
        <p:nvSpPr>
          <p:cNvPr id="32" name="KeyBg">
            <a:extLst>
              <a:ext uri="{FF2B5EF4-FFF2-40B4-BE49-F238E27FC236}">
                <a16:creationId xmlns:a16="http://schemas.microsoft.com/office/drawing/2014/main" id="{3422524B-808E-4C4E-92A1-F2AFEA1AAFCB}"/>
              </a:ext>
            </a:extLst>
          </p:cNvPr>
          <p:cNvSpPr/>
          <p:nvPr/>
        </p:nvSpPr>
        <p:spPr>
          <a:xfrm>
            <a:off x="1143000" y="5232400"/>
            <a:ext cx="9906000" cy="9779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" name="KeyHdr">
            <a:extLst>
              <a:ext uri="{FF2B5EF4-FFF2-40B4-BE49-F238E27FC236}">
                <a16:creationId xmlns:a16="http://schemas.microsoft.com/office/drawing/2014/main" id="{4ABE1B76-0E88-4EBE-8A46-1E72EB467591}"/>
              </a:ext>
            </a:extLst>
          </p:cNvPr>
          <p:cNvSpPr txBox="1"/>
          <p:nvPr/>
        </p:nvSpPr>
        <p:spPr>
          <a:xfrm>
            <a:off x="1397000" y="5334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spc="200" dirty="0">
                <a:solidFill>
                  <a:srgbClr val="00C2CC"/>
                </a:solidFill>
              </a:rPr>
              <a:t>KEY FINDING</a:t>
            </a:r>
          </a:p>
        </p:txBody>
      </p:sp>
      <p:sp>
        <p:nvSpPr>
          <p:cNvPr id="34" name="KeyTxt">
            <a:extLst>
              <a:ext uri="{FF2B5EF4-FFF2-40B4-BE49-F238E27FC236}">
                <a16:creationId xmlns:a16="http://schemas.microsoft.com/office/drawing/2014/main" id="{A21669FE-0C2B-4725-A34C-25BB3F953950}"/>
              </a:ext>
            </a:extLst>
          </p:cNvPr>
          <p:cNvSpPr txBox="1"/>
          <p:nvPr/>
        </p:nvSpPr>
        <p:spPr>
          <a:xfrm>
            <a:off x="1397000" y="56134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400" dirty="0">
                <a:solidFill>
                  <a:srgbClr val="FFFFFF"/>
                </a:solidFill>
              </a:rPr>
              <a:t>LR remains more operationally useful under stress; RF appears stable under noise but collapses to F1 = 0.000 under price spike — a false robustness effect.</a:t>
            </a:r>
          </a:p>
        </p:txBody>
      </p:sp>
      <p:sp>
        <p:nvSpPr>
          <p:cNvPr id="35" name="Cite">
            <a:extLst>
              <a:ext uri="{FF2B5EF4-FFF2-40B4-BE49-F238E27FC236}">
                <a16:creationId xmlns:a16="http://schemas.microsoft.com/office/drawing/2014/main" id="{50BFB61A-6F7B-401B-BC00-BAB6BE5A8309}"/>
              </a:ext>
            </a:extLst>
          </p:cNvPr>
          <p:cNvSpPr txBox="1"/>
          <p:nvPr/>
        </p:nvSpPr>
        <p:spPr>
          <a:xfrm>
            <a:off x="1143000" y="6477000"/>
            <a:ext cx="990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000" i="1" dirty="0">
                <a:solidFill>
                  <a:srgbClr val="8FB7D6"/>
                </a:solidFill>
              </a:rPr>
              <a:t>Goodfellow, Shlens &amp; Szegedy (2015) · Gallagher et al. (2022) · Lopez de Prado (2018)</a:t>
            </a:r>
          </a:p>
        </p:txBody>
      </p:sp>
    </p:spTree>
    <p:extLst>
      <p:ext uri="{BB962C8B-B14F-4D97-AF65-F5344CB8AC3E}">
        <p14:creationId xmlns:p14="http://schemas.microsoft.com/office/powerpoint/2010/main" val="3157363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037B994F-B05B-4E85-BB45-B006FDEA8F1B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">
            <a:extLst>
              <a:ext uri="{FF2B5EF4-FFF2-40B4-BE49-F238E27FC236}">
                <a16:creationId xmlns:a16="http://schemas.microsoft.com/office/drawing/2014/main" id="{35BD4D84-F6D0-4FB5-9D46-F9909B5BE35B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794D0D26-FEF0-4DA5-8118-9495910260B9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45526F3-9A55-497E-8058-981C95032A98}"/>
              </a:ext>
            </a:extLst>
          </p:cNvPr>
          <p:cNvSpPr txBox="1"/>
          <p:nvPr/>
        </p:nvSpPr>
        <p:spPr>
          <a:xfrm>
            <a:off x="1143000" y="20320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Explainability · SHAP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B3F4FFFA-CE8D-4951-A0BC-249C6BDE62A5}"/>
              </a:ext>
            </a:extLst>
          </p:cNvPr>
          <p:cNvSpPr txBox="1"/>
          <p:nvPr/>
        </p:nvSpPr>
        <p:spPr>
          <a:xfrm>
            <a:off x="1143000" y="88265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D6EAF8"/>
                </a:solidFill>
              </a:rPr>
              <a:t>What drives the model — and is it stable?</a:t>
            </a:r>
          </a:p>
        </p:txBody>
      </p:sp>
      <p:sp>
        <p:nvSpPr>
          <p:cNvPr id="7" name="Div">
            <a:extLst>
              <a:ext uri="{FF2B5EF4-FFF2-40B4-BE49-F238E27FC236}">
                <a16:creationId xmlns:a16="http://schemas.microsoft.com/office/drawing/2014/main" id="{263EF9EE-01F7-4A3D-BAAE-4E1B363332AE}"/>
              </a:ext>
            </a:extLst>
          </p:cNvPr>
          <p:cNvSpPr/>
          <p:nvPr/>
        </p:nvSpPr>
        <p:spPr>
          <a:xfrm>
            <a:off x="1143000" y="135255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" name="FindBg">
            <a:extLst>
              <a:ext uri="{FF2B5EF4-FFF2-40B4-BE49-F238E27FC236}">
                <a16:creationId xmlns:a16="http://schemas.microsoft.com/office/drawing/2014/main" id="{4B6A7150-16E4-4876-AEFE-5F7A999D9EAA}"/>
              </a:ext>
            </a:extLst>
          </p:cNvPr>
          <p:cNvSpPr/>
          <p:nvPr/>
        </p:nvSpPr>
        <p:spPr>
          <a:xfrm>
            <a:off x="1143000" y="5694045"/>
            <a:ext cx="9906000" cy="5334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" name="FindTxt">
            <a:extLst>
              <a:ext uri="{FF2B5EF4-FFF2-40B4-BE49-F238E27FC236}">
                <a16:creationId xmlns:a16="http://schemas.microsoft.com/office/drawing/2014/main" id="{9628D3EB-A70B-4F7D-AEA0-96976313216F}"/>
              </a:ext>
            </a:extLst>
          </p:cNvPr>
          <p:cNvSpPr txBox="1"/>
          <p:nvPr/>
        </p:nvSpPr>
        <p:spPr>
          <a:xfrm>
            <a:off x="1270000" y="5763895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SHAP explains predictions, but stability testing decides whether those explanations are reliable.</a:t>
            </a:r>
            <a:r>
              <a:rPr lang="en-US" sz="1100" b="1" dirty="0">
                <a:solidFill>
                  <a:schemeClr val="bg1"/>
                </a:solidFill>
              </a:rPr>
              <a:t> Significant rank stability only at low noise — explanations decay under realistic perturbation.	</a:t>
            </a:r>
          </a:p>
          <a:p>
            <a:pPr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25B5D60-1484-3266-4F64-D638F22736A1}"/>
              </a:ext>
            </a:extLst>
          </p:cNvPr>
          <p:cNvGrpSpPr/>
          <p:nvPr/>
        </p:nvGrpSpPr>
        <p:grpSpPr>
          <a:xfrm>
            <a:off x="1143000" y="1734185"/>
            <a:ext cx="9906000" cy="3810000"/>
            <a:chOff x="1143000" y="1993900"/>
            <a:chExt cx="9906000" cy="3810000"/>
          </a:xfrm>
        </p:grpSpPr>
        <p:sp>
          <p:nvSpPr>
            <p:cNvPr id="8" name="FCard">
              <a:extLst>
                <a:ext uri="{FF2B5EF4-FFF2-40B4-BE49-F238E27FC236}">
                  <a16:creationId xmlns:a16="http://schemas.microsoft.com/office/drawing/2014/main" id="{69C5045B-C79A-4450-8D7F-3512EDED57C6}"/>
                </a:ext>
              </a:extLst>
            </p:cNvPr>
            <p:cNvSpPr/>
            <p:nvPr/>
          </p:nvSpPr>
          <p:spPr>
            <a:xfrm>
              <a:off x="1143000" y="1993900"/>
              <a:ext cx="5080000" cy="3810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9" name="FStrip">
              <a:extLst>
                <a:ext uri="{FF2B5EF4-FFF2-40B4-BE49-F238E27FC236}">
                  <a16:creationId xmlns:a16="http://schemas.microsoft.com/office/drawing/2014/main" id="{44C59875-1CC2-4AB8-9CDC-089288AECC82}"/>
                </a:ext>
              </a:extLst>
            </p:cNvPr>
            <p:cNvSpPr/>
            <p:nvPr/>
          </p:nvSpPr>
          <p:spPr>
            <a:xfrm>
              <a:off x="1143000" y="1993900"/>
              <a:ext cx="5080000" cy="762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0" name="FHdr">
              <a:extLst>
                <a:ext uri="{FF2B5EF4-FFF2-40B4-BE49-F238E27FC236}">
                  <a16:creationId xmlns:a16="http://schemas.microsoft.com/office/drawing/2014/main" id="{D6F0859C-CE9A-44C6-859E-7AB884E30945}"/>
                </a:ext>
              </a:extLst>
            </p:cNvPr>
            <p:cNvSpPr txBox="1"/>
            <p:nvPr/>
          </p:nvSpPr>
          <p:spPr>
            <a:xfrm>
              <a:off x="1397000" y="2247900"/>
              <a:ext cx="4572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spc="100" dirty="0">
                  <a:solidFill>
                    <a:srgbClr val="00C2CC"/>
                  </a:solidFill>
                </a:rPr>
                <a:t>Top SHAP features — GB n=500</a:t>
              </a:r>
            </a:p>
          </p:txBody>
        </p:sp>
        <p:sp>
          <p:nvSpPr>
            <p:cNvPr id="11" name="FColRank">
              <a:extLst>
                <a:ext uri="{FF2B5EF4-FFF2-40B4-BE49-F238E27FC236}">
                  <a16:creationId xmlns:a16="http://schemas.microsoft.com/office/drawing/2014/main" id="{5768E9B6-434E-4714-BEF7-D4CD2C4C33D1}"/>
                </a:ext>
              </a:extLst>
            </p:cNvPr>
            <p:cNvSpPr txBox="1"/>
            <p:nvPr/>
          </p:nvSpPr>
          <p:spPr>
            <a:xfrm>
              <a:off x="1397000" y="2667000"/>
              <a:ext cx="635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b="1" spc="200" dirty="0">
                  <a:solidFill>
                    <a:srgbClr val="8FB7D6"/>
                  </a:solidFill>
                </a:rPr>
                <a:t>RANK</a:t>
              </a:r>
            </a:p>
          </p:txBody>
        </p:sp>
        <p:sp>
          <p:nvSpPr>
            <p:cNvPr id="12" name="FColName">
              <a:extLst>
                <a:ext uri="{FF2B5EF4-FFF2-40B4-BE49-F238E27FC236}">
                  <a16:creationId xmlns:a16="http://schemas.microsoft.com/office/drawing/2014/main" id="{C57D6995-AD79-4C8D-A5E1-D4B3AF44D170}"/>
                </a:ext>
              </a:extLst>
            </p:cNvPr>
            <p:cNvSpPr txBox="1"/>
            <p:nvPr/>
          </p:nvSpPr>
          <p:spPr>
            <a:xfrm>
              <a:off x="2032000" y="2667000"/>
              <a:ext cx="3048000" cy="203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b="1" spc="200" dirty="0">
                  <a:solidFill>
                    <a:srgbClr val="8FB7D6"/>
                  </a:solidFill>
                </a:rPr>
                <a:t>FEATURE</a:t>
              </a:r>
            </a:p>
          </p:txBody>
        </p:sp>
        <p:sp>
          <p:nvSpPr>
            <p:cNvPr id="13" name="FColVal">
              <a:extLst>
                <a:ext uri="{FF2B5EF4-FFF2-40B4-BE49-F238E27FC236}">
                  <a16:creationId xmlns:a16="http://schemas.microsoft.com/office/drawing/2014/main" id="{A41E62CC-1B4E-483F-BF2A-EE3992C4B23C}"/>
                </a:ext>
              </a:extLst>
            </p:cNvPr>
            <p:cNvSpPr txBox="1"/>
            <p:nvPr/>
          </p:nvSpPr>
          <p:spPr>
            <a:xfrm>
              <a:off x="4445000" y="2667000"/>
              <a:ext cx="1524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b="1" spc="200" dirty="0">
                  <a:solidFill>
                    <a:srgbClr val="8FB7D6"/>
                  </a:solidFill>
                </a:rPr>
                <a:t>MEAN |SHAP|</a:t>
              </a:r>
            </a:p>
          </p:txBody>
        </p:sp>
        <p:sp>
          <p:nvSpPr>
            <p:cNvPr id="14" name="FR0">
              <a:extLst>
                <a:ext uri="{FF2B5EF4-FFF2-40B4-BE49-F238E27FC236}">
                  <a16:creationId xmlns:a16="http://schemas.microsoft.com/office/drawing/2014/main" id="{6B5F40AB-3520-45AF-8C3F-B9FEA083D9E1}"/>
                </a:ext>
              </a:extLst>
            </p:cNvPr>
            <p:cNvSpPr txBox="1"/>
            <p:nvPr/>
          </p:nvSpPr>
          <p:spPr>
            <a:xfrm>
              <a:off x="1397000" y="3073400"/>
              <a:ext cx="508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00C2CC"/>
                  </a:solidFill>
                </a:rPr>
                <a:t>1</a:t>
              </a:r>
            </a:p>
          </p:txBody>
        </p:sp>
        <p:sp>
          <p:nvSpPr>
            <p:cNvPr id="15" name="FN0">
              <a:extLst>
                <a:ext uri="{FF2B5EF4-FFF2-40B4-BE49-F238E27FC236}">
                  <a16:creationId xmlns:a16="http://schemas.microsoft.com/office/drawing/2014/main" id="{8AF5C9F1-4739-435E-8F51-42321D878290}"/>
                </a:ext>
              </a:extLst>
            </p:cNvPr>
            <p:cNvSpPr txBox="1"/>
            <p:nvPr/>
          </p:nvSpPr>
          <p:spPr>
            <a:xfrm>
              <a:off x="2032000" y="3073400"/>
              <a:ext cx="2540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dirty="0">
                  <a:solidFill>
                    <a:srgbClr val="FFFFFF"/>
                  </a:solidFill>
                </a:rPr>
                <a:t>MACD_Signal</a:t>
              </a:r>
            </a:p>
          </p:txBody>
        </p:sp>
        <p:sp>
          <p:nvSpPr>
            <p:cNvPr id="16" name="FBar0">
              <a:extLst>
                <a:ext uri="{FF2B5EF4-FFF2-40B4-BE49-F238E27FC236}">
                  <a16:creationId xmlns:a16="http://schemas.microsoft.com/office/drawing/2014/main" id="{BB390158-D5A2-410A-A5FE-6DF562A4D026}"/>
                </a:ext>
              </a:extLst>
            </p:cNvPr>
            <p:cNvSpPr/>
            <p:nvPr/>
          </p:nvSpPr>
          <p:spPr>
            <a:xfrm>
              <a:off x="4572000" y="3175000"/>
              <a:ext cx="762000" cy="127000"/>
            </a:xfrm>
            <a:prstGeom prst="rect">
              <a:avLst/>
            </a:prstGeom>
            <a:solidFill>
              <a:srgbClr val="1A325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7" name="FBarFG0">
              <a:extLst>
                <a:ext uri="{FF2B5EF4-FFF2-40B4-BE49-F238E27FC236}">
                  <a16:creationId xmlns:a16="http://schemas.microsoft.com/office/drawing/2014/main" id="{AD017E99-2201-4F37-A973-E56CF1858F9F}"/>
                </a:ext>
              </a:extLst>
            </p:cNvPr>
            <p:cNvSpPr/>
            <p:nvPr/>
          </p:nvSpPr>
          <p:spPr>
            <a:xfrm>
              <a:off x="4572000" y="3175000"/>
              <a:ext cx="711200" cy="1270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18" name="FV0">
              <a:extLst>
                <a:ext uri="{FF2B5EF4-FFF2-40B4-BE49-F238E27FC236}">
                  <a16:creationId xmlns:a16="http://schemas.microsoft.com/office/drawing/2014/main" id="{87455A3E-B77E-4D87-95B0-78E6F83F4C4E}"/>
                </a:ext>
              </a:extLst>
            </p:cNvPr>
            <p:cNvSpPr txBox="1"/>
            <p:nvPr/>
          </p:nvSpPr>
          <p:spPr>
            <a:xfrm>
              <a:off x="5397500" y="3073400"/>
              <a:ext cx="762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0.279</a:t>
              </a:r>
            </a:p>
          </p:txBody>
        </p:sp>
        <p:sp>
          <p:nvSpPr>
            <p:cNvPr id="19" name="FR1">
              <a:extLst>
                <a:ext uri="{FF2B5EF4-FFF2-40B4-BE49-F238E27FC236}">
                  <a16:creationId xmlns:a16="http://schemas.microsoft.com/office/drawing/2014/main" id="{052DDCE0-0D24-43B8-9C11-3FF8757DF720}"/>
                </a:ext>
              </a:extLst>
            </p:cNvPr>
            <p:cNvSpPr txBox="1"/>
            <p:nvPr/>
          </p:nvSpPr>
          <p:spPr>
            <a:xfrm>
              <a:off x="1397000" y="3556000"/>
              <a:ext cx="508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00C2CC"/>
                  </a:solidFill>
                </a:rPr>
                <a:t>2</a:t>
              </a:r>
            </a:p>
          </p:txBody>
        </p:sp>
        <p:sp>
          <p:nvSpPr>
            <p:cNvPr id="20" name="FN1">
              <a:extLst>
                <a:ext uri="{FF2B5EF4-FFF2-40B4-BE49-F238E27FC236}">
                  <a16:creationId xmlns:a16="http://schemas.microsoft.com/office/drawing/2014/main" id="{CA159DEC-7550-438A-A98D-F04FAA46F4EB}"/>
                </a:ext>
              </a:extLst>
            </p:cNvPr>
            <p:cNvSpPr txBox="1"/>
            <p:nvPr/>
          </p:nvSpPr>
          <p:spPr>
            <a:xfrm>
              <a:off x="2032000" y="3556000"/>
              <a:ext cx="2540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dirty="0">
                  <a:solidFill>
                    <a:srgbClr val="FFFFFF"/>
                  </a:solidFill>
                </a:rPr>
                <a:t>Volatility_10</a:t>
              </a:r>
            </a:p>
          </p:txBody>
        </p:sp>
        <p:sp>
          <p:nvSpPr>
            <p:cNvPr id="21" name="FBar1">
              <a:extLst>
                <a:ext uri="{FF2B5EF4-FFF2-40B4-BE49-F238E27FC236}">
                  <a16:creationId xmlns:a16="http://schemas.microsoft.com/office/drawing/2014/main" id="{1861F353-1BDB-4D77-AD9C-C60102A1696C}"/>
                </a:ext>
              </a:extLst>
            </p:cNvPr>
            <p:cNvSpPr/>
            <p:nvPr/>
          </p:nvSpPr>
          <p:spPr>
            <a:xfrm>
              <a:off x="4572000" y="3657600"/>
              <a:ext cx="762000" cy="127000"/>
            </a:xfrm>
            <a:prstGeom prst="rect">
              <a:avLst/>
            </a:prstGeom>
            <a:solidFill>
              <a:srgbClr val="1A325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2" name="FBarFG1">
              <a:extLst>
                <a:ext uri="{FF2B5EF4-FFF2-40B4-BE49-F238E27FC236}">
                  <a16:creationId xmlns:a16="http://schemas.microsoft.com/office/drawing/2014/main" id="{BBCE9ADA-0CB0-4468-B4BA-6C8EEEB1DAE2}"/>
                </a:ext>
              </a:extLst>
            </p:cNvPr>
            <p:cNvSpPr/>
            <p:nvPr/>
          </p:nvSpPr>
          <p:spPr>
            <a:xfrm>
              <a:off x="4572000" y="3657600"/>
              <a:ext cx="533400" cy="1270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3" name="FV1">
              <a:extLst>
                <a:ext uri="{FF2B5EF4-FFF2-40B4-BE49-F238E27FC236}">
                  <a16:creationId xmlns:a16="http://schemas.microsoft.com/office/drawing/2014/main" id="{15AED342-8E77-479C-899F-98E925E4BDBA}"/>
                </a:ext>
              </a:extLst>
            </p:cNvPr>
            <p:cNvSpPr txBox="1"/>
            <p:nvPr/>
          </p:nvSpPr>
          <p:spPr>
            <a:xfrm>
              <a:off x="5397500" y="3556000"/>
              <a:ext cx="762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0.209</a:t>
              </a:r>
            </a:p>
          </p:txBody>
        </p:sp>
        <p:sp>
          <p:nvSpPr>
            <p:cNvPr id="24" name="FR2">
              <a:extLst>
                <a:ext uri="{FF2B5EF4-FFF2-40B4-BE49-F238E27FC236}">
                  <a16:creationId xmlns:a16="http://schemas.microsoft.com/office/drawing/2014/main" id="{2A1F1400-51B0-425A-9260-1EC86056D59B}"/>
                </a:ext>
              </a:extLst>
            </p:cNvPr>
            <p:cNvSpPr txBox="1"/>
            <p:nvPr/>
          </p:nvSpPr>
          <p:spPr>
            <a:xfrm>
              <a:off x="1397000" y="4038600"/>
              <a:ext cx="508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00C2CC"/>
                  </a:solidFill>
                </a:rPr>
                <a:t>3</a:t>
              </a:r>
            </a:p>
          </p:txBody>
        </p:sp>
        <p:sp>
          <p:nvSpPr>
            <p:cNvPr id="25" name="FN2">
              <a:extLst>
                <a:ext uri="{FF2B5EF4-FFF2-40B4-BE49-F238E27FC236}">
                  <a16:creationId xmlns:a16="http://schemas.microsoft.com/office/drawing/2014/main" id="{68AFB2E9-2DAC-4CA4-BF42-ABC3AD6E33E0}"/>
                </a:ext>
              </a:extLst>
            </p:cNvPr>
            <p:cNvSpPr txBox="1"/>
            <p:nvPr/>
          </p:nvSpPr>
          <p:spPr>
            <a:xfrm>
              <a:off x="2032000" y="4038600"/>
              <a:ext cx="2540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dirty="0">
                  <a:solidFill>
                    <a:srgbClr val="FFFFFF"/>
                  </a:solidFill>
                </a:rPr>
                <a:t>Momentum_5</a:t>
              </a:r>
            </a:p>
          </p:txBody>
        </p:sp>
        <p:sp>
          <p:nvSpPr>
            <p:cNvPr id="26" name="FBar2">
              <a:extLst>
                <a:ext uri="{FF2B5EF4-FFF2-40B4-BE49-F238E27FC236}">
                  <a16:creationId xmlns:a16="http://schemas.microsoft.com/office/drawing/2014/main" id="{2D5421B4-2FB8-4B7C-9631-A2D8754BF1F4}"/>
                </a:ext>
              </a:extLst>
            </p:cNvPr>
            <p:cNvSpPr/>
            <p:nvPr/>
          </p:nvSpPr>
          <p:spPr>
            <a:xfrm>
              <a:off x="4572000" y="4140200"/>
              <a:ext cx="762000" cy="127000"/>
            </a:xfrm>
            <a:prstGeom prst="rect">
              <a:avLst/>
            </a:prstGeom>
            <a:solidFill>
              <a:srgbClr val="1A325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7" name="FBarFG2">
              <a:extLst>
                <a:ext uri="{FF2B5EF4-FFF2-40B4-BE49-F238E27FC236}">
                  <a16:creationId xmlns:a16="http://schemas.microsoft.com/office/drawing/2014/main" id="{F9E8F550-65D2-4270-82AB-1733F66319B0}"/>
                </a:ext>
              </a:extLst>
            </p:cNvPr>
            <p:cNvSpPr/>
            <p:nvPr/>
          </p:nvSpPr>
          <p:spPr>
            <a:xfrm>
              <a:off x="4572000" y="4140200"/>
              <a:ext cx="457200" cy="1270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28" name="FV2">
              <a:extLst>
                <a:ext uri="{FF2B5EF4-FFF2-40B4-BE49-F238E27FC236}">
                  <a16:creationId xmlns:a16="http://schemas.microsoft.com/office/drawing/2014/main" id="{C66BC07A-681D-4595-8CE6-45CABAF347BB}"/>
                </a:ext>
              </a:extLst>
            </p:cNvPr>
            <p:cNvSpPr txBox="1"/>
            <p:nvPr/>
          </p:nvSpPr>
          <p:spPr>
            <a:xfrm>
              <a:off x="5397500" y="4038600"/>
              <a:ext cx="762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0.182</a:t>
              </a:r>
            </a:p>
          </p:txBody>
        </p:sp>
        <p:sp>
          <p:nvSpPr>
            <p:cNvPr id="29" name="FR3">
              <a:extLst>
                <a:ext uri="{FF2B5EF4-FFF2-40B4-BE49-F238E27FC236}">
                  <a16:creationId xmlns:a16="http://schemas.microsoft.com/office/drawing/2014/main" id="{39F2E4FC-E99B-4142-AEA2-4122B779EC11}"/>
                </a:ext>
              </a:extLst>
            </p:cNvPr>
            <p:cNvSpPr txBox="1"/>
            <p:nvPr/>
          </p:nvSpPr>
          <p:spPr>
            <a:xfrm>
              <a:off x="1397000" y="4521200"/>
              <a:ext cx="508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00C2CC"/>
                  </a:solidFill>
                </a:rPr>
                <a:t>4</a:t>
              </a:r>
            </a:p>
          </p:txBody>
        </p:sp>
        <p:sp>
          <p:nvSpPr>
            <p:cNvPr id="30" name="FN3">
              <a:extLst>
                <a:ext uri="{FF2B5EF4-FFF2-40B4-BE49-F238E27FC236}">
                  <a16:creationId xmlns:a16="http://schemas.microsoft.com/office/drawing/2014/main" id="{3D0B0A70-DFF9-427D-A71C-6F7D1AB327E3}"/>
                </a:ext>
              </a:extLst>
            </p:cNvPr>
            <p:cNvSpPr txBox="1"/>
            <p:nvPr/>
          </p:nvSpPr>
          <p:spPr>
            <a:xfrm>
              <a:off x="2032000" y="4521200"/>
              <a:ext cx="2540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dirty="0">
                  <a:solidFill>
                    <a:srgbClr val="FFFFFF"/>
                  </a:solidFill>
                </a:rPr>
                <a:t>RSI_14</a:t>
              </a:r>
            </a:p>
          </p:txBody>
        </p:sp>
        <p:sp>
          <p:nvSpPr>
            <p:cNvPr id="31" name="FBar3">
              <a:extLst>
                <a:ext uri="{FF2B5EF4-FFF2-40B4-BE49-F238E27FC236}">
                  <a16:creationId xmlns:a16="http://schemas.microsoft.com/office/drawing/2014/main" id="{D10DDF9D-9A2D-4C97-B1F0-5E18280E04BA}"/>
                </a:ext>
              </a:extLst>
            </p:cNvPr>
            <p:cNvSpPr/>
            <p:nvPr/>
          </p:nvSpPr>
          <p:spPr>
            <a:xfrm>
              <a:off x="4572000" y="4622800"/>
              <a:ext cx="762000" cy="127000"/>
            </a:xfrm>
            <a:prstGeom prst="rect">
              <a:avLst/>
            </a:prstGeom>
            <a:solidFill>
              <a:srgbClr val="1A325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32" name="FBarFG3">
              <a:extLst>
                <a:ext uri="{FF2B5EF4-FFF2-40B4-BE49-F238E27FC236}">
                  <a16:creationId xmlns:a16="http://schemas.microsoft.com/office/drawing/2014/main" id="{A92CD3C6-823D-4353-9E49-F2091569884B}"/>
                </a:ext>
              </a:extLst>
            </p:cNvPr>
            <p:cNvSpPr/>
            <p:nvPr/>
          </p:nvSpPr>
          <p:spPr>
            <a:xfrm>
              <a:off x="4572000" y="4622800"/>
              <a:ext cx="393700" cy="1270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33" name="FV3">
              <a:extLst>
                <a:ext uri="{FF2B5EF4-FFF2-40B4-BE49-F238E27FC236}">
                  <a16:creationId xmlns:a16="http://schemas.microsoft.com/office/drawing/2014/main" id="{B9E564A0-C1E5-4F7E-A477-303660EF8DAC}"/>
                </a:ext>
              </a:extLst>
            </p:cNvPr>
            <p:cNvSpPr txBox="1"/>
            <p:nvPr/>
          </p:nvSpPr>
          <p:spPr>
            <a:xfrm>
              <a:off x="5397500" y="4521200"/>
              <a:ext cx="762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0.154</a:t>
              </a:r>
            </a:p>
          </p:txBody>
        </p:sp>
        <p:sp>
          <p:nvSpPr>
            <p:cNvPr id="34" name="FR4">
              <a:extLst>
                <a:ext uri="{FF2B5EF4-FFF2-40B4-BE49-F238E27FC236}">
                  <a16:creationId xmlns:a16="http://schemas.microsoft.com/office/drawing/2014/main" id="{9EC017CE-5C9E-4332-AF30-984C19DFAD4D}"/>
                </a:ext>
              </a:extLst>
            </p:cNvPr>
            <p:cNvSpPr txBox="1"/>
            <p:nvPr/>
          </p:nvSpPr>
          <p:spPr>
            <a:xfrm>
              <a:off x="1397000" y="5003800"/>
              <a:ext cx="508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00C2CC"/>
                  </a:solidFill>
                </a:rPr>
                <a:t>5</a:t>
              </a:r>
            </a:p>
          </p:txBody>
        </p:sp>
        <p:sp>
          <p:nvSpPr>
            <p:cNvPr id="35" name="FN4">
              <a:extLst>
                <a:ext uri="{FF2B5EF4-FFF2-40B4-BE49-F238E27FC236}">
                  <a16:creationId xmlns:a16="http://schemas.microsoft.com/office/drawing/2014/main" id="{B6E40FC2-0DE3-4353-8100-54607D77A929}"/>
                </a:ext>
              </a:extLst>
            </p:cNvPr>
            <p:cNvSpPr txBox="1"/>
            <p:nvPr/>
          </p:nvSpPr>
          <p:spPr>
            <a:xfrm>
              <a:off x="2032000" y="5003800"/>
              <a:ext cx="2540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dirty="0">
                  <a:solidFill>
                    <a:srgbClr val="FFFFFF"/>
                  </a:solidFill>
                </a:rPr>
                <a:t>Return_5d</a:t>
              </a:r>
            </a:p>
          </p:txBody>
        </p:sp>
        <p:sp>
          <p:nvSpPr>
            <p:cNvPr id="36" name="FBar4">
              <a:extLst>
                <a:ext uri="{FF2B5EF4-FFF2-40B4-BE49-F238E27FC236}">
                  <a16:creationId xmlns:a16="http://schemas.microsoft.com/office/drawing/2014/main" id="{5C8EAEBB-57F7-45EA-ACA4-CF4BC56FE4BD}"/>
                </a:ext>
              </a:extLst>
            </p:cNvPr>
            <p:cNvSpPr/>
            <p:nvPr/>
          </p:nvSpPr>
          <p:spPr>
            <a:xfrm>
              <a:off x="4572000" y="5105400"/>
              <a:ext cx="762000" cy="127000"/>
            </a:xfrm>
            <a:prstGeom prst="rect">
              <a:avLst/>
            </a:prstGeom>
            <a:solidFill>
              <a:srgbClr val="1A325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37" name="FBarFG4">
              <a:extLst>
                <a:ext uri="{FF2B5EF4-FFF2-40B4-BE49-F238E27FC236}">
                  <a16:creationId xmlns:a16="http://schemas.microsoft.com/office/drawing/2014/main" id="{E69B1EB2-A985-4D2D-B635-FBFB030865D2}"/>
                </a:ext>
              </a:extLst>
            </p:cNvPr>
            <p:cNvSpPr/>
            <p:nvPr/>
          </p:nvSpPr>
          <p:spPr>
            <a:xfrm>
              <a:off x="4572000" y="5105400"/>
              <a:ext cx="330200" cy="1270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38" name="FV4">
              <a:extLst>
                <a:ext uri="{FF2B5EF4-FFF2-40B4-BE49-F238E27FC236}">
                  <a16:creationId xmlns:a16="http://schemas.microsoft.com/office/drawing/2014/main" id="{A7F654B8-7EBD-449A-812F-807927BE1606}"/>
                </a:ext>
              </a:extLst>
            </p:cNvPr>
            <p:cNvSpPr txBox="1"/>
            <p:nvPr/>
          </p:nvSpPr>
          <p:spPr>
            <a:xfrm>
              <a:off x="5397500" y="5003800"/>
              <a:ext cx="762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rgbClr val="FFFFFF"/>
                  </a:solidFill>
                </a:rPr>
                <a:t>0.131</a:t>
              </a:r>
            </a:p>
          </p:txBody>
        </p:sp>
        <p:sp>
          <p:nvSpPr>
            <p:cNvPr id="39" name="SCard">
              <a:extLst>
                <a:ext uri="{FF2B5EF4-FFF2-40B4-BE49-F238E27FC236}">
                  <a16:creationId xmlns:a16="http://schemas.microsoft.com/office/drawing/2014/main" id="{4C7AFB2B-E033-4B38-97B0-EB764B70E094}"/>
                </a:ext>
              </a:extLst>
            </p:cNvPr>
            <p:cNvSpPr/>
            <p:nvPr/>
          </p:nvSpPr>
          <p:spPr>
            <a:xfrm>
              <a:off x="6477000" y="1993900"/>
              <a:ext cx="4572000" cy="3810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40" name="SStrip">
              <a:extLst>
                <a:ext uri="{FF2B5EF4-FFF2-40B4-BE49-F238E27FC236}">
                  <a16:creationId xmlns:a16="http://schemas.microsoft.com/office/drawing/2014/main" id="{4A8EB69C-9992-4DEC-A353-C838B495959B}"/>
                </a:ext>
              </a:extLst>
            </p:cNvPr>
            <p:cNvSpPr/>
            <p:nvPr/>
          </p:nvSpPr>
          <p:spPr>
            <a:xfrm>
              <a:off x="6477000" y="1993900"/>
              <a:ext cx="4572000" cy="76200"/>
            </a:xfrm>
            <a:prstGeom prst="rect">
              <a:avLst/>
            </a:prstGeom>
            <a:solidFill>
              <a:srgbClr val="00C2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41" name="SHdr">
              <a:extLst>
                <a:ext uri="{FF2B5EF4-FFF2-40B4-BE49-F238E27FC236}">
                  <a16:creationId xmlns:a16="http://schemas.microsoft.com/office/drawing/2014/main" id="{6676D0CA-A794-4685-9F2D-FE1F48D4D36C}"/>
                </a:ext>
              </a:extLst>
            </p:cNvPr>
            <p:cNvSpPr txBox="1"/>
            <p:nvPr/>
          </p:nvSpPr>
          <p:spPr>
            <a:xfrm>
              <a:off x="6731000" y="2247900"/>
              <a:ext cx="4064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b="1" spc="100" dirty="0">
                  <a:solidFill>
                    <a:srgbClr val="00C2CC"/>
                  </a:solidFill>
                </a:rPr>
                <a:t>Stability under perturbation</a:t>
              </a:r>
            </a:p>
          </p:txBody>
        </p:sp>
        <p:sp>
          <p:nvSpPr>
            <p:cNvPr id="42" name="SColLbl">
              <a:extLst>
                <a:ext uri="{FF2B5EF4-FFF2-40B4-BE49-F238E27FC236}">
                  <a16:creationId xmlns:a16="http://schemas.microsoft.com/office/drawing/2014/main" id="{DF44EC89-5481-4AA9-A208-2AC99D4F3D6B}"/>
                </a:ext>
              </a:extLst>
            </p:cNvPr>
            <p:cNvSpPr txBox="1"/>
            <p:nvPr/>
          </p:nvSpPr>
          <p:spPr>
            <a:xfrm>
              <a:off x="6731000" y="2667000"/>
              <a:ext cx="1778000" cy="203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b="1" spc="200" dirty="0">
                  <a:solidFill>
                    <a:srgbClr val="8FB7D6"/>
                  </a:solidFill>
                </a:rPr>
                <a:t>PERTURBATION</a:t>
              </a:r>
            </a:p>
          </p:txBody>
        </p:sp>
        <p:sp>
          <p:nvSpPr>
            <p:cNvPr id="43" name="SColRho">
              <a:extLst>
                <a:ext uri="{FF2B5EF4-FFF2-40B4-BE49-F238E27FC236}">
                  <a16:creationId xmlns:a16="http://schemas.microsoft.com/office/drawing/2014/main" id="{01C3495C-2FB2-4B39-A611-199884395D3D}"/>
                </a:ext>
              </a:extLst>
            </p:cNvPr>
            <p:cNvSpPr txBox="1"/>
            <p:nvPr/>
          </p:nvSpPr>
          <p:spPr>
            <a:xfrm>
              <a:off x="8636000" y="2667000"/>
              <a:ext cx="1016000" cy="203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b="1" spc="200" dirty="0">
                  <a:solidFill>
                    <a:srgbClr val="8FB7D6"/>
                  </a:solidFill>
                </a:rPr>
                <a:t>ρ</a:t>
              </a:r>
            </a:p>
          </p:txBody>
        </p:sp>
        <p:sp>
          <p:nvSpPr>
            <p:cNvPr id="44" name="SColP">
              <a:extLst>
                <a:ext uri="{FF2B5EF4-FFF2-40B4-BE49-F238E27FC236}">
                  <a16:creationId xmlns:a16="http://schemas.microsoft.com/office/drawing/2014/main" id="{6C38177A-6ABE-4A70-9241-13A935E4438F}"/>
                </a:ext>
              </a:extLst>
            </p:cNvPr>
            <p:cNvSpPr txBox="1"/>
            <p:nvPr/>
          </p:nvSpPr>
          <p:spPr>
            <a:xfrm>
              <a:off x="9652000" y="2667000"/>
              <a:ext cx="1143000" cy="203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000" b="1" spc="200" dirty="0">
                  <a:solidFill>
                    <a:srgbClr val="8FB7D6"/>
                  </a:solidFill>
                </a:rPr>
                <a:t>p-value</a:t>
              </a:r>
            </a:p>
          </p:txBody>
        </p:sp>
        <p:sp>
          <p:nvSpPr>
            <p:cNvPr id="45" name="SL0">
              <a:extLst>
                <a:ext uri="{FF2B5EF4-FFF2-40B4-BE49-F238E27FC236}">
                  <a16:creationId xmlns:a16="http://schemas.microsoft.com/office/drawing/2014/main" id="{3A057ACC-6CAA-4576-950F-8F4216779434}"/>
                </a:ext>
              </a:extLst>
            </p:cNvPr>
            <p:cNvSpPr txBox="1"/>
            <p:nvPr/>
          </p:nvSpPr>
          <p:spPr>
            <a:xfrm>
              <a:off x="6731000" y="3073400"/>
              <a:ext cx="1778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dirty="0">
                  <a:solidFill>
                    <a:srgbClr val="D6EAF8"/>
                  </a:solidFill>
                </a:rPr>
                <a:t>σ = 0.05</a:t>
              </a:r>
            </a:p>
          </p:txBody>
        </p:sp>
        <p:sp>
          <p:nvSpPr>
            <p:cNvPr id="46" name="SR0">
              <a:extLst>
                <a:ext uri="{FF2B5EF4-FFF2-40B4-BE49-F238E27FC236}">
                  <a16:creationId xmlns:a16="http://schemas.microsoft.com/office/drawing/2014/main" id="{D78FB66B-B89B-44F2-A34B-9C4BC5282B2F}"/>
                </a:ext>
              </a:extLst>
            </p:cNvPr>
            <p:cNvSpPr txBox="1"/>
            <p:nvPr/>
          </p:nvSpPr>
          <p:spPr>
            <a:xfrm>
              <a:off x="8636000" y="3073400"/>
              <a:ext cx="1016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400" b="1" dirty="0">
                  <a:solidFill>
                    <a:srgbClr val="00C2CC"/>
                  </a:solidFill>
                </a:rPr>
                <a:t>0.618</a:t>
              </a:r>
            </a:p>
          </p:txBody>
        </p:sp>
        <p:sp>
          <p:nvSpPr>
            <p:cNvPr id="47" name="SP0">
              <a:extLst>
                <a:ext uri="{FF2B5EF4-FFF2-40B4-BE49-F238E27FC236}">
                  <a16:creationId xmlns:a16="http://schemas.microsoft.com/office/drawing/2014/main" id="{62D94067-C131-4BA8-A6D1-AD2A4E02C923}"/>
                </a:ext>
              </a:extLst>
            </p:cNvPr>
            <p:cNvSpPr txBox="1"/>
            <p:nvPr/>
          </p:nvSpPr>
          <p:spPr>
            <a:xfrm>
              <a:off x="9652000" y="3073400"/>
              <a:ext cx="1143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00C2CC"/>
                  </a:solidFill>
                </a:rPr>
                <a:t>p = 0.014 *</a:t>
              </a:r>
            </a:p>
          </p:txBody>
        </p:sp>
        <p:sp>
          <p:nvSpPr>
            <p:cNvPr id="49" name="SL1">
              <a:extLst>
                <a:ext uri="{FF2B5EF4-FFF2-40B4-BE49-F238E27FC236}">
                  <a16:creationId xmlns:a16="http://schemas.microsoft.com/office/drawing/2014/main" id="{DB17CE52-96A4-4EEB-AB75-455E61A4EA0C}"/>
                </a:ext>
              </a:extLst>
            </p:cNvPr>
            <p:cNvSpPr txBox="1"/>
            <p:nvPr/>
          </p:nvSpPr>
          <p:spPr>
            <a:xfrm>
              <a:off x="6731000" y="3759200"/>
              <a:ext cx="1778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dirty="0">
                  <a:solidFill>
                    <a:srgbClr val="D6EAF8"/>
                  </a:solidFill>
                </a:rPr>
                <a:t>σ = 0.10</a:t>
              </a:r>
            </a:p>
          </p:txBody>
        </p:sp>
        <p:sp>
          <p:nvSpPr>
            <p:cNvPr id="50" name="SR1">
              <a:extLst>
                <a:ext uri="{FF2B5EF4-FFF2-40B4-BE49-F238E27FC236}">
                  <a16:creationId xmlns:a16="http://schemas.microsoft.com/office/drawing/2014/main" id="{C8DF36FD-8F07-41F7-A40C-CBB67140DD8E}"/>
                </a:ext>
              </a:extLst>
            </p:cNvPr>
            <p:cNvSpPr txBox="1"/>
            <p:nvPr/>
          </p:nvSpPr>
          <p:spPr>
            <a:xfrm>
              <a:off x="8636000" y="3759200"/>
              <a:ext cx="1016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0.439</a:t>
              </a:r>
            </a:p>
          </p:txBody>
        </p:sp>
        <p:sp>
          <p:nvSpPr>
            <p:cNvPr id="51" name="SP1">
              <a:extLst>
                <a:ext uri="{FF2B5EF4-FFF2-40B4-BE49-F238E27FC236}">
                  <a16:creationId xmlns:a16="http://schemas.microsoft.com/office/drawing/2014/main" id="{F1CFB612-BE37-4068-91E6-5C8200BA454F}"/>
                </a:ext>
              </a:extLst>
            </p:cNvPr>
            <p:cNvSpPr txBox="1"/>
            <p:nvPr/>
          </p:nvSpPr>
          <p:spPr>
            <a:xfrm>
              <a:off x="9652000" y="3759200"/>
              <a:ext cx="1143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p = 0.101</a:t>
              </a:r>
            </a:p>
          </p:txBody>
        </p:sp>
        <p:sp>
          <p:nvSpPr>
            <p:cNvPr id="52" name="SL2">
              <a:extLst>
                <a:ext uri="{FF2B5EF4-FFF2-40B4-BE49-F238E27FC236}">
                  <a16:creationId xmlns:a16="http://schemas.microsoft.com/office/drawing/2014/main" id="{8D7B1578-2FB9-44ED-9E39-B07F6E49DDA3}"/>
                </a:ext>
              </a:extLst>
            </p:cNvPr>
            <p:cNvSpPr txBox="1"/>
            <p:nvPr/>
          </p:nvSpPr>
          <p:spPr>
            <a:xfrm>
              <a:off x="6731000" y="4445000"/>
              <a:ext cx="1778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500" dirty="0">
                  <a:solidFill>
                    <a:srgbClr val="D6EAF8"/>
                  </a:solidFill>
                </a:rPr>
                <a:t>σ = 0.20</a:t>
              </a:r>
            </a:p>
          </p:txBody>
        </p:sp>
        <p:sp>
          <p:nvSpPr>
            <p:cNvPr id="53" name="SR2">
              <a:extLst>
                <a:ext uri="{FF2B5EF4-FFF2-40B4-BE49-F238E27FC236}">
                  <a16:creationId xmlns:a16="http://schemas.microsoft.com/office/drawing/2014/main" id="{BB41C603-1FA0-44A3-9CEE-534B7DE3FE6F}"/>
                </a:ext>
              </a:extLst>
            </p:cNvPr>
            <p:cNvSpPr txBox="1"/>
            <p:nvPr/>
          </p:nvSpPr>
          <p:spPr>
            <a:xfrm>
              <a:off x="8636000" y="4445000"/>
              <a:ext cx="10160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0.346</a:t>
              </a:r>
            </a:p>
          </p:txBody>
        </p:sp>
        <p:sp>
          <p:nvSpPr>
            <p:cNvPr id="54" name="SP2">
              <a:extLst>
                <a:ext uri="{FF2B5EF4-FFF2-40B4-BE49-F238E27FC236}">
                  <a16:creationId xmlns:a16="http://schemas.microsoft.com/office/drawing/2014/main" id="{FCA33981-6F98-4CB5-9553-062153220E66}"/>
                </a:ext>
              </a:extLst>
            </p:cNvPr>
            <p:cNvSpPr txBox="1"/>
            <p:nvPr/>
          </p:nvSpPr>
          <p:spPr>
            <a:xfrm>
              <a:off x="9652000" y="4445000"/>
              <a:ext cx="1143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dirty="0">
                  <a:solidFill>
                    <a:srgbClr val="D6EAF8"/>
                  </a:solidFill>
                </a:rPr>
                <a:t>p = 0.180</a:t>
              </a:r>
            </a:p>
          </p:txBody>
        </p:sp>
        <p:sp>
          <p:nvSpPr>
            <p:cNvPr id="300" name="RhoDef"/>
            <p:cNvSpPr txBox="1"/>
            <p:nvPr/>
          </p:nvSpPr>
          <p:spPr>
            <a:xfrm>
              <a:off x="6731000" y="5232400"/>
              <a:ext cx="4064000" cy="4572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>
                <a:buNone/>
              </a:pPr>
              <a:r>
                <a:rPr lang="en-US" sz="1000" i="1" dirty="0">
                  <a:solidFill>
                    <a:srgbClr val="8FB7D6"/>
                  </a:solidFill>
                </a:rPr>
                <a:t>ρ = Spearman rank correlation of SHAP feature rankings</a:t>
              </a:r>
            </a:p>
          </p:txBody>
        </p:sp>
      </p:grpSp>
      <p:sp>
        <p:nvSpPr>
          <p:cNvPr id="58" name="Footer">
            <a:extLst>
              <a:ext uri="{FF2B5EF4-FFF2-40B4-BE49-F238E27FC236}">
                <a16:creationId xmlns:a16="http://schemas.microsoft.com/office/drawing/2014/main" id="{20D1477A-441A-430E-BC10-E198C05C525E}"/>
              </a:ext>
            </a:extLst>
          </p:cNvPr>
          <p:cNvSpPr txBox="1"/>
          <p:nvPr/>
        </p:nvSpPr>
        <p:spPr>
          <a:xfrm>
            <a:off x="1143000" y="6477000"/>
            <a:ext cx="990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000" i="1">
                <a:solidFill>
                  <a:srgbClr val="8FB7D6"/>
                </a:solidFill>
              </a:rPr>
              <a:t>12 / 15  ·  LD7083  ·  w24037842</a:t>
            </a:r>
          </a:p>
        </p:txBody>
      </p:sp>
    </p:spTree>
    <p:extLst>
      <p:ext uri="{BB962C8B-B14F-4D97-AF65-F5344CB8AC3E}">
        <p14:creationId xmlns:p14="http://schemas.microsoft.com/office/powerpoint/2010/main" val="4149452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68091969-4656-49BA-BC88-C2DAD1D6DC8B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">
            <a:extLst>
              <a:ext uri="{FF2B5EF4-FFF2-40B4-BE49-F238E27FC236}">
                <a16:creationId xmlns:a16="http://schemas.microsoft.com/office/drawing/2014/main" id="{0C07A68F-0C40-4299-8BCC-F558122DDDD3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0597799F-9123-4DF6-B092-691CC1F859F6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561CEDD6-87FB-4F2D-B0C2-C6B3C5CA973D}"/>
              </a:ext>
            </a:extLst>
          </p:cNvPr>
          <p:cNvSpPr txBox="1"/>
          <p:nvPr/>
        </p:nvSpPr>
        <p:spPr>
          <a:xfrm>
            <a:off x="1143000" y="45720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FFFFFF"/>
                </a:solidFill>
              </a:rPr>
              <a:t>Drift monitoring &amp; cyber resilience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A54CA16C-59BB-46F6-A362-E323A816A8CE}"/>
              </a:ext>
            </a:extLst>
          </p:cNvPr>
          <p:cNvSpPr txBox="1"/>
          <p:nvPr/>
        </p:nvSpPr>
        <p:spPr>
          <a:xfrm>
            <a:off x="1143000" y="105410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400" i="1" dirty="0">
                <a:solidFill>
                  <a:srgbClr val="8FB7D6"/>
                </a:solidFill>
              </a:rPr>
              <a:t>Monitoring whether the model detects regime shifts, manipulated inputs and delayed alerts</a:t>
            </a:r>
          </a:p>
        </p:txBody>
      </p:sp>
      <p:sp>
        <p:nvSpPr>
          <p:cNvPr id="7" name="Div">
            <a:extLst>
              <a:ext uri="{FF2B5EF4-FFF2-40B4-BE49-F238E27FC236}">
                <a16:creationId xmlns:a16="http://schemas.microsoft.com/office/drawing/2014/main" id="{2616E303-451D-4624-A5E4-D1AAF898AD86}"/>
              </a:ext>
            </a:extLst>
          </p:cNvPr>
          <p:cNvSpPr/>
          <p:nvPr/>
        </p:nvSpPr>
        <p:spPr>
          <a:xfrm>
            <a:off x="1143000" y="148590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" name="FBg">
            <a:extLst>
              <a:ext uri="{FF2B5EF4-FFF2-40B4-BE49-F238E27FC236}">
                <a16:creationId xmlns:a16="http://schemas.microsoft.com/office/drawing/2014/main" id="{93632669-7BAB-4301-9DDA-6ECD2323C9BE}"/>
              </a:ext>
            </a:extLst>
          </p:cNvPr>
          <p:cNvSpPr/>
          <p:nvPr/>
        </p:nvSpPr>
        <p:spPr>
          <a:xfrm>
            <a:off x="1143000" y="5842000"/>
            <a:ext cx="9906000" cy="4826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" name="FTxt">
            <a:extLst>
              <a:ext uri="{FF2B5EF4-FFF2-40B4-BE49-F238E27FC236}">
                <a16:creationId xmlns:a16="http://schemas.microsoft.com/office/drawing/2014/main" id="{B688149E-A57F-47E8-AE20-B007F77EFBBB}"/>
              </a:ext>
            </a:extLst>
          </p:cNvPr>
          <p:cNvSpPr txBox="1"/>
          <p:nvPr/>
        </p:nvSpPr>
        <p:spPr>
          <a:xfrm>
            <a:off x="1270000" y="58547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FFFFFF"/>
                </a:solidFill>
              </a:rPr>
              <a:t>Key message: Monitoring revealed operational silence — RF looked stable in some tests, but often failed to respond when alerts were needed.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26CC3E-ECFB-48DB-B229-E34A7C153BF2}"/>
              </a:ext>
            </a:extLst>
          </p:cNvPr>
          <p:cNvSpPr/>
          <p:nvPr/>
        </p:nvSpPr>
        <p:spPr>
          <a:xfrm>
            <a:off x="1143000" y="1778000"/>
            <a:ext cx="3175000" cy="3810000"/>
          </a:xfrm>
          <a:prstGeom prst="rect">
            <a:avLst/>
          </a:prstGeom>
          <a:solidFill>
            <a:srgbClr val="0F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D6CA7-D155-4A9F-AE38-5ABA6EF8E664}"/>
              </a:ext>
            </a:extLst>
          </p:cNvPr>
          <p:cNvSpPr/>
          <p:nvPr/>
        </p:nvSpPr>
        <p:spPr>
          <a:xfrm>
            <a:off x="1143000" y="1778000"/>
            <a:ext cx="31750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D_H">
            <a:extLst>
              <a:ext uri="{FF2B5EF4-FFF2-40B4-BE49-F238E27FC236}">
                <a16:creationId xmlns:a16="http://schemas.microsoft.com/office/drawing/2014/main" id="{F9C6D05A-E976-4745-8D99-7DFA670A9815}"/>
              </a:ext>
            </a:extLst>
          </p:cNvPr>
          <p:cNvSpPr txBox="1"/>
          <p:nvPr/>
        </p:nvSpPr>
        <p:spPr>
          <a:xfrm>
            <a:off x="1371600" y="2057400"/>
            <a:ext cx="2717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b="1">
                <a:solidFill>
                  <a:srgbClr val="00C2CC"/>
                </a:solidFill>
              </a:rPr>
              <a:t>1. DRIFT MONITORING</a:t>
            </a:r>
          </a:p>
        </p:txBody>
      </p:sp>
      <p:sp>
        <p:nvSpPr>
          <p:cNvPr id="11" name="D_L1">
            <a:extLst>
              <a:ext uri="{FF2B5EF4-FFF2-40B4-BE49-F238E27FC236}">
                <a16:creationId xmlns:a16="http://schemas.microsoft.com/office/drawing/2014/main" id="{BAAD3166-75F6-43AE-831F-573796836465}"/>
              </a:ext>
            </a:extLst>
          </p:cNvPr>
          <p:cNvSpPr txBox="1"/>
          <p:nvPr/>
        </p:nvSpPr>
        <p:spPr>
          <a:xfrm>
            <a:off x="1371600" y="2540000"/>
            <a:ext cx="2717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100">
                <a:solidFill>
                  <a:srgbClr val="8FB7D6"/>
                </a:solidFill>
              </a:rPr>
              <a:t>Active monitors</a:t>
            </a:r>
          </a:p>
        </p:txBody>
      </p:sp>
      <p:sp>
        <p:nvSpPr>
          <p:cNvPr id="12" name="D_V1">
            <a:extLst>
              <a:ext uri="{FF2B5EF4-FFF2-40B4-BE49-F238E27FC236}">
                <a16:creationId xmlns:a16="http://schemas.microsoft.com/office/drawing/2014/main" id="{7876D4F1-FC34-4F6E-9545-FF83626FD383}"/>
              </a:ext>
            </a:extLst>
          </p:cNvPr>
          <p:cNvSpPr txBox="1"/>
          <p:nvPr/>
        </p:nvSpPr>
        <p:spPr>
          <a:xfrm>
            <a:off x="1371600" y="2794000"/>
            <a:ext cx="2717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FFFFFF"/>
                </a:solidFill>
              </a:rPr>
              <a:t>PSI · KS · Page-Hinkley · CUSUM</a:t>
            </a:r>
          </a:p>
        </p:txBody>
      </p:sp>
      <p:sp>
        <p:nvSpPr>
          <p:cNvPr id="13" name="D_BIG">
            <a:extLst>
              <a:ext uri="{FF2B5EF4-FFF2-40B4-BE49-F238E27FC236}">
                <a16:creationId xmlns:a16="http://schemas.microsoft.com/office/drawing/2014/main" id="{E12034B6-5F39-4432-BB9E-EC6FD3BF2687}"/>
              </a:ext>
            </a:extLst>
          </p:cNvPr>
          <p:cNvSpPr txBox="1"/>
          <p:nvPr/>
        </p:nvSpPr>
        <p:spPr>
          <a:xfrm>
            <a:off x="1384300" y="3248660"/>
            <a:ext cx="2717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4000" b="1">
                <a:solidFill>
                  <a:srgbClr val="00C2CC"/>
                </a:solidFill>
              </a:rPr>
              <a:t>15</a:t>
            </a:r>
          </a:p>
        </p:txBody>
      </p:sp>
      <p:sp>
        <p:nvSpPr>
          <p:cNvPr id="14" name="D_L2">
            <a:extLst>
              <a:ext uri="{FF2B5EF4-FFF2-40B4-BE49-F238E27FC236}">
                <a16:creationId xmlns:a16="http://schemas.microsoft.com/office/drawing/2014/main" id="{254C76D0-F34B-470B-9F96-FCD4BCBE7007}"/>
              </a:ext>
            </a:extLst>
          </p:cNvPr>
          <p:cNvSpPr txBox="1"/>
          <p:nvPr/>
        </p:nvSpPr>
        <p:spPr>
          <a:xfrm>
            <a:off x="1371600" y="404622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dirty="0">
                <a:solidFill>
                  <a:srgbClr val="FFFFFF"/>
                </a:solidFill>
              </a:rPr>
              <a:t>retraining triggers</a:t>
            </a:r>
          </a:p>
        </p:txBody>
      </p:sp>
      <p:sp>
        <p:nvSpPr>
          <p:cNvPr id="15" name="D_L3">
            <a:extLst>
              <a:ext uri="{FF2B5EF4-FFF2-40B4-BE49-F238E27FC236}">
                <a16:creationId xmlns:a16="http://schemas.microsoft.com/office/drawing/2014/main" id="{72687DA7-C402-42B0-9547-D6C4142CF7EF}"/>
              </a:ext>
            </a:extLst>
          </p:cNvPr>
          <p:cNvSpPr txBox="1"/>
          <p:nvPr/>
        </p:nvSpPr>
        <p:spPr>
          <a:xfrm>
            <a:off x="1346200" y="4343400"/>
            <a:ext cx="2717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dirty="0">
                <a:solidFill>
                  <a:srgbClr val="8FB7D6"/>
                </a:solidFill>
              </a:rPr>
              <a:t>detected in rolling 90-day windows</a:t>
            </a:r>
            <a:endParaRPr lang="en-GB" sz="1100" dirty="0">
              <a:solidFill>
                <a:srgbClr val="8FB7D6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F23FFD-348A-4B1B-A75C-655604245688}"/>
              </a:ext>
            </a:extLst>
          </p:cNvPr>
          <p:cNvSpPr/>
          <p:nvPr/>
        </p:nvSpPr>
        <p:spPr>
          <a:xfrm>
            <a:off x="1460500" y="4679950"/>
            <a:ext cx="508000" cy="254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D_NOTE">
            <a:extLst>
              <a:ext uri="{FF2B5EF4-FFF2-40B4-BE49-F238E27FC236}">
                <a16:creationId xmlns:a16="http://schemas.microsoft.com/office/drawing/2014/main" id="{E946CCA9-67C3-4D95-A9B2-B4AD53D10EF5}"/>
              </a:ext>
            </a:extLst>
          </p:cNvPr>
          <p:cNvSpPr txBox="1"/>
          <p:nvPr/>
        </p:nvSpPr>
        <p:spPr>
          <a:xfrm>
            <a:off x="1371600" y="4859020"/>
            <a:ext cx="2717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 dirty="0">
                <a:solidFill>
                  <a:srgbClr val="8FB7D6"/>
                </a:solidFill>
              </a:rPr>
              <a:t>Indicates when model review or recalibration is needed.</a:t>
            </a:r>
            <a:endParaRPr lang="en-GB" sz="1100" i="1" dirty="0">
              <a:solidFill>
                <a:srgbClr val="8FB7D6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963643-E338-47E6-B136-02CDEA9917A9}"/>
              </a:ext>
            </a:extLst>
          </p:cNvPr>
          <p:cNvSpPr/>
          <p:nvPr/>
        </p:nvSpPr>
        <p:spPr>
          <a:xfrm>
            <a:off x="4508500" y="1778000"/>
            <a:ext cx="3175000" cy="3810000"/>
          </a:xfrm>
          <a:prstGeom prst="rect">
            <a:avLst/>
          </a:prstGeom>
          <a:solidFill>
            <a:srgbClr val="0F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40AECF-C9C5-44A6-927E-7DD8F7C050AF}"/>
              </a:ext>
            </a:extLst>
          </p:cNvPr>
          <p:cNvSpPr/>
          <p:nvPr/>
        </p:nvSpPr>
        <p:spPr>
          <a:xfrm>
            <a:off x="4508500" y="1778000"/>
            <a:ext cx="31750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C_H">
            <a:extLst>
              <a:ext uri="{FF2B5EF4-FFF2-40B4-BE49-F238E27FC236}">
                <a16:creationId xmlns:a16="http://schemas.microsoft.com/office/drawing/2014/main" id="{BAB29E2A-3285-480B-A968-AF6B70D30817}"/>
              </a:ext>
            </a:extLst>
          </p:cNvPr>
          <p:cNvSpPr txBox="1"/>
          <p:nvPr/>
        </p:nvSpPr>
        <p:spPr>
          <a:xfrm>
            <a:off x="4737100" y="2057400"/>
            <a:ext cx="2717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C2CC"/>
                </a:solidFill>
              </a:rPr>
              <a:t>2. CYBER-STYLE DISTURBANCE</a:t>
            </a:r>
          </a:p>
        </p:txBody>
      </p:sp>
      <p:sp>
        <p:nvSpPr>
          <p:cNvPr id="21" name="C_thS">
            <a:extLst>
              <a:ext uri="{FF2B5EF4-FFF2-40B4-BE49-F238E27FC236}">
                <a16:creationId xmlns:a16="http://schemas.microsoft.com/office/drawing/2014/main" id="{1E98E96D-B24B-46DE-B0BF-3016C9570D4A}"/>
              </a:ext>
            </a:extLst>
          </p:cNvPr>
          <p:cNvSpPr txBox="1"/>
          <p:nvPr/>
        </p:nvSpPr>
        <p:spPr>
          <a:xfrm>
            <a:off x="4737100" y="2489200"/>
            <a:ext cx="10414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GB" sz="900" b="1">
                <a:solidFill>
                  <a:srgbClr val="8FB7D6"/>
                </a:solidFill>
              </a:rPr>
              <a:t>SCENARIO</a:t>
            </a:r>
          </a:p>
        </p:txBody>
      </p:sp>
      <p:sp>
        <p:nvSpPr>
          <p:cNvPr id="22" name="C_thW">
            <a:extLst>
              <a:ext uri="{FF2B5EF4-FFF2-40B4-BE49-F238E27FC236}">
                <a16:creationId xmlns:a16="http://schemas.microsoft.com/office/drawing/2014/main" id="{4EE3B44E-049B-4417-B159-86EF457BD579}"/>
              </a:ext>
            </a:extLst>
          </p:cNvPr>
          <p:cNvSpPr txBox="1"/>
          <p:nvPr/>
        </p:nvSpPr>
        <p:spPr>
          <a:xfrm>
            <a:off x="5803900" y="2489200"/>
            <a:ext cx="165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900" b="1">
                <a:solidFill>
                  <a:srgbClr val="8FB7D6"/>
                </a:solidFill>
              </a:rPr>
              <a:t>WHAT IT TESTS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A18112-ABE0-49C7-8790-8F4A38C0E5AC}"/>
              </a:ext>
            </a:extLst>
          </p:cNvPr>
          <p:cNvSpPr/>
          <p:nvPr/>
        </p:nvSpPr>
        <p:spPr>
          <a:xfrm>
            <a:off x="4737100" y="2692400"/>
            <a:ext cx="2717800" cy="12700"/>
          </a:xfrm>
          <a:prstGeom prst="rect">
            <a:avLst/>
          </a:prstGeom>
          <a:solidFill>
            <a:srgbClr val="274C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" name="C_s0">
            <a:extLst>
              <a:ext uri="{FF2B5EF4-FFF2-40B4-BE49-F238E27FC236}">
                <a16:creationId xmlns:a16="http://schemas.microsoft.com/office/drawing/2014/main" id="{CCDEE22C-5773-44DC-A61A-C8AA0C6043EF}"/>
              </a:ext>
            </a:extLst>
          </p:cNvPr>
          <p:cNvSpPr txBox="1"/>
          <p:nvPr/>
        </p:nvSpPr>
        <p:spPr>
          <a:xfrm>
            <a:off x="4737100" y="2768600"/>
            <a:ext cx="1041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FFFF"/>
                </a:solidFill>
              </a:rPr>
              <a:t>Poison</a:t>
            </a:r>
          </a:p>
        </p:txBody>
      </p:sp>
      <p:sp>
        <p:nvSpPr>
          <p:cNvPr id="25" name="C_d0">
            <a:extLst>
              <a:ext uri="{FF2B5EF4-FFF2-40B4-BE49-F238E27FC236}">
                <a16:creationId xmlns:a16="http://schemas.microsoft.com/office/drawing/2014/main" id="{9C29AA94-396F-4522-8C71-4BB4D949BFCB}"/>
              </a:ext>
            </a:extLst>
          </p:cNvPr>
          <p:cNvSpPr txBox="1"/>
          <p:nvPr/>
        </p:nvSpPr>
        <p:spPr>
          <a:xfrm>
            <a:off x="5803900" y="27686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rgbClr val="8FB7D6"/>
                </a:solidFill>
              </a:rPr>
              <a:t>corrupted market values</a:t>
            </a:r>
          </a:p>
        </p:txBody>
      </p:sp>
      <p:sp>
        <p:nvSpPr>
          <p:cNvPr id="26" name="C_s1">
            <a:extLst>
              <a:ext uri="{FF2B5EF4-FFF2-40B4-BE49-F238E27FC236}">
                <a16:creationId xmlns:a16="http://schemas.microsoft.com/office/drawing/2014/main" id="{D66D44F7-9BE0-4B07-9AC7-83829C97B57D}"/>
              </a:ext>
            </a:extLst>
          </p:cNvPr>
          <p:cNvSpPr txBox="1"/>
          <p:nvPr/>
        </p:nvSpPr>
        <p:spPr>
          <a:xfrm>
            <a:off x="4737100" y="3124200"/>
            <a:ext cx="1041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FFFF"/>
                </a:solidFill>
              </a:rPr>
              <a:t>Stale</a:t>
            </a:r>
          </a:p>
        </p:txBody>
      </p:sp>
      <p:sp>
        <p:nvSpPr>
          <p:cNvPr id="27" name="C_d1">
            <a:extLst>
              <a:ext uri="{FF2B5EF4-FFF2-40B4-BE49-F238E27FC236}">
                <a16:creationId xmlns:a16="http://schemas.microsoft.com/office/drawing/2014/main" id="{F942905A-05C4-468C-9437-987653C8CF8D}"/>
              </a:ext>
            </a:extLst>
          </p:cNvPr>
          <p:cNvSpPr txBox="1"/>
          <p:nvPr/>
        </p:nvSpPr>
        <p:spPr>
          <a:xfrm>
            <a:off x="5803900" y="31242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rgbClr val="8FB7D6"/>
                </a:solidFill>
              </a:rPr>
              <a:t>delayed / replayed feed</a:t>
            </a:r>
          </a:p>
        </p:txBody>
      </p:sp>
      <p:sp>
        <p:nvSpPr>
          <p:cNvPr id="28" name="C_s2">
            <a:extLst>
              <a:ext uri="{FF2B5EF4-FFF2-40B4-BE49-F238E27FC236}">
                <a16:creationId xmlns:a16="http://schemas.microsoft.com/office/drawing/2014/main" id="{F66B2413-4B61-4D62-A0BB-1AC28BEA7169}"/>
              </a:ext>
            </a:extLst>
          </p:cNvPr>
          <p:cNvSpPr txBox="1"/>
          <p:nvPr/>
        </p:nvSpPr>
        <p:spPr>
          <a:xfrm>
            <a:off x="4737100" y="3479800"/>
            <a:ext cx="1041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FFFF"/>
                </a:solidFill>
              </a:rPr>
              <a:t>Drift</a:t>
            </a:r>
          </a:p>
        </p:txBody>
      </p:sp>
      <p:sp>
        <p:nvSpPr>
          <p:cNvPr id="29" name="C_d2">
            <a:extLst>
              <a:ext uri="{FF2B5EF4-FFF2-40B4-BE49-F238E27FC236}">
                <a16:creationId xmlns:a16="http://schemas.microsoft.com/office/drawing/2014/main" id="{20673D2E-3EC0-4E26-98CC-AD1D1D70471F}"/>
              </a:ext>
            </a:extLst>
          </p:cNvPr>
          <p:cNvSpPr txBox="1"/>
          <p:nvPr/>
        </p:nvSpPr>
        <p:spPr>
          <a:xfrm>
            <a:off x="5803900" y="34798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rgbClr val="8FB7D6"/>
                </a:solidFill>
              </a:rPr>
              <a:t>gradual manipulation</a:t>
            </a:r>
          </a:p>
        </p:txBody>
      </p:sp>
      <p:sp>
        <p:nvSpPr>
          <p:cNvPr id="30" name="C_s3">
            <a:extLst>
              <a:ext uri="{FF2B5EF4-FFF2-40B4-BE49-F238E27FC236}">
                <a16:creationId xmlns:a16="http://schemas.microsoft.com/office/drawing/2014/main" id="{08C7F6EA-5F23-45EA-8DEB-D289F2B247DC}"/>
              </a:ext>
            </a:extLst>
          </p:cNvPr>
          <p:cNvSpPr txBox="1"/>
          <p:nvPr/>
        </p:nvSpPr>
        <p:spPr>
          <a:xfrm>
            <a:off x="4737100" y="3835400"/>
            <a:ext cx="1041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FFFF"/>
                </a:solidFill>
              </a:rPr>
              <a:t>Coordinated</a:t>
            </a:r>
          </a:p>
        </p:txBody>
      </p:sp>
      <p:sp>
        <p:nvSpPr>
          <p:cNvPr id="31" name="C_d3">
            <a:extLst>
              <a:ext uri="{FF2B5EF4-FFF2-40B4-BE49-F238E27FC236}">
                <a16:creationId xmlns:a16="http://schemas.microsoft.com/office/drawing/2014/main" id="{79E53659-2E65-49F1-916B-80A5678DEDB9}"/>
              </a:ext>
            </a:extLst>
          </p:cNvPr>
          <p:cNvSpPr txBox="1"/>
          <p:nvPr/>
        </p:nvSpPr>
        <p:spPr>
          <a:xfrm>
            <a:off x="5803900" y="38354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rgbClr val="8FB7D6"/>
                </a:solidFill>
              </a:rPr>
              <a:t>multi-feature manipulation</a:t>
            </a:r>
          </a:p>
        </p:txBody>
      </p:sp>
      <p:sp>
        <p:nvSpPr>
          <p:cNvPr id="32" name="C_f1">
            <a:extLst>
              <a:ext uri="{FF2B5EF4-FFF2-40B4-BE49-F238E27FC236}">
                <a16:creationId xmlns:a16="http://schemas.microsoft.com/office/drawing/2014/main" id="{D418164D-BE41-4300-AF32-39C904FDA88C}"/>
              </a:ext>
            </a:extLst>
          </p:cNvPr>
          <p:cNvSpPr txBox="1"/>
          <p:nvPr/>
        </p:nvSpPr>
        <p:spPr>
          <a:xfrm>
            <a:off x="4737100" y="4318000"/>
            <a:ext cx="2717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8FB7D6"/>
                </a:solidFill>
              </a:rPr>
              <a:t>LR F1 range: </a:t>
            </a:r>
            <a:r>
              <a:rPr lang="en-US" sz="1200" b="1" dirty="0">
                <a:solidFill>
                  <a:srgbClr val="FFFFFF"/>
                </a:solidFill>
              </a:rPr>
              <a:t>0.198–0.310</a:t>
            </a:r>
          </a:p>
          <a:p>
            <a:pPr algn="l">
              <a:buNone/>
            </a:pPr>
            <a:r>
              <a:rPr lang="en-US" sz="1200" b="1" dirty="0">
                <a:solidFill>
                  <a:srgbClr val="8FB7D6"/>
                </a:solidFill>
              </a:rPr>
              <a:t>RF F1 range: </a:t>
            </a:r>
            <a:r>
              <a:rPr lang="en-US" sz="1200" b="1" dirty="0">
                <a:solidFill>
                  <a:srgbClr val="FFFFFF"/>
                </a:solidFill>
              </a:rPr>
              <a:t>0.091–0.319</a:t>
            </a:r>
          </a:p>
        </p:txBody>
      </p:sp>
      <p:sp>
        <p:nvSpPr>
          <p:cNvPr id="33" name="C_note">
            <a:extLst>
              <a:ext uri="{FF2B5EF4-FFF2-40B4-BE49-F238E27FC236}">
                <a16:creationId xmlns:a16="http://schemas.microsoft.com/office/drawing/2014/main" id="{C8C4D15C-01F2-475B-9201-48C8035E73AA}"/>
              </a:ext>
            </a:extLst>
          </p:cNvPr>
          <p:cNvSpPr txBox="1"/>
          <p:nvPr/>
        </p:nvSpPr>
        <p:spPr>
          <a:xfrm>
            <a:off x="4737100" y="48768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100" i="1" dirty="0">
                <a:solidFill>
                  <a:srgbClr val="8FB7D6"/>
                </a:solidFill>
              </a:rPr>
              <a:t>RF weakest: coordinated manipulation, F1 = 0.091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141ECD-C222-46CF-98D7-D1544CF33A1F}"/>
              </a:ext>
            </a:extLst>
          </p:cNvPr>
          <p:cNvSpPr/>
          <p:nvPr/>
        </p:nvSpPr>
        <p:spPr>
          <a:xfrm>
            <a:off x="7874000" y="1778000"/>
            <a:ext cx="3175000" cy="3810000"/>
          </a:xfrm>
          <a:prstGeom prst="rect">
            <a:avLst/>
          </a:prstGeom>
          <a:solidFill>
            <a:srgbClr val="0F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D4CBDA-FDE9-41B3-B716-5E251F606411}"/>
              </a:ext>
            </a:extLst>
          </p:cNvPr>
          <p:cNvSpPr/>
          <p:nvPr/>
        </p:nvSpPr>
        <p:spPr>
          <a:xfrm>
            <a:off x="7874000" y="1778000"/>
            <a:ext cx="31750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" name="T_H">
            <a:extLst>
              <a:ext uri="{FF2B5EF4-FFF2-40B4-BE49-F238E27FC236}">
                <a16:creationId xmlns:a16="http://schemas.microsoft.com/office/drawing/2014/main" id="{6F02D6B5-09E6-48B4-B4E4-35BB3AD6A5DB}"/>
              </a:ext>
            </a:extLst>
          </p:cNvPr>
          <p:cNvSpPr txBox="1"/>
          <p:nvPr/>
        </p:nvSpPr>
        <p:spPr>
          <a:xfrm>
            <a:off x="8102600" y="2057400"/>
            <a:ext cx="2717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b="1">
                <a:solidFill>
                  <a:srgbClr val="00C2CC"/>
                </a:solidFill>
              </a:rPr>
              <a:t>3. TIME-TO-DETECT</a:t>
            </a:r>
          </a:p>
        </p:txBody>
      </p:sp>
      <p:sp>
        <p:nvSpPr>
          <p:cNvPr id="37" name="T_SUB">
            <a:extLst>
              <a:ext uri="{FF2B5EF4-FFF2-40B4-BE49-F238E27FC236}">
                <a16:creationId xmlns:a16="http://schemas.microsoft.com/office/drawing/2014/main" id="{2396A353-FA19-4634-9F25-91AF897EB13A}"/>
              </a:ext>
            </a:extLst>
          </p:cNvPr>
          <p:cNvSpPr txBox="1"/>
          <p:nvPr/>
        </p:nvSpPr>
        <p:spPr>
          <a:xfrm>
            <a:off x="8102600" y="24892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 i="1">
                <a:solidFill>
                  <a:srgbClr val="8FB7D6"/>
                </a:solidFill>
              </a:rPr>
              <a:t>343 drawdown episodes tested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EF9337-16FE-4995-8AB7-B8460D4CDD09}"/>
              </a:ext>
            </a:extLst>
          </p:cNvPr>
          <p:cNvSpPr/>
          <p:nvPr/>
        </p:nvSpPr>
        <p:spPr>
          <a:xfrm>
            <a:off x="8102600" y="2921000"/>
            <a:ext cx="2717800" cy="1270000"/>
          </a:xfrm>
          <a:prstGeom prst="rect">
            <a:avLst/>
          </a:prstGeom>
          <a:solidFill>
            <a:srgbClr val="1A395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" name="T_LR detector_lbl">
            <a:extLst>
              <a:ext uri="{FF2B5EF4-FFF2-40B4-BE49-F238E27FC236}">
                <a16:creationId xmlns:a16="http://schemas.microsoft.com/office/drawing/2014/main" id="{2AA8C155-C1A2-4001-B600-F6CFB92B0175}"/>
              </a:ext>
            </a:extLst>
          </p:cNvPr>
          <p:cNvSpPr txBox="1"/>
          <p:nvPr/>
        </p:nvSpPr>
        <p:spPr>
          <a:xfrm>
            <a:off x="8255000" y="30226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100" b="1">
                <a:solidFill>
                  <a:srgbClr val="00C2CC"/>
                </a:solidFill>
              </a:rPr>
              <a:t>LR detector</a:t>
            </a:r>
          </a:p>
        </p:txBody>
      </p:sp>
      <p:sp>
        <p:nvSpPr>
          <p:cNvPr id="40" name="T_LR detector_big">
            <a:extLst>
              <a:ext uri="{FF2B5EF4-FFF2-40B4-BE49-F238E27FC236}">
                <a16:creationId xmlns:a16="http://schemas.microsoft.com/office/drawing/2014/main" id="{64ABAF86-3871-4D06-8B35-E88AF8B869F6}"/>
              </a:ext>
            </a:extLst>
          </p:cNvPr>
          <p:cNvSpPr txBox="1"/>
          <p:nvPr/>
        </p:nvSpPr>
        <p:spPr>
          <a:xfrm>
            <a:off x="8255000" y="3276600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FFFFFF"/>
                </a:solidFill>
              </a:rPr>
              <a:t>288 / 343 detected</a:t>
            </a:r>
          </a:p>
        </p:txBody>
      </p:sp>
      <p:sp>
        <p:nvSpPr>
          <p:cNvPr id="41" name="T_LR detector_pct">
            <a:extLst>
              <a:ext uri="{FF2B5EF4-FFF2-40B4-BE49-F238E27FC236}">
                <a16:creationId xmlns:a16="http://schemas.microsoft.com/office/drawing/2014/main" id="{B3A42101-2E0C-4788-8BFE-DFF9F9102E2B}"/>
              </a:ext>
            </a:extLst>
          </p:cNvPr>
          <p:cNvSpPr txBox="1"/>
          <p:nvPr/>
        </p:nvSpPr>
        <p:spPr>
          <a:xfrm>
            <a:off x="8255000" y="36322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FFFFFF"/>
                </a:solidFill>
              </a:rPr>
              <a:t>84.0% detection</a:t>
            </a:r>
          </a:p>
        </p:txBody>
      </p:sp>
      <p:sp>
        <p:nvSpPr>
          <p:cNvPr id="42" name="T_LR detector_sub">
            <a:extLst>
              <a:ext uri="{FF2B5EF4-FFF2-40B4-BE49-F238E27FC236}">
                <a16:creationId xmlns:a16="http://schemas.microsoft.com/office/drawing/2014/main" id="{31F6B315-044D-4D20-B971-2EDC1C11A62F}"/>
              </a:ext>
            </a:extLst>
          </p:cNvPr>
          <p:cNvSpPr txBox="1"/>
          <p:nvPr/>
        </p:nvSpPr>
        <p:spPr>
          <a:xfrm>
            <a:off x="8255000" y="3886200"/>
            <a:ext cx="2413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100" i="1" dirty="0">
                <a:solidFill>
                  <a:srgbClr val="8FB7D6"/>
                </a:solidFill>
              </a:rPr>
              <a:t>mean lead: </a:t>
            </a:r>
            <a:r>
              <a:rPr lang="en-US" sz="1100" b="1" i="1" dirty="0">
                <a:solidFill>
                  <a:srgbClr val="FFFFFF"/>
                </a:solidFill>
              </a:rPr>
              <a:t>4.44</a:t>
            </a:r>
            <a:r>
              <a:rPr lang="en-US" sz="1100" i="1" dirty="0">
                <a:solidFill>
                  <a:srgbClr val="8FB7D6"/>
                </a:solidFill>
              </a:rPr>
              <a:t> daily rows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886597-77BA-45A6-983B-756D4899A834}"/>
              </a:ext>
            </a:extLst>
          </p:cNvPr>
          <p:cNvSpPr/>
          <p:nvPr/>
        </p:nvSpPr>
        <p:spPr>
          <a:xfrm>
            <a:off x="8102600" y="4318000"/>
            <a:ext cx="2717800" cy="1143000"/>
          </a:xfrm>
          <a:prstGeom prst="rect">
            <a:avLst/>
          </a:prstGeom>
          <a:solidFill>
            <a:srgbClr val="1A395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" name="T_RF detector_lbl">
            <a:extLst>
              <a:ext uri="{FF2B5EF4-FFF2-40B4-BE49-F238E27FC236}">
                <a16:creationId xmlns:a16="http://schemas.microsoft.com/office/drawing/2014/main" id="{CA909937-5433-47C8-A791-4E4B8D530A4B}"/>
              </a:ext>
            </a:extLst>
          </p:cNvPr>
          <p:cNvSpPr txBox="1"/>
          <p:nvPr/>
        </p:nvSpPr>
        <p:spPr>
          <a:xfrm>
            <a:off x="8255000" y="43688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100" b="1">
                <a:solidFill>
                  <a:srgbClr val="00C2CC"/>
                </a:solidFill>
              </a:rPr>
              <a:t>RF detector</a:t>
            </a:r>
          </a:p>
        </p:txBody>
      </p:sp>
      <p:sp>
        <p:nvSpPr>
          <p:cNvPr id="45" name="T_RF detector_big">
            <a:extLst>
              <a:ext uri="{FF2B5EF4-FFF2-40B4-BE49-F238E27FC236}">
                <a16:creationId xmlns:a16="http://schemas.microsoft.com/office/drawing/2014/main" id="{860B4729-4B1D-498B-A257-B700179E6BFF}"/>
              </a:ext>
            </a:extLst>
          </p:cNvPr>
          <p:cNvSpPr txBox="1"/>
          <p:nvPr/>
        </p:nvSpPr>
        <p:spPr>
          <a:xfrm>
            <a:off x="8255000" y="4597400"/>
            <a:ext cx="2413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FFFFFF"/>
                </a:solidFill>
              </a:rPr>
              <a:t>2 / 343 detected</a:t>
            </a:r>
          </a:p>
        </p:txBody>
      </p:sp>
      <p:sp>
        <p:nvSpPr>
          <p:cNvPr id="46" name="T_RF detector_pct">
            <a:extLst>
              <a:ext uri="{FF2B5EF4-FFF2-40B4-BE49-F238E27FC236}">
                <a16:creationId xmlns:a16="http://schemas.microsoft.com/office/drawing/2014/main" id="{FDFD20AA-243F-483E-9D02-5FE4FDFCF0C8}"/>
              </a:ext>
            </a:extLst>
          </p:cNvPr>
          <p:cNvSpPr txBox="1"/>
          <p:nvPr/>
        </p:nvSpPr>
        <p:spPr>
          <a:xfrm>
            <a:off x="8255000" y="49784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FFFFFF"/>
                </a:solidFill>
              </a:rPr>
              <a:t>0.6% detection</a:t>
            </a:r>
          </a:p>
        </p:txBody>
      </p:sp>
      <p:sp>
        <p:nvSpPr>
          <p:cNvPr id="47" name="T_RF detector_sub">
            <a:extLst>
              <a:ext uri="{FF2B5EF4-FFF2-40B4-BE49-F238E27FC236}">
                <a16:creationId xmlns:a16="http://schemas.microsoft.com/office/drawing/2014/main" id="{9B0D59A6-D1F1-48CD-80C2-014C6150498E}"/>
              </a:ext>
            </a:extLst>
          </p:cNvPr>
          <p:cNvSpPr txBox="1"/>
          <p:nvPr/>
        </p:nvSpPr>
        <p:spPr>
          <a:xfrm>
            <a:off x="8255000" y="52324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100" i="1">
                <a:solidFill>
                  <a:srgbClr val="8FB7D6"/>
                </a:solidFill>
              </a:rPr>
              <a:t>effectively blind</a:t>
            </a:r>
          </a:p>
        </p:txBody>
      </p:sp>
      <p:sp>
        <p:nvSpPr>
          <p:cNvPr id="48" name="Footer13">
            <a:extLst>
              <a:ext uri="{FF2B5EF4-FFF2-40B4-BE49-F238E27FC236}">
                <a16:creationId xmlns:a16="http://schemas.microsoft.com/office/drawing/2014/main" id="{93A6448A-4D6D-4963-B7DB-C7A2F7C8753C}"/>
              </a:ext>
            </a:extLst>
          </p:cNvPr>
          <p:cNvSpPr txBox="1"/>
          <p:nvPr/>
        </p:nvSpPr>
        <p:spPr>
          <a:xfrm>
            <a:off x="1143000" y="6515100"/>
            <a:ext cx="990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000" i="1" dirty="0">
                <a:solidFill>
                  <a:srgbClr val="8FB7D6"/>
                </a:solidFill>
              </a:rPr>
              <a:t>13 / 15  ·  LD7083  ·  w24037842</a:t>
            </a:r>
          </a:p>
        </p:txBody>
      </p:sp>
    </p:spTree>
    <p:extLst>
      <p:ext uri="{BB962C8B-B14F-4D97-AF65-F5344CB8AC3E}">
        <p14:creationId xmlns:p14="http://schemas.microsoft.com/office/powerpoint/2010/main" val="1129031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160D2348-BF04-4B7A-ACD9-4F14BF8C3717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FD94364A-A17D-490F-9E52-49E4A459628D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C7614D68-CB1E-436D-A224-B94132470D02}"/>
              </a:ext>
            </a:extLst>
          </p:cNvPr>
          <p:cNvSpPr txBox="1"/>
          <p:nvPr/>
        </p:nvSpPr>
        <p:spPr>
          <a:xfrm>
            <a:off x="1143000" y="45720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FFFFFF"/>
                </a:solidFill>
              </a:rPr>
              <a:t>Limitations and challenges faced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C3BF4413-9D0E-4FED-BDE8-F93195510129}"/>
              </a:ext>
            </a:extLst>
          </p:cNvPr>
          <p:cNvSpPr txBox="1"/>
          <p:nvPr/>
        </p:nvSpPr>
        <p:spPr>
          <a:xfrm>
            <a:off x="1143000" y="105410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400" dirty="0">
                <a:solidFill>
                  <a:srgbClr val="D6EAF8"/>
                </a:solidFill>
              </a:rPr>
              <a:t>What constrained the study, and what was difficult during implementation</a:t>
            </a:r>
          </a:p>
        </p:txBody>
      </p:sp>
      <p:sp>
        <p:nvSpPr>
          <p:cNvPr id="7" name="Div">
            <a:extLst>
              <a:ext uri="{FF2B5EF4-FFF2-40B4-BE49-F238E27FC236}">
                <a16:creationId xmlns:a16="http://schemas.microsoft.com/office/drawing/2014/main" id="{96A05171-A31B-40E0-A501-AB93AD9DFD00}"/>
              </a:ext>
            </a:extLst>
          </p:cNvPr>
          <p:cNvSpPr/>
          <p:nvPr/>
        </p:nvSpPr>
        <p:spPr>
          <a:xfrm>
            <a:off x="1143000" y="148590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Card0">
            <a:extLst>
              <a:ext uri="{FF2B5EF4-FFF2-40B4-BE49-F238E27FC236}">
                <a16:creationId xmlns:a16="http://schemas.microsoft.com/office/drawing/2014/main" id="{816638E1-7702-4585-991C-9D57D536ADD9}"/>
              </a:ext>
            </a:extLst>
          </p:cNvPr>
          <p:cNvSpPr/>
          <p:nvPr/>
        </p:nvSpPr>
        <p:spPr>
          <a:xfrm>
            <a:off x="1143000" y="1651000"/>
            <a:ext cx="4826000" cy="4318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Strip0">
            <a:extLst>
              <a:ext uri="{FF2B5EF4-FFF2-40B4-BE49-F238E27FC236}">
                <a16:creationId xmlns:a16="http://schemas.microsoft.com/office/drawing/2014/main" id="{3F1F78F3-F342-4E50-ACB5-D4E0C8CD9A24}"/>
              </a:ext>
            </a:extLst>
          </p:cNvPr>
          <p:cNvSpPr/>
          <p:nvPr/>
        </p:nvSpPr>
        <p:spPr>
          <a:xfrm>
            <a:off x="1143000" y="1651000"/>
            <a:ext cx="48260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Tag0">
            <a:extLst>
              <a:ext uri="{FF2B5EF4-FFF2-40B4-BE49-F238E27FC236}">
                <a16:creationId xmlns:a16="http://schemas.microsoft.com/office/drawing/2014/main" id="{53001868-F9BC-488C-A74D-6A24284B4037}"/>
              </a:ext>
            </a:extLst>
          </p:cNvPr>
          <p:cNvSpPr txBox="1"/>
          <p:nvPr/>
        </p:nvSpPr>
        <p:spPr>
          <a:xfrm>
            <a:off x="1371600" y="1930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spc="200" dirty="0">
                <a:solidFill>
                  <a:srgbClr val="00C2CC"/>
                </a:solidFill>
              </a:rPr>
              <a:t>LIMITATIONS</a:t>
            </a:r>
          </a:p>
        </p:txBody>
      </p:sp>
      <p:sp>
        <p:nvSpPr>
          <p:cNvPr id="11" name="TT0">
            <a:extLst>
              <a:ext uri="{FF2B5EF4-FFF2-40B4-BE49-F238E27FC236}">
                <a16:creationId xmlns:a16="http://schemas.microsoft.com/office/drawing/2014/main" id="{E915BEDE-7650-4A4D-BA22-599B6D507271}"/>
              </a:ext>
            </a:extLst>
          </p:cNvPr>
          <p:cNvSpPr txBox="1"/>
          <p:nvPr/>
        </p:nvSpPr>
        <p:spPr>
          <a:xfrm>
            <a:off x="1371600" y="2311400"/>
            <a:ext cx="4368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FFFF"/>
                </a:solidFill>
              </a:rPr>
              <a:t>Study limitations</a:t>
            </a:r>
          </a:p>
        </p:txBody>
      </p:sp>
      <p:sp>
        <p:nvSpPr>
          <p:cNvPr id="12" name="VBg0">
            <a:extLst>
              <a:ext uri="{FF2B5EF4-FFF2-40B4-BE49-F238E27FC236}">
                <a16:creationId xmlns:a16="http://schemas.microsoft.com/office/drawing/2014/main" id="{AB2AB0B1-4004-4714-A696-A4E5CB745D36}"/>
              </a:ext>
            </a:extLst>
          </p:cNvPr>
          <p:cNvSpPr/>
          <p:nvPr/>
        </p:nvSpPr>
        <p:spPr>
          <a:xfrm>
            <a:off x="1371600" y="2819400"/>
            <a:ext cx="4368800" cy="3810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VTxt0">
            <a:extLst>
              <a:ext uri="{FF2B5EF4-FFF2-40B4-BE49-F238E27FC236}">
                <a16:creationId xmlns:a16="http://schemas.microsoft.com/office/drawing/2014/main" id="{F8A01889-EEEB-4E5B-BE03-16F1451AC4A1}"/>
              </a:ext>
            </a:extLst>
          </p:cNvPr>
          <p:cNvSpPr txBox="1"/>
          <p:nvPr/>
        </p:nvSpPr>
        <p:spPr>
          <a:xfrm>
            <a:off x="1371600" y="2857500"/>
            <a:ext cx="436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B1E3F"/>
                </a:solidFill>
              </a:rPr>
              <a:t>Scope and data constraints</a:t>
            </a:r>
          </a:p>
        </p:txBody>
      </p:sp>
      <p:sp>
        <p:nvSpPr>
          <p:cNvPr id="14" name="Stat0">
            <a:extLst>
              <a:ext uri="{FF2B5EF4-FFF2-40B4-BE49-F238E27FC236}">
                <a16:creationId xmlns:a16="http://schemas.microsoft.com/office/drawing/2014/main" id="{44951644-1750-4DB2-9011-B6A6F6D6E6B3}"/>
              </a:ext>
            </a:extLst>
          </p:cNvPr>
          <p:cNvSpPr txBox="1"/>
          <p:nvPr/>
        </p:nvSpPr>
        <p:spPr>
          <a:xfrm>
            <a:off x="1498600" y="45974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Yahoo Finance fits academic testing, not production</a:t>
            </a:r>
          </a:p>
        </p:txBody>
      </p:sp>
      <p:sp>
        <p:nvSpPr>
          <p:cNvPr id="15" name="Supp0">
            <a:extLst>
              <a:ext uri="{FF2B5EF4-FFF2-40B4-BE49-F238E27FC236}">
                <a16:creationId xmlns:a16="http://schemas.microsoft.com/office/drawing/2014/main" id="{CFE6ADB6-124F-4DC2-BBF2-F3BED83B9373}"/>
              </a:ext>
            </a:extLst>
          </p:cNvPr>
          <p:cNvSpPr txBox="1"/>
          <p:nvPr/>
        </p:nvSpPr>
        <p:spPr>
          <a:xfrm>
            <a:off x="1498600" y="50038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Cyber/adversarial tests are simulated, not real attacks</a:t>
            </a:r>
          </a:p>
        </p:txBody>
      </p:sp>
      <p:sp>
        <p:nvSpPr>
          <p:cNvPr id="16" name="Dot0_0">
            <a:extLst>
              <a:ext uri="{FF2B5EF4-FFF2-40B4-BE49-F238E27FC236}">
                <a16:creationId xmlns:a16="http://schemas.microsoft.com/office/drawing/2014/main" id="{606BD8C1-AB3E-46C0-9779-187AA1725199}"/>
              </a:ext>
            </a:extLst>
          </p:cNvPr>
          <p:cNvSpPr/>
          <p:nvPr/>
        </p:nvSpPr>
        <p:spPr>
          <a:xfrm>
            <a:off x="1371600" y="3429000"/>
            <a:ext cx="50800" cy="50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Bul0_0">
            <a:extLst>
              <a:ext uri="{FF2B5EF4-FFF2-40B4-BE49-F238E27FC236}">
                <a16:creationId xmlns:a16="http://schemas.microsoft.com/office/drawing/2014/main" id="{F1EDB581-9250-4699-B841-071E85AEF5BF}"/>
              </a:ext>
            </a:extLst>
          </p:cNvPr>
          <p:cNvSpPr txBox="1"/>
          <p:nvPr/>
        </p:nvSpPr>
        <p:spPr>
          <a:xfrm>
            <a:off x="1498600" y="33782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Daily OHLCV data only; no intraday or order-book data</a:t>
            </a:r>
          </a:p>
        </p:txBody>
      </p:sp>
      <p:sp>
        <p:nvSpPr>
          <p:cNvPr id="18" name="Dot0_1">
            <a:extLst>
              <a:ext uri="{FF2B5EF4-FFF2-40B4-BE49-F238E27FC236}">
                <a16:creationId xmlns:a16="http://schemas.microsoft.com/office/drawing/2014/main" id="{4236518F-C54C-4692-B2EE-1B601BE7EA95}"/>
              </a:ext>
            </a:extLst>
          </p:cNvPr>
          <p:cNvSpPr/>
          <p:nvPr/>
        </p:nvSpPr>
        <p:spPr>
          <a:xfrm>
            <a:off x="1371600" y="3835400"/>
            <a:ext cx="50800" cy="50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Bul0_1">
            <a:extLst>
              <a:ext uri="{FF2B5EF4-FFF2-40B4-BE49-F238E27FC236}">
                <a16:creationId xmlns:a16="http://schemas.microsoft.com/office/drawing/2014/main" id="{175D79A9-F680-42F2-A8D5-5A7B905A036A}"/>
              </a:ext>
            </a:extLst>
          </p:cNvPr>
          <p:cNvSpPr txBox="1"/>
          <p:nvPr/>
        </p:nvSpPr>
        <p:spPr>
          <a:xfrm>
            <a:off x="1498600" y="37846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10-asset equity/index universe limits generalisability</a:t>
            </a:r>
          </a:p>
        </p:txBody>
      </p:sp>
      <p:sp>
        <p:nvSpPr>
          <p:cNvPr id="20" name="Dot0_2">
            <a:extLst>
              <a:ext uri="{FF2B5EF4-FFF2-40B4-BE49-F238E27FC236}">
                <a16:creationId xmlns:a16="http://schemas.microsoft.com/office/drawing/2014/main" id="{E6E7940F-7DBD-4266-AEF9-C405B260235D}"/>
              </a:ext>
            </a:extLst>
          </p:cNvPr>
          <p:cNvSpPr/>
          <p:nvPr/>
        </p:nvSpPr>
        <p:spPr>
          <a:xfrm>
            <a:off x="1371600" y="4241800"/>
            <a:ext cx="50800" cy="50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" name="Bul0_2">
            <a:extLst>
              <a:ext uri="{FF2B5EF4-FFF2-40B4-BE49-F238E27FC236}">
                <a16:creationId xmlns:a16="http://schemas.microsoft.com/office/drawing/2014/main" id="{C6AB8E36-96B5-4252-BA39-65E2D14EE92C}"/>
              </a:ext>
            </a:extLst>
          </p:cNvPr>
          <p:cNvSpPr txBox="1"/>
          <p:nvPr/>
        </p:nvSpPr>
        <p:spPr>
          <a:xfrm>
            <a:off x="1498600" y="41910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Researcher-defined −3% / 5-day downside label</a:t>
            </a:r>
          </a:p>
        </p:txBody>
      </p:sp>
      <p:sp>
        <p:nvSpPr>
          <p:cNvPr id="22" name="Card1">
            <a:extLst>
              <a:ext uri="{FF2B5EF4-FFF2-40B4-BE49-F238E27FC236}">
                <a16:creationId xmlns:a16="http://schemas.microsoft.com/office/drawing/2014/main" id="{84BC98E6-F04E-4F07-AC7F-5C6C943A33B6}"/>
              </a:ext>
            </a:extLst>
          </p:cNvPr>
          <p:cNvSpPr/>
          <p:nvPr/>
        </p:nvSpPr>
        <p:spPr>
          <a:xfrm>
            <a:off x="6223000" y="1651000"/>
            <a:ext cx="4826000" cy="4318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Strip1">
            <a:extLst>
              <a:ext uri="{FF2B5EF4-FFF2-40B4-BE49-F238E27FC236}">
                <a16:creationId xmlns:a16="http://schemas.microsoft.com/office/drawing/2014/main" id="{B6BC0FFB-8357-4B17-9687-4AFEA0B64137}"/>
              </a:ext>
            </a:extLst>
          </p:cNvPr>
          <p:cNvSpPr/>
          <p:nvPr/>
        </p:nvSpPr>
        <p:spPr>
          <a:xfrm>
            <a:off x="6223000" y="1651000"/>
            <a:ext cx="48260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" name="Tag1">
            <a:extLst>
              <a:ext uri="{FF2B5EF4-FFF2-40B4-BE49-F238E27FC236}">
                <a16:creationId xmlns:a16="http://schemas.microsoft.com/office/drawing/2014/main" id="{5DB488E0-1516-4441-9BF2-C713D0BAD502}"/>
              </a:ext>
            </a:extLst>
          </p:cNvPr>
          <p:cNvSpPr txBox="1"/>
          <p:nvPr/>
        </p:nvSpPr>
        <p:spPr>
          <a:xfrm>
            <a:off x="6451600" y="1930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spc="200" dirty="0">
                <a:solidFill>
                  <a:srgbClr val="00C2CC"/>
                </a:solidFill>
              </a:rPr>
              <a:t>CHALLENGES</a:t>
            </a:r>
          </a:p>
        </p:txBody>
      </p:sp>
      <p:sp>
        <p:nvSpPr>
          <p:cNvPr id="25" name="TT1">
            <a:extLst>
              <a:ext uri="{FF2B5EF4-FFF2-40B4-BE49-F238E27FC236}">
                <a16:creationId xmlns:a16="http://schemas.microsoft.com/office/drawing/2014/main" id="{D5C7100F-0850-4E9F-9563-DF1C481D1F48}"/>
              </a:ext>
            </a:extLst>
          </p:cNvPr>
          <p:cNvSpPr txBox="1"/>
          <p:nvPr/>
        </p:nvSpPr>
        <p:spPr>
          <a:xfrm>
            <a:off x="6451600" y="2311400"/>
            <a:ext cx="4368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 challenges</a:t>
            </a:r>
          </a:p>
        </p:txBody>
      </p:sp>
      <p:sp>
        <p:nvSpPr>
          <p:cNvPr id="26" name="VBg1">
            <a:extLst>
              <a:ext uri="{FF2B5EF4-FFF2-40B4-BE49-F238E27FC236}">
                <a16:creationId xmlns:a16="http://schemas.microsoft.com/office/drawing/2014/main" id="{B40EFCF2-838C-4A72-8CDE-9D17EB5EA505}"/>
              </a:ext>
            </a:extLst>
          </p:cNvPr>
          <p:cNvSpPr/>
          <p:nvPr/>
        </p:nvSpPr>
        <p:spPr>
          <a:xfrm>
            <a:off x="6451600" y="2819400"/>
            <a:ext cx="4368800" cy="3810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" name="VTxt1">
            <a:extLst>
              <a:ext uri="{FF2B5EF4-FFF2-40B4-BE49-F238E27FC236}">
                <a16:creationId xmlns:a16="http://schemas.microsoft.com/office/drawing/2014/main" id="{930DEFAC-BA50-43EB-82D4-860B63826111}"/>
              </a:ext>
            </a:extLst>
          </p:cNvPr>
          <p:cNvSpPr txBox="1"/>
          <p:nvPr/>
        </p:nvSpPr>
        <p:spPr>
          <a:xfrm>
            <a:off x="6451600" y="2857500"/>
            <a:ext cx="436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B1E3F"/>
                </a:solidFill>
              </a:rPr>
              <a:t>Modelling and evaluation hurdles</a:t>
            </a:r>
          </a:p>
        </p:txBody>
      </p:sp>
      <p:sp>
        <p:nvSpPr>
          <p:cNvPr id="28" name="Stat1">
            <a:extLst>
              <a:ext uri="{FF2B5EF4-FFF2-40B4-BE49-F238E27FC236}">
                <a16:creationId xmlns:a16="http://schemas.microsoft.com/office/drawing/2014/main" id="{8AFCC82A-9929-4505-AF1C-0A78396F1F24}"/>
              </a:ext>
            </a:extLst>
          </p:cNvPr>
          <p:cNvSpPr txBox="1"/>
          <p:nvPr/>
        </p:nvSpPr>
        <p:spPr>
          <a:xfrm>
            <a:off x="6578600" y="45974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Reconciling accuracy vs recall in interpretation</a:t>
            </a:r>
          </a:p>
        </p:txBody>
      </p:sp>
      <p:sp>
        <p:nvSpPr>
          <p:cNvPr id="29" name="Supp1">
            <a:extLst>
              <a:ext uri="{FF2B5EF4-FFF2-40B4-BE49-F238E27FC236}">
                <a16:creationId xmlns:a16="http://schemas.microsoft.com/office/drawing/2014/main" id="{66FDA258-317A-457A-AAD9-B6E5FCFA3F59}"/>
              </a:ext>
            </a:extLst>
          </p:cNvPr>
          <p:cNvSpPr txBox="1"/>
          <p:nvPr/>
        </p:nvSpPr>
        <p:spPr>
          <a:xfrm>
            <a:off x="6578600" y="50038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SHAP stability, drift &amp; cyber tests in one pipeline</a:t>
            </a:r>
          </a:p>
        </p:txBody>
      </p:sp>
      <p:sp>
        <p:nvSpPr>
          <p:cNvPr id="30" name="Dot1_0">
            <a:extLst>
              <a:ext uri="{FF2B5EF4-FFF2-40B4-BE49-F238E27FC236}">
                <a16:creationId xmlns:a16="http://schemas.microsoft.com/office/drawing/2014/main" id="{7A0DDB4D-24C0-4252-8887-C2700C26CE6B}"/>
              </a:ext>
            </a:extLst>
          </p:cNvPr>
          <p:cNvSpPr/>
          <p:nvPr/>
        </p:nvSpPr>
        <p:spPr>
          <a:xfrm>
            <a:off x="6451600" y="3429000"/>
            <a:ext cx="50800" cy="50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Bul1_0">
            <a:extLst>
              <a:ext uri="{FF2B5EF4-FFF2-40B4-BE49-F238E27FC236}">
                <a16:creationId xmlns:a16="http://schemas.microsoft.com/office/drawing/2014/main" id="{2771C2A3-37BD-43DA-BEE8-A749157CF3A3}"/>
              </a:ext>
            </a:extLst>
          </p:cNvPr>
          <p:cNvSpPr txBox="1"/>
          <p:nvPr/>
        </p:nvSpPr>
        <p:spPr>
          <a:xfrm>
            <a:off x="6578600" y="33782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Shift from anomaly detection to supervised downside risk</a:t>
            </a:r>
          </a:p>
        </p:txBody>
      </p:sp>
      <p:sp>
        <p:nvSpPr>
          <p:cNvPr id="32" name="Dot1_1">
            <a:extLst>
              <a:ext uri="{FF2B5EF4-FFF2-40B4-BE49-F238E27FC236}">
                <a16:creationId xmlns:a16="http://schemas.microsoft.com/office/drawing/2014/main" id="{C550D3B6-C635-4590-9E1B-243B67B8C335}"/>
              </a:ext>
            </a:extLst>
          </p:cNvPr>
          <p:cNvSpPr/>
          <p:nvPr/>
        </p:nvSpPr>
        <p:spPr>
          <a:xfrm>
            <a:off x="6451600" y="3835400"/>
            <a:ext cx="50800" cy="50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" name="Bul1_1">
            <a:extLst>
              <a:ext uri="{FF2B5EF4-FFF2-40B4-BE49-F238E27FC236}">
                <a16:creationId xmlns:a16="http://schemas.microsoft.com/office/drawing/2014/main" id="{445432E3-FD7F-446E-93DC-55432D1C97F7}"/>
              </a:ext>
            </a:extLst>
          </p:cNvPr>
          <p:cNvSpPr txBox="1"/>
          <p:nvPr/>
        </p:nvSpPr>
        <p:spPr>
          <a:xfrm>
            <a:off x="6578600" y="37846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Handling class imbalance from rare drawdown events</a:t>
            </a:r>
          </a:p>
        </p:txBody>
      </p:sp>
      <p:sp>
        <p:nvSpPr>
          <p:cNvPr id="34" name="Dot1_2">
            <a:extLst>
              <a:ext uri="{FF2B5EF4-FFF2-40B4-BE49-F238E27FC236}">
                <a16:creationId xmlns:a16="http://schemas.microsoft.com/office/drawing/2014/main" id="{62D6AE98-5C13-4B2F-B775-6BE93F045B75}"/>
              </a:ext>
            </a:extLst>
          </p:cNvPr>
          <p:cNvSpPr/>
          <p:nvPr/>
        </p:nvSpPr>
        <p:spPr>
          <a:xfrm>
            <a:off x="6451600" y="4241800"/>
            <a:ext cx="50800" cy="50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" name="Bul1_2">
            <a:extLst>
              <a:ext uri="{FF2B5EF4-FFF2-40B4-BE49-F238E27FC236}">
                <a16:creationId xmlns:a16="http://schemas.microsoft.com/office/drawing/2014/main" id="{BAAE3D84-5B47-45F3-96A2-330D5A09FA5F}"/>
              </a:ext>
            </a:extLst>
          </p:cNvPr>
          <p:cNvSpPr txBox="1"/>
          <p:nvPr/>
        </p:nvSpPr>
        <p:spPr>
          <a:xfrm>
            <a:off x="6578600" y="41910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Choosing thresholds beyond the default 0.5</a:t>
            </a:r>
          </a:p>
        </p:txBody>
      </p:sp>
      <p:sp>
        <p:nvSpPr>
          <p:cNvPr id="50" name="Bot">
            <a:extLst>
              <a:ext uri="{FF2B5EF4-FFF2-40B4-BE49-F238E27FC236}">
                <a16:creationId xmlns:a16="http://schemas.microsoft.com/office/drawing/2014/main" id="{C910B46C-8BF0-4074-9B05-6D1C9A788337}"/>
              </a:ext>
            </a:extLst>
          </p:cNvPr>
          <p:cNvSpPr/>
          <p:nvPr/>
        </p:nvSpPr>
        <p:spPr>
          <a:xfrm>
            <a:off x="1143000" y="6159500"/>
            <a:ext cx="9906000" cy="2794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" name="BotTxt">
            <a:extLst>
              <a:ext uri="{FF2B5EF4-FFF2-40B4-BE49-F238E27FC236}">
                <a16:creationId xmlns:a16="http://schemas.microsoft.com/office/drawing/2014/main" id="{291FEDE2-36E2-4822-B8B9-14A9EAEE4FCD}"/>
              </a:ext>
            </a:extLst>
          </p:cNvPr>
          <p:cNvSpPr txBox="1"/>
          <p:nvPr/>
        </p:nvSpPr>
        <p:spPr>
          <a:xfrm>
            <a:off x="1270000" y="6197600"/>
            <a:ext cx="965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message: a functional research prototype — production use needs stronger data, external event labels, real-time testing and governance validation.</a:t>
            </a:r>
          </a:p>
        </p:txBody>
      </p:sp>
      <p:sp>
        <p:nvSpPr>
          <p:cNvPr id="52" name="Footer14">
            <a:extLst>
              <a:ext uri="{FF2B5EF4-FFF2-40B4-BE49-F238E27FC236}">
                <a16:creationId xmlns:a16="http://schemas.microsoft.com/office/drawing/2014/main" id="{F2E272F3-3AF0-4568-BFEE-B5D26F3769E9}"/>
              </a:ext>
            </a:extLst>
          </p:cNvPr>
          <p:cNvSpPr txBox="1"/>
          <p:nvPr/>
        </p:nvSpPr>
        <p:spPr>
          <a:xfrm>
            <a:off x="1143000" y="6578600"/>
            <a:ext cx="990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000" i="1">
                <a:solidFill>
                  <a:srgbClr val="8FB7D6"/>
                </a:solidFill>
              </a:rPr>
              <a:t>14 / 15  ·  LD7083  ·  w24037842</a:t>
            </a:r>
          </a:p>
        </p:txBody>
      </p:sp>
      <p:sp>
        <p:nvSpPr>
          <p:cNvPr id="200" name="Dot0_3">
            <a:extLst>
              <a:ext uri="{FF2B5EF4-FFF2-40B4-BE49-F238E27FC236}">
                <a16:creationId xmlns:a16="http://schemas.microsoft.com/office/drawing/2014/main" id="{606BD8C1-AB3E-46C0-9779-187AA1725199}"/>
              </a:ext>
            </a:extLst>
          </p:cNvPr>
          <p:cNvSpPr/>
          <p:nvPr/>
        </p:nvSpPr>
        <p:spPr>
          <a:xfrm>
            <a:off x="1371600" y="4648200"/>
            <a:ext cx="50800" cy="50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1" name="Dot0_4">
            <a:extLst>
              <a:ext uri="{FF2B5EF4-FFF2-40B4-BE49-F238E27FC236}">
                <a16:creationId xmlns:a16="http://schemas.microsoft.com/office/drawing/2014/main" id="{606BD8C1-AB3E-46C0-9779-187AA1725199}"/>
              </a:ext>
            </a:extLst>
          </p:cNvPr>
          <p:cNvSpPr/>
          <p:nvPr/>
        </p:nvSpPr>
        <p:spPr>
          <a:xfrm>
            <a:off x="1371600" y="5054600"/>
            <a:ext cx="50800" cy="50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2" name="Dot1_3">
            <a:extLst>
              <a:ext uri="{FF2B5EF4-FFF2-40B4-BE49-F238E27FC236}">
                <a16:creationId xmlns:a16="http://schemas.microsoft.com/office/drawing/2014/main" id="{7A0DDB4D-24C0-4252-8887-C2700C26CE6B}"/>
              </a:ext>
            </a:extLst>
          </p:cNvPr>
          <p:cNvSpPr/>
          <p:nvPr/>
        </p:nvSpPr>
        <p:spPr>
          <a:xfrm>
            <a:off x="6451600" y="4648200"/>
            <a:ext cx="50800" cy="50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3" name="Dot1_4">
            <a:extLst>
              <a:ext uri="{FF2B5EF4-FFF2-40B4-BE49-F238E27FC236}">
                <a16:creationId xmlns:a16="http://schemas.microsoft.com/office/drawing/2014/main" id="{7A0DDB4D-24C0-4252-8887-C2700C26CE6B}"/>
              </a:ext>
            </a:extLst>
          </p:cNvPr>
          <p:cNvSpPr/>
          <p:nvPr/>
        </p:nvSpPr>
        <p:spPr>
          <a:xfrm>
            <a:off x="6451600" y="5054600"/>
            <a:ext cx="50800" cy="50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370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BCE33D0E-3F44-49A7-B25D-0B794EBA5055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">
            <a:extLst>
              <a:ext uri="{FF2B5EF4-FFF2-40B4-BE49-F238E27FC236}">
                <a16:creationId xmlns:a16="http://schemas.microsoft.com/office/drawing/2014/main" id="{D6513286-30AD-492E-B08F-107996B61177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C882256C-D6E0-496F-AAAC-12DAF45B3022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608506DE-5D3A-42E0-8D16-BDB9AB9FFF12}"/>
              </a:ext>
            </a:extLst>
          </p:cNvPr>
          <p:cNvSpPr txBox="1"/>
          <p:nvPr/>
        </p:nvSpPr>
        <p:spPr>
          <a:xfrm>
            <a:off x="1143000" y="45720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Recommendations &amp; conclusion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D6D87490-3B94-4A56-B410-6C5757CF024E}"/>
              </a:ext>
            </a:extLst>
          </p:cNvPr>
          <p:cNvSpPr txBox="1"/>
          <p:nvPr/>
        </p:nvSpPr>
        <p:spPr>
          <a:xfrm>
            <a:off x="1143000" y="105410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D6EAF8"/>
                </a:solidFill>
              </a:rPr>
              <a:t>Practical steps · limits · what's next</a:t>
            </a:r>
          </a:p>
        </p:txBody>
      </p:sp>
      <p:sp>
        <p:nvSpPr>
          <p:cNvPr id="7" name="Div">
            <a:extLst>
              <a:ext uri="{FF2B5EF4-FFF2-40B4-BE49-F238E27FC236}">
                <a16:creationId xmlns:a16="http://schemas.microsoft.com/office/drawing/2014/main" id="{E3249A38-5603-485C-947F-A2A70CF091F2}"/>
              </a:ext>
            </a:extLst>
          </p:cNvPr>
          <p:cNvSpPr/>
          <p:nvPr/>
        </p:nvSpPr>
        <p:spPr>
          <a:xfrm>
            <a:off x="1143000" y="148590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RecCard0">
            <a:extLst>
              <a:ext uri="{FF2B5EF4-FFF2-40B4-BE49-F238E27FC236}">
                <a16:creationId xmlns:a16="http://schemas.microsoft.com/office/drawing/2014/main" id="{2F5A04B2-DDE7-4C3C-A8B4-53302B5D0ABD}"/>
              </a:ext>
            </a:extLst>
          </p:cNvPr>
          <p:cNvSpPr/>
          <p:nvPr/>
        </p:nvSpPr>
        <p:spPr>
          <a:xfrm>
            <a:off x="1143000" y="1993900"/>
            <a:ext cx="5588000" cy="762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PriBg0">
            <a:extLst>
              <a:ext uri="{FF2B5EF4-FFF2-40B4-BE49-F238E27FC236}">
                <a16:creationId xmlns:a16="http://schemas.microsoft.com/office/drawing/2014/main" id="{FCB2B0FC-93C3-4526-B18B-195ED2317011}"/>
              </a:ext>
            </a:extLst>
          </p:cNvPr>
          <p:cNvSpPr/>
          <p:nvPr/>
        </p:nvSpPr>
        <p:spPr>
          <a:xfrm>
            <a:off x="1295400" y="2146300"/>
            <a:ext cx="812800" cy="304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PriTxt0">
            <a:extLst>
              <a:ext uri="{FF2B5EF4-FFF2-40B4-BE49-F238E27FC236}">
                <a16:creationId xmlns:a16="http://schemas.microsoft.com/office/drawing/2014/main" id="{9AA9CFA0-4A37-45B3-BD70-7FB4E496D721}"/>
              </a:ext>
            </a:extLst>
          </p:cNvPr>
          <p:cNvSpPr txBox="1"/>
          <p:nvPr/>
        </p:nvSpPr>
        <p:spPr>
          <a:xfrm>
            <a:off x="1295400" y="2171700"/>
            <a:ext cx="812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spc="100" dirty="0">
                <a:solidFill>
                  <a:srgbClr val="0B1E3F"/>
                </a:solidFill>
              </a:rPr>
              <a:t>HIGH</a:t>
            </a:r>
          </a:p>
        </p:txBody>
      </p:sp>
      <p:sp>
        <p:nvSpPr>
          <p:cNvPr id="11" name="RecTitle0">
            <a:extLst>
              <a:ext uri="{FF2B5EF4-FFF2-40B4-BE49-F238E27FC236}">
                <a16:creationId xmlns:a16="http://schemas.microsoft.com/office/drawing/2014/main" id="{1C38ACF5-2116-463F-AC72-71E602F66F5A}"/>
              </a:ext>
            </a:extLst>
          </p:cNvPr>
          <p:cNvSpPr txBox="1"/>
          <p:nvPr/>
        </p:nvSpPr>
        <p:spPr>
          <a:xfrm>
            <a:off x="2260600" y="20955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Use LR as primary prototype detector</a:t>
            </a:r>
          </a:p>
        </p:txBody>
      </p:sp>
      <p:sp>
        <p:nvSpPr>
          <p:cNvPr id="12" name="RecAud0">
            <a:extLst>
              <a:ext uri="{FF2B5EF4-FFF2-40B4-BE49-F238E27FC236}">
                <a16:creationId xmlns:a16="http://schemas.microsoft.com/office/drawing/2014/main" id="{4BFC2440-C6AB-45A1-B87E-C11420758A14}"/>
              </a:ext>
            </a:extLst>
          </p:cNvPr>
          <p:cNvSpPr txBox="1"/>
          <p:nvPr/>
        </p:nvSpPr>
        <p:spPr>
          <a:xfrm>
            <a:off x="2260600" y="24003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i="1" dirty="0">
                <a:solidFill>
                  <a:srgbClr val="D6EAF8"/>
                </a:solidFill>
              </a:rPr>
              <a:t>Tech &amp; quant teams</a:t>
            </a:r>
          </a:p>
        </p:txBody>
      </p:sp>
      <p:sp>
        <p:nvSpPr>
          <p:cNvPr id="13" name="RecCard1">
            <a:extLst>
              <a:ext uri="{FF2B5EF4-FFF2-40B4-BE49-F238E27FC236}">
                <a16:creationId xmlns:a16="http://schemas.microsoft.com/office/drawing/2014/main" id="{5C048385-3CE1-42DB-A97D-180F01B62E00}"/>
              </a:ext>
            </a:extLst>
          </p:cNvPr>
          <p:cNvSpPr/>
          <p:nvPr/>
        </p:nvSpPr>
        <p:spPr>
          <a:xfrm>
            <a:off x="1143000" y="2908300"/>
            <a:ext cx="5588000" cy="762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PriBg1">
            <a:extLst>
              <a:ext uri="{FF2B5EF4-FFF2-40B4-BE49-F238E27FC236}">
                <a16:creationId xmlns:a16="http://schemas.microsoft.com/office/drawing/2014/main" id="{5B8F82FE-9015-43BE-9B37-58C047AEAD6D}"/>
              </a:ext>
            </a:extLst>
          </p:cNvPr>
          <p:cNvSpPr/>
          <p:nvPr/>
        </p:nvSpPr>
        <p:spPr>
          <a:xfrm>
            <a:off x="1295400" y="3060700"/>
            <a:ext cx="812800" cy="3048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PriTxt1">
            <a:extLst>
              <a:ext uri="{FF2B5EF4-FFF2-40B4-BE49-F238E27FC236}">
                <a16:creationId xmlns:a16="http://schemas.microsoft.com/office/drawing/2014/main" id="{D7A62B1C-038D-4EB4-A112-24F3E8823D83}"/>
              </a:ext>
            </a:extLst>
          </p:cNvPr>
          <p:cNvSpPr txBox="1"/>
          <p:nvPr/>
        </p:nvSpPr>
        <p:spPr>
          <a:xfrm>
            <a:off x="1295400" y="3086100"/>
            <a:ext cx="812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spc="100" dirty="0">
                <a:solidFill>
                  <a:srgbClr val="0B1E3F"/>
                </a:solidFill>
              </a:rPr>
              <a:t>HIGH</a:t>
            </a:r>
          </a:p>
        </p:txBody>
      </p:sp>
      <p:sp>
        <p:nvSpPr>
          <p:cNvPr id="16" name="RecTitle1">
            <a:extLst>
              <a:ext uri="{FF2B5EF4-FFF2-40B4-BE49-F238E27FC236}">
                <a16:creationId xmlns:a16="http://schemas.microsoft.com/office/drawing/2014/main" id="{770ABF1D-47A7-410A-9186-AF0D2CAC8742}"/>
              </a:ext>
            </a:extLst>
          </p:cNvPr>
          <p:cNvSpPr txBox="1"/>
          <p:nvPr/>
        </p:nvSpPr>
        <p:spPr>
          <a:xfrm>
            <a:off x="2260600" y="30099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Calibrate thresholds on held-out data</a:t>
            </a:r>
          </a:p>
        </p:txBody>
      </p:sp>
      <p:sp>
        <p:nvSpPr>
          <p:cNvPr id="17" name="RecAud1">
            <a:extLst>
              <a:ext uri="{FF2B5EF4-FFF2-40B4-BE49-F238E27FC236}">
                <a16:creationId xmlns:a16="http://schemas.microsoft.com/office/drawing/2014/main" id="{0B008856-E150-4378-BC40-4A368487F697}"/>
              </a:ext>
            </a:extLst>
          </p:cNvPr>
          <p:cNvSpPr txBox="1"/>
          <p:nvPr/>
        </p:nvSpPr>
        <p:spPr>
          <a:xfrm>
            <a:off x="2260600" y="33147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i="1" dirty="0">
                <a:solidFill>
                  <a:srgbClr val="D6EAF8"/>
                </a:solidFill>
              </a:rPr>
              <a:t>Model governance boards</a:t>
            </a:r>
          </a:p>
        </p:txBody>
      </p:sp>
      <p:sp>
        <p:nvSpPr>
          <p:cNvPr id="18" name="RecCard2">
            <a:extLst>
              <a:ext uri="{FF2B5EF4-FFF2-40B4-BE49-F238E27FC236}">
                <a16:creationId xmlns:a16="http://schemas.microsoft.com/office/drawing/2014/main" id="{8DE85296-E127-4250-826A-15A4BA247F11}"/>
              </a:ext>
            </a:extLst>
          </p:cNvPr>
          <p:cNvSpPr/>
          <p:nvPr/>
        </p:nvSpPr>
        <p:spPr>
          <a:xfrm>
            <a:off x="1143000" y="3822700"/>
            <a:ext cx="5588000" cy="762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PriBg2">
            <a:extLst>
              <a:ext uri="{FF2B5EF4-FFF2-40B4-BE49-F238E27FC236}">
                <a16:creationId xmlns:a16="http://schemas.microsoft.com/office/drawing/2014/main" id="{845ACF1D-BCC9-4AD5-BB64-8F9EE04AD29C}"/>
              </a:ext>
            </a:extLst>
          </p:cNvPr>
          <p:cNvSpPr/>
          <p:nvPr/>
        </p:nvSpPr>
        <p:spPr>
          <a:xfrm>
            <a:off x="1295400" y="3975100"/>
            <a:ext cx="812800" cy="304800"/>
          </a:xfrm>
          <a:prstGeom prst="rect">
            <a:avLst/>
          </a:prstGeom>
          <a:solidFill>
            <a:srgbClr val="0F4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PriTxt2">
            <a:extLst>
              <a:ext uri="{FF2B5EF4-FFF2-40B4-BE49-F238E27FC236}">
                <a16:creationId xmlns:a16="http://schemas.microsoft.com/office/drawing/2014/main" id="{F5FADA6C-49CE-4A67-B803-7B42B1481564}"/>
              </a:ext>
            </a:extLst>
          </p:cNvPr>
          <p:cNvSpPr txBox="1"/>
          <p:nvPr/>
        </p:nvSpPr>
        <p:spPr>
          <a:xfrm>
            <a:off x="1295400" y="4000500"/>
            <a:ext cx="812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spc="100" dirty="0">
                <a:solidFill>
                  <a:srgbClr val="D6EAF8"/>
                </a:solidFill>
              </a:rPr>
              <a:t>MEDIUM</a:t>
            </a:r>
          </a:p>
        </p:txBody>
      </p:sp>
      <p:sp>
        <p:nvSpPr>
          <p:cNvPr id="21" name="RecTitle2">
            <a:extLst>
              <a:ext uri="{FF2B5EF4-FFF2-40B4-BE49-F238E27FC236}">
                <a16:creationId xmlns:a16="http://schemas.microsoft.com/office/drawing/2014/main" id="{4692AB6D-4FFC-4D5F-BFCB-5A1E54BF6197}"/>
              </a:ext>
            </a:extLst>
          </p:cNvPr>
          <p:cNvSpPr txBox="1"/>
          <p:nvPr/>
        </p:nvSpPr>
        <p:spPr>
          <a:xfrm>
            <a:off x="2260600" y="39243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Layered cyber controls + monitoring</a:t>
            </a:r>
          </a:p>
        </p:txBody>
      </p:sp>
      <p:sp>
        <p:nvSpPr>
          <p:cNvPr id="22" name="RecAud2">
            <a:extLst>
              <a:ext uri="{FF2B5EF4-FFF2-40B4-BE49-F238E27FC236}">
                <a16:creationId xmlns:a16="http://schemas.microsoft.com/office/drawing/2014/main" id="{C782B467-707B-4EFF-B170-33A9A19821AD}"/>
              </a:ext>
            </a:extLst>
          </p:cNvPr>
          <p:cNvSpPr txBox="1"/>
          <p:nvPr/>
        </p:nvSpPr>
        <p:spPr>
          <a:xfrm>
            <a:off x="2260600" y="42291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i="1" dirty="0">
                <a:solidFill>
                  <a:srgbClr val="D6EAF8"/>
                </a:solidFill>
              </a:rPr>
              <a:t>Security &amp; operations</a:t>
            </a:r>
          </a:p>
        </p:txBody>
      </p:sp>
      <p:sp>
        <p:nvSpPr>
          <p:cNvPr id="23" name="RecCard3">
            <a:extLst>
              <a:ext uri="{FF2B5EF4-FFF2-40B4-BE49-F238E27FC236}">
                <a16:creationId xmlns:a16="http://schemas.microsoft.com/office/drawing/2014/main" id="{ECA9D4AA-F3C6-4CC8-B1C5-5B1C2AC80675}"/>
              </a:ext>
            </a:extLst>
          </p:cNvPr>
          <p:cNvSpPr/>
          <p:nvPr/>
        </p:nvSpPr>
        <p:spPr>
          <a:xfrm>
            <a:off x="1143000" y="4737100"/>
            <a:ext cx="5588000" cy="88646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" name="PriBg3">
            <a:extLst>
              <a:ext uri="{FF2B5EF4-FFF2-40B4-BE49-F238E27FC236}">
                <a16:creationId xmlns:a16="http://schemas.microsoft.com/office/drawing/2014/main" id="{75E2389F-CD7D-4E04-A37A-06E668D67CB6}"/>
              </a:ext>
            </a:extLst>
          </p:cNvPr>
          <p:cNvSpPr/>
          <p:nvPr/>
        </p:nvSpPr>
        <p:spPr>
          <a:xfrm>
            <a:off x="1295400" y="4889500"/>
            <a:ext cx="812800" cy="304800"/>
          </a:xfrm>
          <a:prstGeom prst="rect">
            <a:avLst/>
          </a:prstGeom>
          <a:solidFill>
            <a:srgbClr val="0F4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" name="PriTxt3">
            <a:extLst>
              <a:ext uri="{FF2B5EF4-FFF2-40B4-BE49-F238E27FC236}">
                <a16:creationId xmlns:a16="http://schemas.microsoft.com/office/drawing/2014/main" id="{E90BF81C-2857-48D0-9DFD-076AC6692931}"/>
              </a:ext>
            </a:extLst>
          </p:cNvPr>
          <p:cNvSpPr txBox="1"/>
          <p:nvPr/>
        </p:nvSpPr>
        <p:spPr>
          <a:xfrm>
            <a:off x="1295400" y="4914900"/>
            <a:ext cx="812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spc="100" dirty="0">
                <a:solidFill>
                  <a:srgbClr val="D6EAF8"/>
                </a:solidFill>
              </a:rPr>
              <a:t>MEDIUM</a:t>
            </a:r>
          </a:p>
        </p:txBody>
      </p:sp>
      <p:sp>
        <p:nvSpPr>
          <p:cNvPr id="26" name="RecTitle3">
            <a:extLst>
              <a:ext uri="{FF2B5EF4-FFF2-40B4-BE49-F238E27FC236}">
                <a16:creationId xmlns:a16="http://schemas.microsoft.com/office/drawing/2014/main" id="{82808466-8F69-4604-8249-1109B098247B}"/>
              </a:ext>
            </a:extLst>
          </p:cNvPr>
          <p:cNvSpPr txBox="1"/>
          <p:nvPr/>
        </p:nvSpPr>
        <p:spPr>
          <a:xfrm>
            <a:off x="2260600" y="48387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Document SHAP features + stability per release</a:t>
            </a:r>
          </a:p>
        </p:txBody>
      </p:sp>
      <p:sp>
        <p:nvSpPr>
          <p:cNvPr id="27" name="RecAud3">
            <a:extLst>
              <a:ext uri="{FF2B5EF4-FFF2-40B4-BE49-F238E27FC236}">
                <a16:creationId xmlns:a16="http://schemas.microsoft.com/office/drawing/2014/main" id="{7AFEC562-E8E4-4B89-ABFF-5BD6999A088F}"/>
              </a:ext>
            </a:extLst>
          </p:cNvPr>
          <p:cNvSpPr txBox="1"/>
          <p:nvPr/>
        </p:nvSpPr>
        <p:spPr>
          <a:xfrm>
            <a:off x="2260600" y="530606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i="1" dirty="0">
                <a:solidFill>
                  <a:srgbClr val="D6EAF8"/>
                </a:solidFill>
              </a:rPr>
              <a:t>Risk &amp; compliance</a:t>
            </a:r>
          </a:p>
        </p:txBody>
      </p:sp>
      <p:sp>
        <p:nvSpPr>
          <p:cNvPr id="39" name="CiteBg">
            <a:extLst>
              <a:ext uri="{FF2B5EF4-FFF2-40B4-BE49-F238E27FC236}">
                <a16:creationId xmlns:a16="http://schemas.microsoft.com/office/drawing/2014/main" id="{EB33DA0C-BA99-45DD-B3FA-5B10DC3FA2F0}"/>
              </a:ext>
            </a:extLst>
          </p:cNvPr>
          <p:cNvSpPr/>
          <p:nvPr/>
        </p:nvSpPr>
        <p:spPr>
          <a:xfrm>
            <a:off x="1143000" y="5928360"/>
            <a:ext cx="9906000" cy="4064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" name="CiteTxt">
            <a:extLst>
              <a:ext uri="{FF2B5EF4-FFF2-40B4-BE49-F238E27FC236}">
                <a16:creationId xmlns:a16="http://schemas.microsoft.com/office/drawing/2014/main" id="{9A471C9C-C564-43AF-A1E7-E28A428D8FDA}"/>
              </a:ext>
            </a:extLst>
          </p:cNvPr>
          <p:cNvSpPr txBox="1"/>
          <p:nvPr/>
        </p:nvSpPr>
        <p:spPr>
          <a:xfrm>
            <a:off x="1143000" y="6002020"/>
            <a:ext cx="965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BIS 2024  ·  FSB 2024  ·  Bank of England 2025  ·  FCA 2023  ·  EU AI Act 2024  ·  Fed/OCC SR 11-7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D13AA0-A845-15E2-BD24-04924DEA4DEF}"/>
              </a:ext>
            </a:extLst>
          </p:cNvPr>
          <p:cNvGrpSpPr/>
          <p:nvPr/>
        </p:nvGrpSpPr>
        <p:grpSpPr>
          <a:xfrm>
            <a:off x="6868160" y="1750060"/>
            <a:ext cx="3937000" cy="4051300"/>
            <a:chOff x="7112000" y="1993900"/>
            <a:chExt cx="3937000" cy="4051300"/>
          </a:xfrm>
        </p:grpSpPr>
        <p:sp>
          <p:nvSpPr>
            <p:cNvPr id="28" name="RHdr">
              <a:extLst>
                <a:ext uri="{FF2B5EF4-FFF2-40B4-BE49-F238E27FC236}">
                  <a16:creationId xmlns:a16="http://schemas.microsoft.com/office/drawing/2014/main" id="{4E9E930B-4B98-4607-A785-82E8F2032FDF}"/>
                </a:ext>
              </a:extLst>
            </p:cNvPr>
            <p:cNvSpPr txBox="1"/>
            <p:nvPr/>
          </p:nvSpPr>
          <p:spPr>
            <a:xfrm>
              <a:off x="7112000" y="1993900"/>
              <a:ext cx="3937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800" b="1" dirty="0">
                  <a:solidFill>
                    <a:srgbClr val="00C2CC"/>
                  </a:solidFill>
                </a:rPr>
                <a:t>Limits and future work</a:t>
              </a:r>
            </a:p>
          </p:txBody>
        </p:sp>
        <p:sp>
          <p:nvSpPr>
            <p:cNvPr id="29" name="RBox">
              <a:extLst>
                <a:ext uri="{FF2B5EF4-FFF2-40B4-BE49-F238E27FC236}">
                  <a16:creationId xmlns:a16="http://schemas.microsoft.com/office/drawing/2014/main" id="{345A195E-1638-41FD-BEAA-9DF5338501B4}"/>
                </a:ext>
              </a:extLst>
            </p:cNvPr>
            <p:cNvSpPr/>
            <p:nvPr/>
          </p:nvSpPr>
          <p:spPr>
            <a:xfrm>
              <a:off x="7112000" y="2413000"/>
              <a:ext cx="3937000" cy="3556000"/>
            </a:xfrm>
            <a:prstGeom prst="rect">
              <a:avLst/>
            </a:prstGeom>
            <a:solidFill>
              <a:srgbClr val="102C56"/>
            </a:solidFill>
            <a:ln w="12700" cap="flat" cmpd="sng" algn="ctr">
              <a:solidFill>
                <a:srgbClr val="00C2C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GB"/>
            </a:p>
          </p:txBody>
        </p:sp>
        <p:sp>
          <p:nvSpPr>
            <p:cNvPr id="30" name="RTxt1">
              <a:extLst>
                <a:ext uri="{FF2B5EF4-FFF2-40B4-BE49-F238E27FC236}">
                  <a16:creationId xmlns:a16="http://schemas.microsoft.com/office/drawing/2014/main" id="{E7526039-FDB3-49BB-8D49-B6C105737ED6}"/>
                </a:ext>
              </a:extLst>
            </p:cNvPr>
            <p:cNvSpPr txBox="1"/>
            <p:nvPr/>
          </p:nvSpPr>
          <p:spPr>
            <a:xfrm>
              <a:off x="7340600" y="2628900"/>
              <a:ext cx="3556000" cy="25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• Daily horizon only</a:t>
              </a:r>
            </a:p>
          </p:txBody>
        </p:sp>
        <p:sp>
          <p:nvSpPr>
            <p:cNvPr id="31" name="RTxt2">
              <a:extLst>
                <a:ext uri="{FF2B5EF4-FFF2-40B4-BE49-F238E27FC236}">
                  <a16:creationId xmlns:a16="http://schemas.microsoft.com/office/drawing/2014/main" id="{36D3FF13-4857-41EC-807A-02AFC8A4D88A}"/>
                </a:ext>
              </a:extLst>
            </p:cNvPr>
            <p:cNvSpPr txBox="1"/>
            <p:nvPr/>
          </p:nvSpPr>
          <p:spPr>
            <a:xfrm>
              <a:off x="7340600" y="2946400"/>
              <a:ext cx="3556000" cy="25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• Equity universe, 10 assets</a:t>
              </a:r>
            </a:p>
          </p:txBody>
        </p:sp>
        <p:sp>
          <p:nvSpPr>
            <p:cNvPr id="32" name="RTxt3">
              <a:extLst>
                <a:ext uri="{FF2B5EF4-FFF2-40B4-BE49-F238E27FC236}">
                  <a16:creationId xmlns:a16="http://schemas.microsoft.com/office/drawing/2014/main" id="{F60AAA4D-96B9-4224-914C-18214FE21876}"/>
                </a:ext>
              </a:extLst>
            </p:cNvPr>
            <p:cNvSpPr txBox="1"/>
            <p:nvPr/>
          </p:nvSpPr>
          <p:spPr>
            <a:xfrm>
              <a:off x="7340600" y="3263900"/>
              <a:ext cx="3556000" cy="25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• Single drawdown threshold (−3% / 5d)</a:t>
              </a:r>
            </a:p>
          </p:txBody>
        </p:sp>
        <p:sp>
          <p:nvSpPr>
            <p:cNvPr id="33" name="RDiv">
              <a:extLst>
                <a:ext uri="{FF2B5EF4-FFF2-40B4-BE49-F238E27FC236}">
                  <a16:creationId xmlns:a16="http://schemas.microsoft.com/office/drawing/2014/main" id="{5A469C57-F72C-409E-9ED1-C39920BCDB87}"/>
                </a:ext>
              </a:extLst>
            </p:cNvPr>
            <p:cNvSpPr txBox="1"/>
            <p:nvPr/>
          </p:nvSpPr>
          <p:spPr>
            <a:xfrm>
              <a:off x="7340600" y="3683000"/>
              <a:ext cx="3556000" cy="127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GB"/>
                <a:t> </a:t>
              </a:r>
            </a:p>
          </p:txBody>
        </p:sp>
        <p:sp>
          <p:nvSpPr>
            <p:cNvPr id="34" name="RFutHdr">
              <a:extLst>
                <a:ext uri="{FF2B5EF4-FFF2-40B4-BE49-F238E27FC236}">
                  <a16:creationId xmlns:a16="http://schemas.microsoft.com/office/drawing/2014/main" id="{42865638-5B8A-477E-A319-1174EE58DAF1}"/>
                </a:ext>
              </a:extLst>
            </p:cNvPr>
            <p:cNvSpPr txBox="1"/>
            <p:nvPr/>
          </p:nvSpPr>
          <p:spPr>
            <a:xfrm>
              <a:off x="7340600" y="3810000"/>
              <a:ext cx="3556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Future work</a:t>
              </a:r>
            </a:p>
          </p:txBody>
        </p:sp>
        <p:sp>
          <p:nvSpPr>
            <p:cNvPr id="35" name="RFut1">
              <a:extLst>
                <a:ext uri="{FF2B5EF4-FFF2-40B4-BE49-F238E27FC236}">
                  <a16:creationId xmlns:a16="http://schemas.microsoft.com/office/drawing/2014/main" id="{5F1D68F2-C489-433B-82A2-756C7741459C}"/>
                </a:ext>
              </a:extLst>
            </p:cNvPr>
            <p:cNvSpPr txBox="1"/>
            <p:nvPr/>
          </p:nvSpPr>
          <p:spPr>
            <a:xfrm>
              <a:off x="7340600" y="4191000"/>
              <a:ext cx="3556000" cy="25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• Intraday &amp; multi-asset extension</a:t>
              </a:r>
            </a:p>
          </p:txBody>
        </p:sp>
        <p:sp>
          <p:nvSpPr>
            <p:cNvPr id="36" name="RFut2">
              <a:extLst>
                <a:ext uri="{FF2B5EF4-FFF2-40B4-BE49-F238E27FC236}">
                  <a16:creationId xmlns:a16="http://schemas.microsoft.com/office/drawing/2014/main" id="{C9EFD8CF-370C-4CC9-8C94-34A04ADB561D}"/>
                </a:ext>
              </a:extLst>
            </p:cNvPr>
            <p:cNvSpPr txBox="1"/>
            <p:nvPr/>
          </p:nvSpPr>
          <p:spPr>
            <a:xfrm>
              <a:off x="7340600" y="4508500"/>
              <a:ext cx="3556000" cy="25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• Online retraining &amp; drift-driven updates</a:t>
              </a:r>
            </a:p>
          </p:txBody>
        </p:sp>
        <p:sp>
          <p:nvSpPr>
            <p:cNvPr id="37" name="RFut3">
              <a:extLst>
                <a:ext uri="{FF2B5EF4-FFF2-40B4-BE49-F238E27FC236}">
                  <a16:creationId xmlns:a16="http://schemas.microsoft.com/office/drawing/2014/main" id="{08936D6B-34F4-436A-B760-99724ECE66FC}"/>
                </a:ext>
              </a:extLst>
            </p:cNvPr>
            <p:cNvSpPr txBox="1"/>
            <p:nvPr/>
          </p:nvSpPr>
          <p:spPr>
            <a:xfrm>
              <a:off x="7340600" y="4826000"/>
              <a:ext cx="3556000" cy="25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• Adversarially-trained model variants</a:t>
              </a:r>
            </a:p>
          </p:txBody>
        </p:sp>
        <p:sp>
          <p:nvSpPr>
            <p:cNvPr id="38" name="REthics">
              <a:extLst>
                <a:ext uri="{FF2B5EF4-FFF2-40B4-BE49-F238E27FC236}">
                  <a16:creationId xmlns:a16="http://schemas.microsoft.com/office/drawing/2014/main" id="{58FECB29-DB59-4FB3-AAF9-9DE45EFB5E38}"/>
                </a:ext>
              </a:extLst>
            </p:cNvPr>
            <p:cNvSpPr txBox="1"/>
            <p:nvPr/>
          </p:nvSpPr>
          <p:spPr>
            <a:xfrm>
              <a:off x="7340600" y="5435600"/>
              <a:ext cx="3556000" cy="584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>
                <a:buNone/>
              </a:pPr>
              <a:r>
                <a:rPr lang="en-US" sz="1100" i="1" dirty="0">
                  <a:solidFill>
                    <a:srgbClr val="8FB7D6"/>
                  </a:solidFill>
                </a:rPr>
                <a:t>Ethics: secondary public data only · no PII · low-risk per LD7083 ethics approval</a:t>
              </a:r>
            </a:p>
          </p:txBody>
        </p:sp>
        <p:sp>
          <p:nvSpPr>
            <p:cNvPr id="320" name="RFut4"/>
            <p:cNvSpPr txBox="1"/>
            <p:nvPr/>
          </p:nvSpPr>
          <p:spPr>
            <a:xfrm>
              <a:off x="7340600" y="5080000"/>
              <a:ext cx="3556000" cy="254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>
                <a:buNone/>
              </a:pPr>
              <a:r>
                <a:rPr lang="en-US" sz="1300" dirty="0">
                  <a:solidFill>
                    <a:srgbClr val="D6EAF8"/>
                  </a:solidFill>
                </a:rPr>
                <a:t>• Externally validated event labels</a:t>
              </a:r>
            </a:p>
          </p:txBody>
        </p:sp>
      </p:grpSp>
      <p:sp>
        <p:nvSpPr>
          <p:cNvPr id="42" name="Footer15">
            <a:extLst>
              <a:ext uri="{FF2B5EF4-FFF2-40B4-BE49-F238E27FC236}">
                <a16:creationId xmlns:a16="http://schemas.microsoft.com/office/drawing/2014/main" id="{5637AD0B-E988-42F0-A02D-4A44664E9B16}"/>
              </a:ext>
            </a:extLst>
          </p:cNvPr>
          <p:cNvSpPr txBox="1"/>
          <p:nvPr/>
        </p:nvSpPr>
        <p:spPr>
          <a:xfrm>
            <a:off x="1143000" y="6578600"/>
            <a:ext cx="990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000" i="1">
                <a:solidFill>
                  <a:srgbClr val="8FB7D6"/>
                </a:solidFill>
              </a:rPr>
              <a:t>15 / 15  ·  LD7083  ·  w24037842</a:t>
            </a:r>
          </a:p>
        </p:txBody>
      </p:sp>
    </p:spTree>
    <p:extLst>
      <p:ext uri="{BB962C8B-B14F-4D97-AF65-F5344CB8AC3E}">
        <p14:creationId xmlns:p14="http://schemas.microsoft.com/office/powerpoint/2010/main" val="3406335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11399EB6-B1F6-4826-BA0F-6BB2A0A81AEE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">
            <a:extLst>
              <a:ext uri="{FF2B5EF4-FFF2-40B4-BE49-F238E27FC236}">
                <a16:creationId xmlns:a16="http://schemas.microsoft.com/office/drawing/2014/main" id="{B10268EE-5A60-489B-AA04-08AA2F738B22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CDD4D9A7-ABF2-4C50-8C5C-E32D1B883DFA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BkPill">
            <a:extLst>
              <a:ext uri="{FF2B5EF4-FFF2-40B4-BE49-F238E27FC236}">
                <a16:creationId xmlns:a16="http://schemas.microsoft.com/office/drawing/2014/main" id="{A7458C7F-B9A2-4387-8DA8-9CB281A018E1}"/>
              </a:ext>
            </a:extLst>
          </p:cNvPr>
          <p:cNvSpPr/>
          <p:nvPr/>
        </p:nvSpPr>
        <p:spPr>
          <a:xfrm>
            <a:off x="736600" y="457200"/>
            <a:ext cx="1143000" cy="3556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BkLbl">
            <a:extLst>
              <a:ext uri="{FF2B5EF4-FFF2-40B4-BE49-F238E27FC236}">
                <a16:creationId xmlns:a16="http://schemas.microsoft.com/office/drawing/2014/main" id="{3790BAF9-6F61-4DE9-837F-4EB754B509A0}"/>
              </a:ext>
            </a:extLst>
          </p:cNvPr>
          <p:cNvSpPr txBox="1"/>
          <p:nvPr/>
        </p:nvSpPr>
        <p:spPr>
          <a:xfrm>
            <a:off x="736600" y="482600"/>
            <a:ext cx="114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spc="200" dirty="0">
                <a:solidFill>
                  <a:srgbClr val="0B1E3F"/>
                </a:solidFill>
              </a:rPr>
              <a:t>A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E17F0FB-22A1-456E-A538-409C97624513}"/>
              </a:ext>
            </a:extLst>
          </p:cNvPr>
          <p:cNvSpPr txBox="1"/>
          <p:nvPr/>
        </p:nvSpPr>
        <p:spPr>
          <a:xfrm>
            <a:off x="2032000" y="457200"/>
            <a:ext cx="914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FFFFFF"/>
                </a:solidFill>
              </a:rPr>
              <a:t>Implementation summary</a:t>
            </a:r>
          </a:p>
        </p:txBody>
      </p:sp>
      <p:sp>
        <p:nvSpPr>
          <p:cNvPr id="8" name="Sub">
            <a:extLst>
              <a:ext uri="{FF2B5EF4-FFF2-40B4-BE49-F238E27FC236}">
                <a16:creationId xmlns:a16="http://schemas.microsoft.com/office/drawing/2014/main" id="{DB4E9EEB-CF11-40A3-AD49-AC5D42058163}"/>
              </a:ext>
            </a:extLst>
          </p:cNvPr>
          <p:cNvSpPr txBox="1"/>
          <p:nvPr/>
        </p:nvSpPr>
        <p:spPr>
          <a:xfrm>
            <a:off x="2032000" y="1054100"/>
            <a:ext cx="914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D6EAF8"/>
                </a:solidFill>
              </a:rPr>
              <a:t>Core code blocks behind the pipeline</a:t>
            </a:r>
          </a:p>
        </p:txBody>
      </p:sp>
      <p:sp>
        <p:nvSpPr>
          <p:cNvPr id="9" name="Div">
            <a:extLst>
              <a:ext uri="{FF2B5EF4-FFF2-40B4-BE49-F238E27FC236}">
                <a16:creationId xmlns:a16="http://schemas.microsoft.com/office/drawing/2014/main" id="{9FBB6808-EA4A-4C4F-835D-7C127367A452}"/>
              </a:ext>
            </a:extLst>
          </p:cNvPr>
          <p:cNvSpPr/>
          <p:nvPr/>
        </p:nvSpPr>
        <p:spPr>
          <a:xfrm>
            <a:off x="2032000" y="148590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Box0">
            <a:extLst>
              <a:ext uri="{FF2B5EF4-FFF2-40B4-BE49-F238E27FC236}">
                <a16:creationId xmlns:a16="http://schemas.microsoft.com/office/drawing/2014/main" id="{3F13E5BC-EA6E-4F05-96D7-2B9AE8F6A837}"/>
              </a:ext>
            </a:extLst>
          </p:cNvPr>
          <p:cNvSpPr/>
          <p:nvPr/>
        </p:nvSpPr>
        <p:spPr>
          <a:xfrm>
            <a:off x="1143000" y="1993900"/>
            <a:ext cx="4889500" cy="17145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BoxStrip0">
            <a:extLst>
              <a:ext uri="{FF2B5EF4-FFF2-40B4-BE49-F238E27FC236}">
                <a16:creationId xmlns:a16="http://schemas.microsoft.com/office/drawing/2014/main" id="{BC25CE86-B79E-480D-9650-B914BE2EE5E5}"/>
              </a:ext>
            </a:extLst>
          </p:cNvPr>
          <p:cNvSpPr/>
          <p:nvPr/>
        </p:nvSpPr>
        <p:spPr>
          <a:xfrm>
            <a:off x="1143000" y="1993900"/>
            <a:ext cx="48895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BoxT0">
            <a:extLst>
              <a:ext uri="{FF2B5EF4-FFF2-40B4-BE49-F238E27FC236}">
                <a16:creationId xmlns:a16="http://schemas.microsoft.com/office/drawing/2014/main" id="{969827C1-BAF2-4505-A4ED-C7481D8A7EA5}"/>
              </a:ext>
            </a:extLst>
          </p:cNvPr>
          <p:cNvSpPr txBox="1"/>
          <p:nvPr/>
        </p:nvSpPr>
        <p:spPr>
          <a:xfrm>
            <a:off x="1371600" y="22733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C2CC"/>
                </a:solidFill>
              </a:rPr>
              <a:t>Model definitions</a:t>
            </a:r>
          </a:p>
        </p:txBody>
      </p:sp>
      <p:sp>
        <p:nvSpPr>
          <p:cNvPr id="13" name="BoxC0">
            <a:extLst>
              <a:ext uri="{FF2B5EF4-FFF2-40B4-BE49-F238E27FC236}">
                <a16:creationId xmlns:a16="http://schemas.microsoft.com/office/drawing/2014/main" id="{F6D1DBB5-1CE5-41F9-9CAB-5ECE3CC55BCD}"/>
              </a:ext>
            </a:extLst>
          </p:cNvPr>
          <p:cNvSpPr txBox="1"/>
          <p:nvPr/>
        </p:nvSpPr>
        <p:spPr>
          <a:xfrm>
            <a:off x="1371600" y="2628900"/>
            <a:ext cx="4445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Pipeline(StandardScaler → LR(C=1.0))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RandomForest(n_estimators=200, max_depth=12)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GradientBoosting(n_estimators=300, lr=0.05)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Fit on (X_train, y_train) → evaluate on test</a:t>
            </a:r>
          </a:p>
        </p:txBody>
      </p:sp>
      <p:sp>
        <p:nvSpPr>
          <p:cNvPr id="14" name="Box1">
            <a:extLst>
              <a:ext uri="{FF2B5EF4-FFF2-40B4-BE49-F238E27FC236}">
                <a16:creationId xmlns:a16="http://schemas.microsoft.com/office/drawing/2014/main" id="{E5BB8426-D710-4170-B036-F47ACAF228A8}"/>
              </a:ext>
            </a:extLst>
          </p:cNvPr>
          <p:cNvSpPr/>
          <p:nvPr/>
        </p:nvSpPr>
        <p:spPr>
          <a:xfrm>
            <a:off x="6286500" y="1993900"/>
            <a:ext cx="4889500" cy="17145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BoxStrip1">
            <a:extLst>
              <a:ext uri="{FF2B5EF4-FFF2-40B4-BE49-F238E27FC236}">
                <a16:creationId xmlns:a16="http://schemas.microsoft.com/office/drawing/2014/main" id="{6C61B05F-DED1-4136-B536-DB0DE8CA3F45}"/>
              </a:ext>
            </a:extLst>
          </p:cNvPr>
          <p:cNvSpPr/>
          <p:nvPr/>
        </p:nvSpPr>
        <p:spPr>
          <a:xfrm>
            <a:off x="6286500" y="1993900"/>
            <a:ext cx="48895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BoxT1">
            <a:extLst>
              <a:ext uri="{FF2B5EF4-FFF2-40B4-BE49-F238E27FC236}">
                <a16:creationId xmlns:a16="http://schemas.microsoft.com/office/drawing/2014/main" id="{CA241068-BC02-438A-A200-F89C12A4ED2E}"/>
              </a:ext>
            </a:extLst>
          </p:cNvPr>
          <p:cNvSpPr txBox="1"/>
          <p:nvPr/>
        </p:nvSpPr>
        <p:spPr>
          <a:xfrm>
            <a:off x="6515100" y="22733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C2CC"/>
                </a:solidFill>
              </a:rPr>
              <a:t>Threshold search</a:t>
            </a:r>
          </a:p>
        </p:txBody>
      </p:sp>
      <p:sp>
        <p:nvSpPr>
          <p:cNvPr id="17" name="BoxC1">
            <a:extLst>
              <a:ext uri="{FF2B5EF4-FFF2-40B4-BE49-F238E27FC236}">
                <a16:creationId xmlns:a16="http://schemas.microsoft.com/office/drawing/2014/main" id="{92BCA50C-CEDC-47B8-8E87-9D22F45FDEB7}"/>
              </a:ext>
            </a:extLst>
          </p:cNvPr>
          <p:cNvSpPr txBox="1"/>
          <p:nvPr/>
        </p:nvSpPr>
        <p:spPr>
          <a:xfrm>
            <a:off x="6515100" y="2628900"/>
            <a:ext cx="4445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for t in np.arange(0.05, 0.95, 0.005):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    preds  = (probs &gt;= t).astype(int)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    f1_val = f1_score(y_val, preds)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argmax_t → apply to test set</a:t>
            </a:r>
          </a:p>
        </p:txBody>
      </p:sp>
      <p:sp>
        <p:nvSpPr>
          <p:cNvPr id="18" name="Box2">
            <a:extLst>
              <a:ext uri="{FF2B5EF4-FFF2-40B4-BE49-F238E27FC236}">
                <a16:creationId xmlns:a16="http://schemas.microsoft.com/office/drawing/2014/main" id="{8B2758ED-C564-4BEF-B445-EBF5DC8FD2D3}"/>
              </a:ext>
            </a:extLst>
          </p:cNvPr>
          <p:cNvSpPr/>
          <p:nvPr/>
        </p:nvSpPr>
        <p:spPr>
          <a:xfrm>
            <a:off x="1143000" y="3898900"/>
            <a:ext cx="4889500" cy="17145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BoxStrip2">
            <a:extLst>
              <a:ext uri="{FF2B5EF4-FFF2-40B4-BE49-F238E27FC236}">
                <a16:creationId xmlns:a16="http://schemas.microsoft.com/office/drawing/2014/main" id="{941BDF71-3F9A-4AEA-916C-E4195D619144}"/>
              </a:ext>
            </a:extLst>
          </p:cNvPr>
          <p:cNvSpPr/>
          <p:nvPr/>
        </p:nvSpPr>
        <p:spPr>
          <a:xfrm>
            <a:off x="1143000" y="3898900"/>
            <a:ext cx="48895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BoxT2">
            <a:extLst>
              <a:ext uri="{FF2B5EF4-FFF2-40B4-BE49-F238E27FC236}">
                <a16:creationId xmlns:a16="http://schemas.microsoft.com/office/drawing/2014/main" id="{B66E4FC4-F89A-4467-9D8E-0B88D52CE52C}"/>
              </a:ext>
            </a:extLst>
          </p:cNvPr>
          <p:cNvSpPr txBox="1"/>
          <p:nvPr/>
        </p:nvSpPr>
        <p:spPr>
          <a:xfrm>
            <a:off x="1371600" y="41783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C2CC"/>
                </a:solidFill>
              </a:rPr>
              <a:t>Alert fusion</a:t>
            </a:r>
          </a:p>
        </p:txBody>
      </p:sp>
      <p:sp>
        <p:nvSpPr>
          <p:cNvPr id="21" name="BoxC2">
            <a:extLst>
              <a:ext uri="{FF2B5EF4-FFF2-40B4-BE49-F238E27FC236}">
                <a16:creationId xmlns:a16="http://schemas.microsoft.com/office/drawing/2014/main" id="{DBDB2781-C3AB-46C2-B5F5-93DD55C953B2}"/>
              </a:ext>
            </a:extLst>
          </p:cNvPr>
          <p:cNvSpPr txBox="1"/>
          <p:nvPr/>
        </p:nvSpPr>
        <p:spPr>
          <a:xfrm>
            <a:off x="1371600" y="4533900"/>
            <a:ext cx="4445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or_alerts        = lr_alert | rf_alert | gb_alert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consensus_alerts = (lr + rf + gb) &gt;= 2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→ evaluate Precision · Recall · F1</a:t>
            </a:r>
          </a:p>
        </p:txBody>
      </p:sp>
      <p:sp>
        <p:nvSpPr>
          <p:cNvPr id="22" name="Box3">
            <a:extLst>
              <a:ext uri="{FF2B5EF4-FFF2-40B4-BE49-F238E27FC236}">
                <a16:creationId xmlns:a16="http://schemas.microsoft.com/office/drawing/2014/main" id="{704D1A1C-74F8-4309-891C-CCE4A7201B12}"/>
              </a:ext>
            </a:extLst>
          </p:cNvPr>
          <p:cNvSpPr/>
          <p:nvPr/>
        </p:nvSpPr>
        <p:spPr>
          <a:xfrm>
            <a:off x="6286500" y="3898900"/>
            <a:ext cx="4889500" cy="17145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BoxStrip3">
            <a:extLst>
              <a:ext uri="{FF2B5EF4-FFF2-40B4-BE49-F238E27FC236}">
                <a16:creationId xmlns:a16="http://schemas.microsoft.com/office/drawing/2014/main" id="{03F37B61-69F6-4179-87FD-2A59EA40ADDF}"/>
              </a:ext>
            </a:extLst>
          </p:cNvPr>
          <p:cNvSpPr/>
          <p:nvPr/>
        </p:nvSpPr>
        <p:spPr>
          <a:xfrm>
            <a:off x="6286500" y="3898900"/>
            <a:ext cx="48895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" name="BoxT3">
            <a:extLst>
              <a:ext uri="{FF2B5EF4-FFF2-40B4-BE49-F238E27FC236}">
                <a16:creationId xmlns:a16="http://schemas.microsoft.com/office/drawing/2014/main" id="{10387585-5C39-4F5D-B07C-E317449BEC01}"/>
              </a:ext>
            </a:extLst>
          </p:cNvPr>
          <p:cNvSpPr txBox="1"/>
          <p:nvPr/>
        </p:nvSpPr>
        <p:spPr>
          <a:xfrm>
            <a:off x="6515100" y="41783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C2CC"/>
                </a:solidFill>
              </a:rPr>
              <a:t>Cyber attack simulator</a:t>
            </a:r>
          </a:p>
        </p:txBody>
      </p:sp>
      <p:sp>
        <p:nvSpPr>
          <p:cNvPr id="25" name="BoxC3">
            <a:extLst>
              <a:ext uri="{FF2B5EF4-FFF2-40B4-BE49-F238E27FC236}">
                <a16:creationId xmlns:a16="http://schemas.microsoft.com/office/drawing/2014/main" id="{CE8630F2-2ED0-4C74-8FDE-F0C3E7B52F49}"/>
              </a:ext>
            </a:extLst>
          </p:cNvPr>
          <p:cNvSpPr txBox="1"/>
          <p:nvPr/>
        </p:nvSpPr>
        <p:spPr>
          <a:xfrm>
            <a:off x="6515100" y="4533900"/>
            <a:ext cx="4445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for attack in [poison, stale, drift, coord]: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    X_adv = perturb(X_test, attack)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    for model in models: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onsolas"/>
              </a:rPr>
              <a:t>        record F1(model, X_adv)</a:t>
            </a:r>
          </a:p>
        </p:txBody>
      </p:sp>
      <p:sp>
        <p:nvSpPr>
          <p:cNvPr id="26" name="BotBg">
            <a:extLst>
              <a:ext uri="{FF2B5EF4-FFF2-40B4-BE49-F238E27FC236}">
                <a16:creationId xmlns:a16="http://schemas.microsoft.com/office/drawing/2014/main" id="{3E87154F-790D-480C-87FD-BB07F92DEA68}"/>
              </a:ext>
            </a:extLst>
          </p:cNvPr>
          <p:cNvSpPr/>
          <p:nvPr/>
        </p:nvSpPr>
        <p:spPr>
          <a:xfrm>
            <a:off x="1143000" y="6286500"/>
            <a:ext cx="9906000" cy="4064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" name="BotTxt">
            <a:extLst>
              <a:ext uri="{FF2B5EF4-FFF2-40B4-BE49-F238E27FC236}">
                <a16:creationId xmlns:a16="http://schemas.microsoft.com/office/drawing/2014/main" id="{906B83E3-75F6-49F4-ABBB-CDECD1C490E1}"/>
              </a:ext>
            </a:extLst>
          </p:cNvPr>
          <p:cNvSpPr txBox="1"/>
          <p:nvPr/>
        </p:nvSpPr>
        <p:spPr>
          <a:xfrm>
            <a:off x="1270000" y="63881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i="1" dirty="0">
                <a:solidFill>
                  <a:srgbClr val="D6EAF8"/>
                </a:solidFill>
              </a:rPr>
              <a:t>Full implementation: Updated_Financial_AI_Robustness_Evaluation.ipynb and exported dissertation_outputs/ files.</a:t>
            </a:r>
          </a:p>
        </p:txBody>
      </p:sp>
    </p:spTree>
    <p:extLst>
      <p:ext uri="{BB962C8B-B14F-4D97-AF65-F5344CB8AC3E}">
        <p14:creationId xmlns:p14="http://schemas.microsoft.com/office/powerpoint/2010/main" val="2997230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5F2560C9-B13B-406E-B809-0801BA56FFCC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">
            <a:extLst>
              <a:ext uri="{FF2B5EF4-FFF2-40B4-BE49-F238E27FC236}">
                <a16:creationId xmlns:a16="http://schemas.microsoft.com/office/drawing/2014/main" id="{C54A016F-AA2B-4523-86E8-10EE52693F5A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33DF3A77-7B9B-4899-A118-7A57DF56A007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BkPill">
            <a:extLst>
              <a:ext uri="{FF2B5EF4-FFF2-40B4-BE49-F238E27FC236}">
                <a16:creationId xmlns:a16="http://schemas.microsoft.com/office/drawing/2014/main" id="{82191886-34DC-45DC-BDE8-632F03F8294E}"/>
              </a:ext>
            </a:extLst>
          </p:cNvPr>
          <p:cNvSpPr/>
          <p:nvPr/>
        </p:nvSpPr>
        <p:spPr>
          <a:xfrm>
            <a:off x="736600" y="457200"/>
            <a:ext cx="1143000" cy="3556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BkLbl">
            <a:extLst>
              <a:ext uri="{FF2B5EF4-FFF2-40B4-BE49-F238E27FC236}">
                <a16:creationId xmlns:a16="http://schemas.microsoft.com/office/drawing/2014/main" id="{6D20C228-E019-4625-A2F6-C0CAB9DCDB49}"/>
              </a:ext>
            </a:extLst>
          </p:cNvPr>
          <p:cNvSpPr txBox="1"/>
          <p:nvPr/>
        </p:nvSpPr>
        <p:spPr>
          <a:xfrm>
            <a:off x="736600" y="482600"/>
            <a:ext cx="114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spc="200" dirty="0">
                <a:solidFill>
                  <a:srgbClr val="0B1E3F"/>
                </a:solidFill>
              </a:rPr>
              <a:t>B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02FDD831-C56B-4438-883C-C3AA96E9A487}"/>
              </a:ext>
            </a:extLst>
          </p:cNvPr>
          <p:cNvSpPr txBox="1"/>
          <p:nvPr/>
        </p:nvSpPr>
        <p:spPr>
          <a:xfrm>
            <a:off x="2032000" y="457200"/>
            <a:ext cx="914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FFFF"/>
                </a:solidFill>
              </a:rPr>
              <a:t>Statistical depth · cyber scorecard</a:t>
            </a:r>
          </a:p>
        </p:txBody>
      </p:sp>
      <p:sp>
        <p:nvSpPr>
          <p:cNvPr id="8" name="Sub">
            <a:extLst>
              <a:ext uri="{FF2B5EF4-FFF2-40B4-BE49-F238E27FC236}">
                <a16:creationId xmlns:a16="http://schemas.microsoft.com/office/drawing/2014/main" id="{CB5E0470-C9BA-4968-A109-72EDDD65E97B}"/>
              </a:ext>
            </a:extLst>
          </p:cNvPr>
          <p:cNvSpPr txBox="1"/>
          <p:nvPr/>
        </p:nvSpPr>
        <p:spPr>
          <a:xfrm>
            <a:off x="2032000" y="1054100"/>
            <a:ext cx="914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D6EAF8"/>
                </a:solidFill>
              </a:rPr>
              <a:t>Confusion matrix, McNemar tests, five-layer resilience</a:t>
            </a:r>
          </a:p>
        </p:txBody>
      </p:sp>
      <p:sp>
        <p:nvSpPr>
          <p:cNvPr id="9" name="Div">
            <a:extLst>
              <a:ext uri="{FF2B5EF4-FFF2-40B4-BE49-F238E27FC236}">
                <a16:creationId xmlns:a16="http://schemas.microsoft.com/office/drawing/2014/main" id="{725E1DA9-BEA4-4142-A62A-C7183D4167A1}"/>
              </a:ext>
            </a:extLst>
          </p:cNvPr>
          <p:cNvSpPr/>
          <p:nvPr/>
        </p:nvSpPr>
        <p:spPr>
          <a:xfrm>
            <a:off x="2032000" y="148590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LBox">
            <a:extLst>
              <a:ext uri="{FF2B5EF4-FFF2-40B4-BE49-F238E27FC236}">
                <a16:creationId xmlns:a16="http://schemas.microsoft.com/office/drawing/2014/main" id="{3119F4B7-5C1D-4B6E-AA9B-F2F4D7C59E40}"/>
              </a:ext>
            </a:extLst>
          </p:cNvPr>
          <p:cNvSpPr/>
          <p:nvPr/>
        </p:nvSpPr>
        <p:spPr>
          <a:xfrm>
            <a:off x="1143000" y="1993900"/>
            <a:ext cx="4762500" cy="3937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LStrip">
            <a:extLst>
              <a:ext uri="{FF2B5EF4-FFF2-40B4-BE49-F238E27FC236}">
                <a16:creationId xmlns:a16="http://schemas.microsoft.com/office/drawing/2014/main" id="{40287315-7A74-4339-B0CB-0619B5E3096E}"/>
              </a:ext>
            </a:extLst>
          </p:cNvPr>
          <p:cNvSpPr/>
          <p:nvPr/>
        </p:nvSpPr>
        <p:spPr>
          <a:xfrm>
            <a:off x="1143000" y="1993900"/>
            <a:ext cx="47625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LHdr">
            <a:extLst>
              <a:ext uri="{FF2B5EF4-FFF2-40B4-BE49-F238E27FC236}">
                <a16:creationId xmlns:a16="http://schemas.microsoft.com/office/drawing/2014/main" id="{E2A2F2F1-0595-4721-B0C6-F752AC1E6266}"/>
              </a:ext>
            </a:extLst>
          </p:cNvPr>
          <p:cNvSpPr txBox="1"/>
          <p:nvPr/>
        </p:nvSpPr>
        <p:spPr>
          <a:xfrm>
            <a:off x="1397000" y="2247900"/>
            <a:ext cx="4254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00C2CC"/>
                </a:solidFill>
              </a:rPr>
              <a:t>LR confusion · McNemar tests</a:t>
            </a:r>
          </a:p>
        </p:txBody>
      </p:sp>
      <p:sp>
        <p:nvSpPr>
          <p:cNvPr id="13" name="LRTag">
            <a:extLst>
              <a:ext uri="{FF2B5EF4-FFF2-40B4-BE49-F238E27FC236}">
                <a16:creationId xmlns:a16="http://schemas.microsoft.com/office/drawing/2014/main" id="{8C1D7A4B-FD53-4967-9A76-70987CD7F79D}"/>
              </a:ext>
            </a:extLst>
          </p:cNvPr>
          <p:cNvSpPr txBox="1"/>
          <p:nvPr/>
        </p:nvSpPr>
        <p:spPr>
          <a:xfrm>
            <a:off x="1397000" y="26670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LR</a:t>
            </a:r>
          </a:p>
        </p:txBody>
      </p:sp>
      <p:sp>
        <p:nvSpPr>
          <p:cNvPr id="14" name="CMHdr0">
            <a:extLst>
              <a:ext uri="{FF2B5EF4-FFF2-40B4-BE49-F238E27FC236}">
                <a16:creationId xmlns:a16="http://schemas.microsoft.com/office/drawing/2014/main" id="{3DF3AEE2-4FDA-4484-9CCA-E66AF86EEE05}"/>
              </a:ext>
            </a:extLst>
          </p:cNvPr>
          <p:cNvSpPr txBox="1"/>
          <p:nvPr/>
        </p:nvSpPr>
        <p:spPr>
          <a:xfrm>
            <a:off x="2476500" y="26670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0C2CC"/>
                </a:solidFill>
              </a:rPr>
              <a:t>Pred 0</a:t>
            </a:r>
          </a:p>
        </p:txBody>
      </p:sp>
      <p:sp>
        <p:nvSpPr>
          <p:cNvPr id="15" name="CMHdr1">
            <a:extLst>
              <a:ext uri="{FF2B5EF4-FFF2-40B4-BE49-F238E27FC236}">
                <a16:creationId xmlns:a16="http://schemas.microsoft.com/office/drawing/2014/main" id="{555ED59F-4591-404D-A0EE-6279A8516E5B}"/>
              </a:ext>
            </a:extLst>
          </p:cNvPr>
          <p:cNvSpPr txBox="1"/>
          <p:nvPr/>
        </p:nvSpPr>
        <p:spPr>
          <a:xfrm>
            <a:off x="3619500" y="26670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0C2CC"/>
                </a:solidFill>
              </a:rPr>
              <a:t>Pred 1</a:t>
            </a:r>
          </a:p>
        </p:txBody>
      </p:sp>
      <p:sp>
        <p:nvSpPr>
          <p:cNvPr id="16" name="CMRow0">
            <a:extLst>
              <a:ext uri="{FF2B5EF4-FFF2-40B4-BE49-F238E27FC236}">
                <a16:creationId xmlns:a16="http://schemas.microsoft.com/office/drawing/2014/main" id="{267B8311-B247-4134-AFF2-06CDF5CD2445}"/>
              </a:ext>
            </a:extLst>
          </p:cNvPr>
          <p:cNvSpPr txBox="1"/>
          <p:nvPr/>
        </p:nvSpPr>
        <p:spPr>
          <a:xfrm>
            <a:off x="1397000" y="30480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D6EAF8"/>
                </a:solidFill>
              </a:rPr>
              <a:t>True 0</a:t>
            </a:r>
          </a:p>
        </p:txBody>
      </p:sp>
      <p:sp>
        <p:nvSpPr>
          <p:cNvPr id="17" name="CM0_0">
            <a:extLst>
              <a:ext uri="{FF2B5EF4-FFF2-40B4-BE49-F238E27FC236}">
                <a16:creationId xmlns:a16="http://schemas.microsoft.com/office/drawing/2014/main" id="{032ECE4B-CB84-43E6-8FDF-2849E1EE62E6}"/>
              </a:ext>
            </a:extLst>
          </p:cNvPr>
          <p:cNvSpPr txBox="1"/>
          <p:nvPr/>
        </p:nvSpPr>
        <p:spPr>
          <a:xfrm>
            <a:off x="2476500" y="30099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TN 1,744</a:t>
            </a:r>
          </a:p>
        </p:txBody>
      </p:sp>
      <p:sp>
        <p:nvSpPr>
          <p:cNvPr id="18" name="CM0_1">
            <a:extLst>
              <a:ext uri="{FF2B5EF4-FFF2-40B4-BE49-F238E27FC236}">
                <a16:creationId xmlns:a16="http://schemas.microsoft.com/office/drawing/2014/main" id="{DFC1114D-3414-4467-A4DF-7C968A3A1F1C}"/>
              </a:ext>
            </a:extLst>
          </p:cNvPr>
          <p:cNvSpPr txBox="1"/>
          <p:nvPr/>
        </p:nvSpPr>
        <p:spPr>
          <a:xfrm>
            <a:off x="3619500" y="30099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D6EAF8"/>
                </a:solidFill>
              </a:rPr>
              <a:t>FP 2,481</a:t>
            </a:r>
          </a:p>
        </p:txBody>
      </p:sp>
      <p:sp>
        <p:nvSpPr>
          <p:cNvPr id="19" name="CMRow1">
            <a:extLst>
              <a:ext uri="{FF2B5EF4-FFF2-40B4-BE49-F238E27FC236}">
                <a16:creationId xmlns:a16="http://schemas.microsoft.com/office/drawing/2014/main" id="{1DCE9276-F2C1-46F7-B4E9-E7483C7B024F}"/>
              </a:ext>
            </a:extLst>
          </p:cNvPr>
          <p:cNvSpPr txBox="1"/>
          <p:nvPr/>
        </p:nvSpPr>
        <p:spPr>
          <a:xfrm>
            <a:off x="1397000" y="34544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D6EAF8"/>
                </a:solidFill>
              </a:rPr>
              <a:t>True 1</a:t>
            </a:r>
          </a:p>
        </p:txBody>
      </p:sp>
      <p:sp>
        <p:nvSpPr>
          <p:cNvPr id="20" name="CM1_0">
            <a:extLst>
              <a:ext uri="{FF2B5EF4-FFF2-40B4-BE49-F238E27FC236}">
                <a16:creationId xmlns:a16="http://schemas.microsoft.com/office/drawing/2014/main" id="{FA10A8DB-6056-41E9-8187-5205A9A7D77D}"/>
              </a:ext>
            </a:extLst>
          </p:cNvPr>
          <p:cNvSpPr txBox="1"/>
          <p:nvPr/>
        </p:nvSpPr>
        <p:spPr>
          <a:xfrm>
            <a:off x="2476500" y="34163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D6EAF8"/>
                </a:solidFill>
              </a:rPr>
              <a:t>FN 261</a:t>
            </a:r>
          </a:p>
        </p:txBody>
      </p:sp>
      <p:sp>
        <p:nvSpPr>
          <p:cNvPr id="21" name="CM1_1">
            <a:extLst>
              <a:ext uri="{FF2B5EF4-FFF2-40B4-BE49-F238E27FC236}">
                <a16:creationId xmlns:a16="http://schemas.microsoft.com/office/drawing/2014/main" id="{69430256-8EEA-4440-A7B8-AB505E3AF596}"/>
              </a:ext>
            </a:extLst>
          </p:cNvPr>
          <p:cNvSpPr txBox="1"/>
          <p:nvPr/>
        </p:nvSpPr>
        <p:spPr>
          <a:xfrm>
            <a:off x="3619500" y="34163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00C2CC"/>
                </a:solidFill>
              </a:rPr>
              <a:t>TP 764</a:t>
            </a:r>
          </a:p>
        </p:txBody>
      </p:sp>
      <p:sp>
        <p:nvSpPr>
          <p:cNvPr id="22" name="McNDiv">
            <a:extLst>
              <a:ext uri="{FF2B5EF4-FFF2-40B4-BE49-F238E27FC236}">
                <a16:creationId xmlns:a16="http://schemas.microsoft.com/office/drawing/2014/main" id="{98220224-BC05-424C-9496-BC3F480E5B28}"/>
              </a:ext>
            </a:extLst>
          </p:cNvPr>
          <p:cNvSpPr/>
          <p:nvPr/>
        </p:nvSpPr>
        <p:spPr>
          <a:xfrm>
            <a:off x="1397000" y="3898900"/>
            <a:ext cx="4254500" cy="12700"/>
          </a:xfrm>
          <a:prstGeom prst="rect">
            <a:avLst/>
          </a:prstGeom>
          <a:solidFill>
            <a:srgbClr val="1A4A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McNHdr">
            <a:extLst>
              <a:ext uri="{FF2B5EF4-FFF2-40B4-BE49-F238E27FC236}">
                <a16:creationId xmlns:a16="http://schemas.microsoft.com/office/drawing/2014/main" id="{93196691-843C-4BC9-A31E-17140161FB5A}"/>
              </a:ext>
            </a:extLst>
          </p:cNvPr>
          <p:cNvSpPr txBox="1"/>
          <p:nvPr/>
        </p:nvSpPr>
        <p:spPr>
          <a:xfrm>
            <a:off x="1397000" y="4000500"/>
            <a:ext cx="4254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C2CC"/>
                </a:solidFill>
              </a:rPr>
              <a:t>McNemar pairwise tests</a:t>
            </a:r>
          </a:p>
        </p:txBody>
      </p:sp>
      <p:sp>
        <p:nvSpPr>
          <p:cNvPr id="24" name="McN1">
            <a:extLst>
              <a:ext uri="{FF2B5EF4-FFF2-40B4-BE49-F238E27FC236}">
                <a16:creationId xmlns:a16="http://schemas.microsoft.com/office/drawing/2014/main" id="{1B8BAE1B-AD97-4AE5-90F4-60181E5F4BB6}"/>
              </a:ext>
            </a:extLst>
          </p:cNvPr>
          <p:cNvSpPr txBox="1"/>
          <p:nvPr/>
        </p:nvSpPr>
        <p:spPr>
          <a:xfrm>
            <a:off x="1397000" y="4318000"/>
            <a:ext cx="4254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LR  vs  RF  ·  p = 5.6 × 10⁻²¹¹</a:t>
            </a:r>
          </a:p>
        </p:txBody>
      </p:sp>
      <p:sp>
        <p:nvSpPr>
          <p:cNvPr id="25" name="McN2">
            <a:extLst>
              <a:ext uri="{FF2B5EF4-FFF2-40B4-BE49-F238E27FC236}">
                <a16:creationId xmlns:a16="http://schemas.microsoft.com/office/drawing/2014/main" id="{09DA6534-1D97-4DE7-8620-4326A9313C82}"/>
              </a:ext>
            </a:extLst>
          </p:cNvPr>
          <p:cNvSpPr txBox="1"/>
          <p:nvPr/>
        </p:nvSpPr>
        <p:spPr>
          <a:xfrm>
            <a:off x="1397000" y="4572000"/>
            <a:ext cx="4254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LR  vs  GB  ·  p = 4.8 × 10⁻¹⁸¹</a:t>
            </a:r>
          </a:p>
        </p:txBody>
      </p:sp>
      <p:sp>
        <p:nvSpPr>
          <p:cNvPr id="26" name="McN3">
            <a:extLst>
              <a:ext uri="{FF2B5EF4-FFF2-40B4-BE49-F238E27FC236}">
                <a16:creationId xmlns:a16="http://schemas.microsoft.com/office/drawing/2014/main" id="{4B0B86A1-6B6E-4F18-92BF-1BE4CC3E4A60}"/>
              </a:ext>
            </a:extLst>
          </p:cNvPr>
          <p:cNvSpPr txBox="1"/>
          <p:nvPr/>
        </p:nvSpPr>
        <p:spPr>
          <a:xfrm>
            <a:off x="1397000" y="4826000"/>
            <a:ext cx="4254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RF  vs  GB  ·  p &lt; 1 × 10⁻⁵⁰</a:t>
            </a:r>
          </a:p>
        </p:txBody>
      </p:sp>
      <p:sp>
        <p:nvSpPr>
          <p:cNvPr id="27" name="McNNote">
            <a:extLst>
              <a:ext uri="{FF2B5EF4-FFF2-40B4-BE49-F238E27FC236}">
                <a16:creationId xmlns:a16="http://schemas.microsoft.com/office/drawing/2014/main" id="{4BE3D3CE-B982-41AF-8828-FE460DCF4DFE}"/>
              </a:ext>
            </a:extLst>
          </p:cNvPr>
          <p:cNvSpPr txBox="1"/>
          <p:nvPr/>
        </p:nvSpPr>
        <p:spPr>
          <a:xfrm>
            <a:off x="1397000" y="5232400"/>
            <a:ext cx="4254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i="1" dirty="0">
                <a:solidFill>
                  <a:srgbClr val="8FB7D6"/>
                </a:solidFill>
              </a:rPr>
              <a:t>Differences are not chance — LR's behaviour is statistically distinct from RF and GB.</a:t>
            </a:r>
          </a:p>
        </p:txBody>
      </p:sp>
      <p:sp>
        <p:nvSpPr>
          <p:cNvPr id="28" name="RBox">
            <a:extLst>
              <a:ext uri="{FF2B5EF4-FFF2-40B4-BE49-F238E27FC236}">
                <a16:creationId xmlns:a16="http://schemas.microsoft.com/office/drawing/2014/main" id="{B91320D3-5C91-4694-B53A-81BD85C94180}"/>
              </a:ext>
            </a:extLst>
          </p:cNvPr>
          <p:cNvSpPr/>
          <p:nvPr/>
        </p:nvSpPr>
        <p:spPr>
          <a:xfrm>
            <a:off x="6286500" y="1993900"/>
            <a:ext cx="4762500" cy="3937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" name="RStrip">
            <a:extLst>
              <a:ext uri="{FF2B5EF4-FFF2-40B4-BE49-F238E27FC236}">
                <a16:creationId xmlns:a16="http://schemas.microsoft.com/office/drawing/2014/main" id="{FDEF2C5E-00B7-4FCF-9373-24CD90BEB0F4}"/>
              </a:ext>
            </a:extLst>
          </p:cNvPr>
          <p:cNvSpPr/>
          <p:nvPr/>
        </p:nvSpPr>
        <p:spPr>
          <a:xfrm>
            <a:off x="6286500" y="1993900"/>
            <a:ext cx="47625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" name="RHdr">
            <a:extLst>
              <a:ext uri="{FF2B5EF4-FFF2-40B4-BE49-F238E27FC236}">
                <a16:creationId xmlns:a16="http://schemas.microsoft.com/office/drawing/2014/main" id="{9D59A791-6C91-41C7-B8BD-95DBCD63C0CD}"/>
              </a:ext>
            </a:extLst>
          </p:cNvPr>
          <p:cNvSpPr txBox="1"/>
          <p:nvPr/>
        </p:nvSpPr>
        <p:spPr>
          <a:xfrm>
            <a:off x="6540500" y="2247900"/>
            <a:ext cx="4254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00C2CC"/>
                </a:solidFill>
              </a:rPr>
              <a:t>5-layer cyber resilience scorecard</a:t>
            </a:r>
          </a:p>
        </p:txBody>
      </p:sp>
      <p:sp>
        <p:nvSpPr>
          <p:cNvPr id="31" name="LTag0">
            <a:extLst>
              <a:ext uri="{FF2B5EF4-FFF2-40B4-BE49-F238E27FC236}">
                <a16:creationId xmlns:a16="http://schemas.microsoft.com/office/drawing/2014/main" id="{AFEC7D14-27A8-41B2-922B-07AC35769720}"/>
              </a:ext>
            </a:extLst>
          </p:cNvPr>
          <p:cNvSpPr txBox="1"/>
          <p:nvPr/>
        </p:nvSpPr>
        <p:spPr>
          <a:xfrm>
            <a:off x="6540500" y="26924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C2CC"/>
                </a:solidFill>
              </a:rPr>
              <a:t>L1</a:t>
            </a:r>
          </a:p>
        </p:txBody>
      </p:sp>
      <p:sp>
        <p:nvSpPr>
          <p:cNvPr id="32" name="LName0">
            <a:extLst>
              <a:ext uri="{FF2B5EF4-FFF2-40B4-BE49-F238E27FC236}">
                <a16:creationId xmlns:a16="http://schemas.microsoft.com/office/drawing/2014/main" id="{4B165B14-AAE6-40E1-9084-E4435AB6C95E}"/>
              </a:ext>
            </a:extLst>
          </p:cNvPr>
          <p:cNvSpPr txBox="1"/>
          <p:nvPr/>
        </p:nvSpPr>
        <p:spPr>
          <a:xfrm>
            <a:off x="7112000" y="26924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Data Integrity</a:t>
            </a:r>
          </a:p>
        </p:txBody>
      </p:sp>
      <p:sp>
        <p:nvSpPr>
          <p:cNvPr id="33" name="LLR0">
            <a:extLst>
              <a:ext uri="{FF2B5EF4-FFF2-40B4-BE49-F238E27FC236}">
                <a16:creationId xmlns:a16="http://schemas.microsoft.com/office/drawing/2014/main" id="{08517957-B9CD-47D9-B9B9-EA2ACB3F7959}"/>
              </a:ext>
            </a:extLst>
          </p:cNvPr>
          <p:cNvSpPr txBox="1"/>
          <p:nvPr/>
        </p:nvSpPr>
        <p:spPr>
          <a:xfrm>
            <a:off x="9017000" y="26924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C2CC"/>
                </a:solidFill>
              </a:rPr>
              <a:t>LR Strong</a:t>
            </a:r>
          </a:p>
        </p:txBody>
      </p:sp>
      <p:sp>
        <p:nvSpPr>
          <p:cNvPr id="34" name="LRF0">
            <a:extLst>
              <a:ext uri="{FF2B5EF4-FFF2-40B4-BE49-F238E27FC236}">
                <a16:creationId xmlns:a16="http://schemas.microsoft.com/office/drawing/2014/main" id="{AC09BC64-B859-4641-9468-A71CD09F84FB}"/>
              </a:ext>
            </a:extLst>
          </p:cNvPr>
          <p:cNvSpPr txBox="1"/>
          <p:nvPr/>
        </p:nvSpPr>
        <p:spPr>
          <a:xfrm>
            <a:off x="10033000" y="26924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E07A7A"/>
                </a:solidFill>
              </a:rPr>
              <a:t>RF Weak</a:t>
            </a:r>
          </a:p>
        </p:txBody>
      </p:sp>
      <p:sp>
        <p:nvSpPr>
          <p:cNvPr id="35" name="LTag1">
            <a:extLst>
              <a:ext uri="{FF2B5EF4-FFF2-40B4-BE49-F238E27FC236}">
                <a16:creationId xmlns:a16="http://schemas.microsoft.com/office/drawing/2014/main" id="{1A936299-6952-4832-82CA-3783E3971346}"/>
              </a:ext>
            </a:extLst>
          </p:cNvPr>
          <p:cNvSpPr txBox="1"/>
          <p:nvPr/>
        </p:nvSpPr>
        <p:spPr>
          <a:xfrm>
            <a:off x="6540500" y="32258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C2CC"/>
                </a:solidFill>
              </a:rPr>
              <a:t>L2</a:t>
            </a:r>
          </a:p>
        </p:txBody>
      </p:sp>
      <p:sp>
        <p:nvSpPr>
          <p:cNvPr id="36" name="LName1">
            <a:extLst>
              <a:ext uri="{FF2B5EF4-FFF2-40B4-BE49-F238E27FC236}">
                <a16:creationId xmlns:a16="http://schemas.microsoft.com/office/drawing/2014/main" id="{24C421EF-911E-4E30-9DD2-EFB798C93ACD}"/>
              </a:ext>
            </a:extLst>
          </p:cNvPr>
          <p:cNvSpPr txBox="1"/>
          <p:nvPr/>
        </p:nvSpPr>
        <p:spPr>
          <a:xfrm>
            <a:off x="7112000" y="32258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Model Integrity</a:t>
            </a:r>
          </a:p>
        </p:txBody>
      </p:sp>
      <p:sp>
        <p:nvSpPr>
          <p:cNvPr id="37" name="LLR1">
            <a:extLst>
              <a:ext uri="{FF2B5EF4-FFF2-40B4-BE49-F238E27FC236}">
                <a16:creationId xmlns:a16="http://schemas.microsoft.com/office/drawing/2014/main" id="{5C9FC56B-060C-4AB0-9BE9-8C6C6DCA71A1}"/>
              </a:ext>
            </a:extLst>
          </p:cNvPr>
          <p:cNvSpPr txBox="1"/>
          <p:nvPr/>
        </p:nvSpPr>
        <p:spPr>
          <a:xfrm>
            <a:off x="9017000" y="32258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D6EAF8"/>
                </a:solidFill>
              </a:rPr>
              <a:t>LR Moderate</a:t>
            </a:r>
          </a:p>
        </p:txBody>
      </p:sp>
      <p:sp>
        <p:nvSpPr>
          <p:cNvPr id="38" name="LRF1">
            <a:extLst>
              <a:ext uri="{FF2B5EF4-FFF2-40B4-BE49-F238E27FC236}">
                <a16:creationId xmlns:a16="http://schemas.microsoft.com/office/drawing/2014/main" id="{288120AA-0217-4772-8E3D-5D932A211804}"/>
              </a:ext>
            </a:extLst>
          </p:cNvPr>
          <p:cNvSpPr txBox="1"/>
          <p:nvPr/>
        </p:nvSpPr>
        <p:spPr>
          <a:xfrm>
            <a:off x="10033000" y="32258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E07A7A"/>
                </a:solidFill>
              </a:rPr>
              <a:t>RF Mislead.</a:t>
            </a:r>
          </a:p>
        </p:txBody>
      </p:sp>
      <p:sp>
        <p:nvSpPr>
          <p:cNvPr id="39" name="LTag2">
            <a:extLst>
              <a:ext uri="{FF2B5EF4-FFF2-40B4-BE49-F238E27FC236}">
                <a16:creationId xmlns:a16="http://schemas.microsoft.com/office/drawing/2014/main" id="{83B9B2AA-BEE0-4923-87A2-BD15F44B6491}"/>
              </a:ext>
            </a:extLst>
          </p:cNvPr>
          <p:cNvSpPr txBox="1"/>
          <p:nvPr/>
        </p:nvSpPr>
        <p:spPr>
          <a:xfrm>
            <a:off x="6540500" y="37592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C2CC"/>
                </a:solidFill>
              </a:rPr>
              <a:t>L3</a:t>
            </a:r>
          </a:p>
        </p:txBody>
      </p:sp>
      <p:sp>
        <p:nvSpPr>
          <p:cNvPr id="40" name="LName2">
            <a:extLst>
              <a:ext uri="{FF2B5EF4-FFF2-40B4-BE49-F238E27FC236}">
                <a16:creationId xmlns:a16="http://schemas.microsoft.com/office/drawing/2014/main" id="{7844B091-0EA9-4116-AEC0-A14406171AA5}"/>
              </a:ext>
            </a:extLst>
          </p:cNvPr>
          <p:cNvSpPr txBox="1"/>
          <p:nvPr/>
        </p:nvSpPr>
        <p:spPr>
          <a:xfrm>
            <a:off x="7112000" y="37592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Detection</a:t>
            </a:r>
          </a:p>
        </p:txBody>
      </p:sp>
      <p:sp>
        <p:nvSpPr>
          <p:cNvPr id="41" name="LLR2">
            <a:extLst>
              <a:ext uri="{FF2B5EF4-FFF2-40B4-BE49-F238E27FC236}">
                <a16:creationId xmlns:a16="http://schemas.microsoft.com/office/drawing/2014/main" id="{7CA74A32-BCEF-4AD8-B631-FD9BE55E4312}"/>
              </a:ext>
            </a:extLst>
          </p:cNvPr>
          <p:cNvSpPr txBox="1"/>
          <p:nvPr/>
        </p:nvSpPr>
        <p:spPr>
          <a:xfrm>
            <a:off x="9017000" y="37592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C2CC"/>
                </a:solidFill>
              </a:rPr>
              <a:t>LR Strong</a:t>
            </a:r>
          </a:p>
        </p:txBody>
      </p:sp>
      <p:sp>
        <p:nvSpPr>
          <p:cNvPr id="42" name="LRF2">
            <a:extLst>
              <a:ext uri="{FF2B5EF4-FFF2-40B4-BE49-F238E27FC236}">
                <a16:creationId xmlns:a16="http://schemas.microsoft.com/office/drawing/2014/main" id="{88885DCB-DE41-45E4-93EB-8C1E09ADB1A7}"/>
              </a:ext>
            </a:extLst>
          </p:cNvPr>
          <p:cNvSpPr txBox="1"/>
          <p:nvPr/>
        </p:nvSpPr>
        <p:spPr>
          <a:xfrm>
            <a:off x="10033000" y="37592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E07A7A"/>
                </a:solidFill>
              </a:rPr>
              <a:t>RF Weak</a:t>
            </a:r>
          </a:p>
        </p:txBody>
      </p:sp>
      <p:sp>
        <p:nvSpPr>
          <p:cNvPr id="43" name="LTag3">
            <a:extLst>
              <a:ext uri="{FF2B5EF4-FFF2-40B4-BE49-F238E27FC236}">
                <a16:creationId xmlns:a16="http://schemas.microsoft.com/office/drawing/2014/main" id="{A068F937-80F4-4F83-8B2B-4DF67D512B01}"/>
              </a:ext>
            </a:extLst>
          </p:cNvPr>
          <p:cNvSpPr txBox="1"/>
          <p:nvPr/>
        </p:nvSpPr>
        <p:spPr>
          <a:xfrm>
            <a:off x="6540500" y="42926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C2CC"/>
                </a:solidFill>
              </a:rPr>
              <a:t>L4</a:t>
            </a:r>
          </a:p>
        </p:txBody>
      </p:sp>
      <p:sp>
        <p:nvSpPr>
          <p:cNvPr id="44" name="LName3">
            <a:extLst>
              <a:ext uri="{FF2B5EF4-FFF2-40B4-BE49-F238E27FC236}">
                <a16:creationId xmlns:a16="http://schemas.microsoft.com/office/drawing/2014/main" id="{354406D2-BEC6-42BE-B2A3-A48173EAF160}"/>
              </a:ext>
            </a:extLst>
          </p:cNvPr>
          <p:cNvSpPr txBox="1"/>
          <p:nvPr/>
        </p:nvSpPr>
        <p:spPr>
          <a:xfrm>
            <a:off x="7112000" y="42926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Explainability</a:t>
            </a:r>
          </a:p>
        </p:txBody>
      </p:sp>
      <p:sp>
        <p:nvSpPr>
          <p:cNvPr id="45" name="LLR3">
            <a:extLst>
              <a:ext uri="{FF2B5EF4-FFF2-40B4-BE49-F238E27FC236}">
                <a16:creationId xmlns:a16="http://schemas.microsoft.com/office/drawing/2014/main" id="{0F83834A-38C2-4E3D-B5DE-F292A229CF50}"/>
              </a:ext>
            </a:extLst>
          </p:cNvPr>
          <p:cNvSpPr txBox="1"/>
          <p:nvPr/>
        </p:nvSpPr>
        <p:spPr>
          <a:xfrm>
            <a:off x="9017000" y="42926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C2CC"/>
                </a:solidFill>
              </a:rPr>
              <a:t>LR Strong</a:t>
            </a:r>
          </a:p>
        </p:txBody>
      </p:sp>
      <p:sp>
        <p:nvSpPr>
          <p:cNvPr id="46" name="LRF3">
            <a:extLst>
              <a:ext uri="{FF2B5EF4-FFF2-40B4-BE49-F238E27FC236}">
                <a16:creationId xmlns:a16="http://schemas.microsoft.com/office/drawing/2014/main" id="{DDF7542D-1A8E-4482-94B8-7F7CF5DE5265}"/>
              </a:ext>
            </a:extLst>
          </p:cNvPr>
          <p:cNvSpPr txBox="1"/>
          <p:nvPr/>
        </p:nvSpPr>
        <p:spPr>
          <a:xfrm>
            <a:off x="10033000" y="42926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D6EAF8"/>
                </a:solidFill>
              </a:rPr>
              <a:t>RF Moderate</a:t>
            </a:r>
          </a:p>
        </p:txBody>
      </p:sp>
      <p:sp>
        <p:nvSpPr>
          <p:cNvPr id="47" name="LTag4">
            <a:extLst>
              <a:ext uri="{FF2B5EF4-FFF2-40B4-BE49-F238E27FC236}">
                <a16:creationId xmlns:a16="http://schemas.microsoft.com/office/drawing/2014/main" id="{A7D9E414-5375-49D5-B933-516988EC2762}"/>
              </a:ext>
            </a:extLst>
          </p:cNvPr>
          <p:cNvSpPr txBox="1"/>
          <p:nvPr/>
        </p:nvSpPr>
        <p:spPr>
          <a:xfrm>
            <a:off x="6540500" y="48260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C2CC"/>
                </a:solidFill>
              </a:rPr>
              <a:t>L5</a:t>
            </a:r>
          </a:p>
        </p:txBody>
      </p:sp>
      <p:sp>
        <p:nvSpPr>
          <p:cNvPr id="48" name="LName4">
            <a:extLst>
              <a:ext uri="{FF2B5EF4-FFF2-40B4-BE49-F238E27FC236}">
                <a16:creationId xmlns:a16="http://schemas.microsoft.com/office/drawing/2014/main" id="{05940552-4500-44A5-A033-839784BEBC41}"/>
              </a:ext>
            </a:extLst>
          </p:cNvPr>
          <p:cNvSpPr txBox="1"/>
          <p:nvPr/>
        </p:nvSpPr>
        <p:spPr>
          <a:xfrm>
            <a:off x="7112000" y="48260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D6EAF8"/>
                </a:solidFill>
              </a:rPr>
              <a:t>Recovery</a:t>
            </a:r>
          </a:p>
        </p:txBody>
      </p:sp>
      <p:sp>
        <p:nvSpPr>
          <p:cNvPr id="49" name="LLR4">
            <a:extLst>
              <a:ext uri="{FF2B5EF4-FFF2-40B4-BE49-F238E27FC236}">
                <a16:creationId xmlns:a16="http://schemas.microsoft.com/office/drawing/2014/main" id="{B36CFC27-D99B-49C7-9514-9E749F5070A5}"/>
              </a:ext>
            </a:extLst>
          </p:cNvPr>
          <p:cNvSpPr txBox="1"/>
          <p:nvPr/>
        </p:nvSpPr>
        <p:spPr>
          <a:xfrm>
            <a:off x="9017000" y="48260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D6EAF8"/>
                </a:solidFill>
              </a:rPr>
              <a:t>LR Moderate</a:t>
            </a:r>
          </a:p>
        </p:txBody>
      </p:sp>
      <p:sp>
        <p:nvSpPr>
          <p:cNvPr id="50" name="LRF4">
            <a:extLst>
              <a:ext uri="{FF2B5EF4-FFF2-40B4-BE49-F238E27FC236}">
                <a16:creationId xmlns:a16="http://schemas.microsoft.com/office/drawing/2014/main" id="{4582D54E-BC0C-4B01-A6D9-D8F2D75D9B5E}"/>
              </a:ext>
            </a:extLst>
          </p:cNvPr>
          <p:cNvSpPr txBox="1"/>
          <p:nvPr/>
        </p:nvSpPr>
        <p:spPr>
          <a:xfrm>
            <a:off x="10033000" y="4826000"/>
            <a:ext cx="952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E07A7A"/>
                </a:solidFill>
              </a:rPr>
              <a:t>RF Weak</a:t>
            </a:r>
          </a:p>
        </p:txBody>
      </p:sp>
      <p:sp>
        <p:nvSpPr>
          <p:cNvPr id="51" name="BotBg">
            <a:extLst>
              <a:ext uri="{FF2B5EF4-FFF2-40B4-BE49-F238E27FC236}">
                <a16:creationId xmlns:a16="http://schemas.microsoft.com/office/drawing/2014/main" id="{B68AFBF4-B24B-48A1-8EEB-4134FE661DAA}"/>
              </a:ext>
            </a:extLst>
          </p:cNvPr>
          <p:cNvSpPr/>
          <p:nvPr/>
        </p:nvSpPr>
        <p:spPr>
          <a:xfrm>
            <a:off x="1143000" y="6324600"/>
            <a:ext cx="9906000" cy="3810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" name="BotTxt">
            <a:extLst>
              <a:ext uri="{FF2B5EF4-FFF2-40B4-BE49-F238E27FC236}">
                <a16:creationId xmlns:a16="http://schemas.microsoft.com/office/drawing/2014/main" id="{FB1BED64-E8AC-4C3B-82A7-B023B5B18870}"/>
              </a:ext>
            </a:extLst>
          </p:cNvPr>
          <p:cNvSpPr txBox="1"/>
          <p:nvPr/>
        </p:nvSpPr>
        <p:spPr>
          <a:xfrm>
            <a:off x="1270000" y="64262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Time-to-Detect — LR detects 84.0% of 343 drawdown episodes with mean lead 4.44 rows; RF detects 0.6%.</a:t>
            </a:r>
          </a:p>
        </p:txBody>
      </p:sp>
    </p:spTree>
    <p:extLst>
      <p:ext uri="{BB962C8B-B14F-4D97-AF65-F5344CB8AC3E}">
        <p14:creationId xmlns:p14="http://schemas.microsoft.com/office/powerpoint/2010/main" val="2096121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E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">
            <a:extLst>
              <a:ext uri="{FF2B5EF4-FFF2-40B4-BE49-F238E27FC236}">
                <a16:creationId xmlns:a16="http://schemas.microsoft.com/office/drawing/2014/main" id="{0665E2CD-2D1D-4A8B-B5C0-101C51EDB3EA}"/>
              </a:ext>
            </a:extLst>
          </p:cNvPr>
          <p:cNvSpPr/>
          <p:nvPr/>
        </p:nvSpPr>
        <p:spPr>
          <a:xfrm>
            <a:off x="0" y="0"/>
            <a:ext cx="736600" cy="6858000"/>
          </a:xfrm>
          <a:prstGeom prst="rect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AC">
            <a:extLst>
              <a:ext uri="{FF2B5EF4-FFF2-40B4-BE49-F238E27FC236}">
                <a16:creationId xmlns:a16="http://schemas.microsoft.com/office/drawing/2014/main" id="{8CE3199A-104E-4A80-94CA-4F10D4E0983F}"/>
              </a:ext>
            </a:extLst>
          </p:cNvPr>
          <p:cNvSpPr/>
          <p:nvPr/>
        </p:nvSpPr>
        <p:spPr>
          <a:xfrm>
            <a:off x="9753600" y="3898900"/>
            <a:ext cx="3048000" cy="3048000"/>
          </a:xfrm>
          <a:prstGeom prst="ellipse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CC">
            <a:extLst>
              <a:ext uri="{FF2B5EF4-FFF2-40B4-BE49-F238E27FC236}">
                <a16:creationId xmlns:a16="http://schemas.microsoft.com/office/drawing/2014/main" id="{5E5F27DC-50B4-4844-9F8F-EBBC5D510A92}"/>
              </a:ext>
            </a:extLst>
          </p:cNvPr>
          <p:cNvSpPr/>
          <p:nvPr/>
        </p:nvSpPr>
        <p:spPr>
          <a:xfrm>
            <a:off x="9144000" y="-977900"/>
            <a:ext cx="4876800" cy="4876800"/>
          </a:xfrm>
          <a:prstGeom prst="ellipse">
            <a:avLst/>
          </a:prstGeom>
          <a:solidFill>
            <a:srgbClr val="0A6E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BkPill">
            <a:extLst>
              <a:ext uri="{FF2B5EF4-FFF2-40B4-BE49-F238E27FC236}">
                <a16:creationId xmlns:a16="http://schemas.microsoft.com/office/drawing/2014/main" id="{D26753E2-F55C-40CA-9992-8870052F28F7}"/>
              </a:ext>
            </a:extLst>
          </p:cNvPr>
          <p:cNvSpPr/>
          <p:nvPr/>
        </p:nvSpPr>
        <p:spPr>
          <a:xfrm>
            <a:off x="736600" y="457200"/>
            <a:ext cx="1143000" cy="3556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BkLbl">
            <a:extLst>
              <a:ext uri="{FF2B5EF4-FFF2-40B4-BE49-F238E27FC236}">
                <a16:creationId xmlns:a16="http://schemas.microsoft.com/office/drawing/2014/main" id="{2C33C651-D148-4059-A963-6B26F7EA12C0}"/>
              </a:ext>
            </a:extLst>
          </p:cNvPr>
          <p:cNvSpPr txBox="1"/>
          <p:nvPr/>
        </p:nvSpPr>
        <p:spPr>
          <a:xfrm>
            <a:off x="736600" y="482600"/>
            <a:ext cx="114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B1E3F"/>
                </a:solidFill>
              </a:rPr>
              <a:t>C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F9113E4A-BCCB-417A-B6C6-38D8B92D669C}"/>
              </a:ext>
            </a:extLst>
          </p:cNvPr>
          <p:cNvSpPr txBox="1"/>
          <p:nvPr/>
        </p:nvSpPr>
        <p:spPr>
          <a:xfrm>
            <a:off x="2032000" y="457200"/>
            <a:ext cx="914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FFFFFF"/>
                </a:solidFill>
              </a:rPr>
              <a:t>References &amp; data sources</a:t>
            </a:r>
          </a:p>
        </p:txBody>
      </p:sp>
      <p:sp>
        <p:nvSpPr>
          <p:cNvPr id="8" name="Sub">
            <a:extLst>
              <a:ext uri="{FF2B5EF4-FFF2-40B4-BE49-F238E27FC236}">
                <a16:creationId xmlns:a16="http://schemas.microsoft.com/office/drawing/2014/main" id="{2E2FAB25-0FC0-43BB-AE9B-00AA77E11EE6}"/>
              </a:ext>
            </a:extLst>
          </p:cNvPr>
          <p:cNvSpPr txBox="1"/>
          <p:nvPr/>
        </p:nvSpPr>
        <p:spPr>
          <a:xfrm>
            <a:off x="2032000" y="1054100"/>
            <a:ext cx="914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D6EAF8"/>
                </a:solidFill>
              </a:rPr>
              <a:t>Foundations underpinning every claim in this deck</a:t>
            </a:r>
          </a:p>
        </p:txBody>
      </p:sp>
      <p:sp>
        <p:nvSpPr>
          <p:cNvPr id="9" name="Div">
            <a:extLst>
              <a:ext uri="{FF2B5EF4-FFF2-40B4-BE49-F238E27FC236}">
                <a16:creationId xmlns:a16="http://schemas.microsoft.com/office/drawing/2014/main" id="{53FB03FD-1F39-4166-AD88-C33AF5FAE4E4}"/>
              </a:ext>
            </a:extLst>
          </p:cNvPr>
          <p:cNvSpPr/>
          <p:nvPr/>
        </p:nvSpPr>
        <p:spPr>
          <a:xfrm>
            <a:off x="2032000" y="1485900"/>
            <a:ext cx="1270000" cy="381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Card0">
            <a:extLst>
              <a:ext uri="{FF2B5EF4-FFF2-40B4-BE49-F238E27FC236}">
                <a16:creationId xmlns:a16="http://schemas.microsoft.com/office/drawing/2014/main" id="{9710A587-252B-465B-92FA-739161530292}"/>
              </a:ext>
            </a:extLst>
          </p:cNvPr>
          <p:cNvSpPr/>
          <p:nvPr/>
        </p:nvSpPr>
        <p:spPr>
          <a:xfrm>
            <a:off x="1143000" y="1993900"/>
            <a:ext cx="4889500" cy="19685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Strip0">
            <a:extLst>
              <a:ext uri="{FF2B5EF4-FFF2-40B4-BE49-F238E27FC236}">
                <a16:creationId xmlns:a16="http://schemas.microsoft.com/office/drawing/2014/main" id="{E0D23F0B-414A-45B0-823B-6A57C6A948A3}"/>
              </a:ext>
            </a:extLst>
          </p:cNvPr>
          <p:cNvSpPr/>
          <p:nvPr/>
        </p:nvSpPr>
        <p:spPr>
          <a:xfrm>
            <a:off x="1143000" y="1993900"/>
            <a:ext cx="48895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Hdr0">
            <a:extLst>
              <a:ext uri="{FF2B5EF4-FFF2-40B4-BE49-F238E27FC236}">
                <a16:creationId xmlns:a16="http://schemas.microsoft.com/office/drawing/2014/main" id="{50F61D6F-8FB1-41F1-B1CB-B3E9881A460F}"/>
              </a:ext>
            </a:extLst>
          </p:cNvPr>
          <p:cNvSpPr txBox="1"/>
          <p:nvPr/>
        </p:nvSpPr>
        <p:spPr>
          <a:xfrm>
            <a:off x="1371600" y="2222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C2CC"/>
                </a:solidFill>
              </a:rPr>
              <a:t>Methods &amp; machine learning</a:t>
            </a:r>
          </a:p>
        </p:txBody>
      </p:sp>
      <p:sp>
        <p:nvSpPr>
          <p:cNvPr id="13" name="Lst0">
            <a:extLst>
              <a:ext uri="{FF2B5EF4-FFF2-40B4-BE49-F238E27FC236}">
                <a16:creationId xmlns:a16="http://schemas.microsoft.com/office/drawing/2014/main" id="{F8C97B09-F54E-4CF1-B53E-1664280BE16D}"/>
              </a:ext>
            </a:extLst>
          </p:cNvPr>
          <p:cNvSpPr txBox="1"/>
          <p:nvPr/>
        </p:nvSpPr>
        <p:spPr>
          <a:xfrm>
            <a:off x="1371600" y="2552700"/>
            <a:ext cx="45720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Breiman (2001) — Random Forests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Chen &amp; Guestrin (2016) — XGBoost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Lundberg &amp; Lee (2017) — SHAP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Goodfellow et al. (2015) — FGSM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Gama et al. (2014) — concept drift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Chandola et al. (2009) — anomaly survey</a:t>
            </a:r>
          </a:p>
        </p:txBody>
      </p:sp>
      <p:sp>
        <p:nvSpPr>
          <p:cNvPr id="14" name="Card1">
            <a:extLst>
              <a:ext uri="{FF2B5EF4-FFF2-40B4-BE49-F238E27FC236}">
                <a16:creationId xmlns:a16="http://schemas.microsoft.com/office/drawing/2014/main" id="{4AD81E06-4A67-4C91-A40E-A454C132A8E5}"/>
              </a:ext>
            </a:extLst>
          </p:cNvPr>
          <p:cNvSpPr/>
          <p:nvPr/>
        </p:nvSpPr>
        <p:spPr>
          <a:xfrm>
            <a:off x="6286500" y="1993900"/>
            <a:ext cx="4889500" cy="19685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Strip1">
            <a:extLst>
              <a:ext uri="{FF2B5EF4-FFF2-40B4-BE49-F238E27FC236}">
                <a16:creationId xmlns:a16="http://schemas.microsoft.com/office/drawing/2014/main" id="{4889F30B-94FD-4D79-89B6-323CB47AA4CD}"/>
              </a:ext>
            </a:extLst>
          </p:cNvPr>
          <p:cNvSpPr/>
          <p:nvPr/>
        </p:nvSpPr>
        <p:spPr>
          <a:xfrm>
            <a:off x="6286500" y="1993900"/>
            <a:ext cx="48895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Hdr1">
            <a:extLst>
              <a:ext uri="{FF2B5EF4-FFF2-40B4-BE49-F238E27FC236}">
                <a16:creationId xmlns:a16="http://schemas.microsoft.com/office/drawing/2014/main" id="{0D4EC748-D187-489E-B8F2-399868166B5A}"/>
              </a:ext>
            </a:extLst>
          </p:cNvPr>
          <p:cNvSpPr txBox="1"/>
          <p:nvPr/>
        </p:nvSpPr>
        <p:spPr>
          <a:xfrm>
            <a:off x="6515100" y="2222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C2CC"/>
                </a:solidFill>
              </a:rPr>
              <a:t>Finance &amp; quantitative ML</a:t>
            </a:r>
          </a:p>
        </p:txBody>
      </p:sp>
      <p:sp>
        <p:nvSpPr>
          <p:cNvPr id="17" name="Lst1">
            <a:extLst>
              <a:ext uri="{FF2B5EF4-FFF2-40B4-BE49-F238E27FC236}">
                <a16:creationId xmlns:a16="http://schemas.microsoft.com/office/drawing/2014/main" id="{76FDC733-CE63-48CB-9923-934C5B0C96C1}"/>
              </a:ext>
            </a:extLst>
          </p:cNvPr>
          <p:cNvSpPr txBox="1"/>
          <p:nvPr/>
        </p:nvSpPr>
        <p:spPr>
          <a:xfrm>
            <a:off x="6515100" y="2552700"/>
            <a:ext cx="45720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Lopez de Prado (2018) — Financial ML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Cartea, Jaimungal &amp; Penalva (2015)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Bergmeir &amp; Benítez (2012) — time-series CV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Gu, Kelly &amp; Xiu (2020) — empirical AP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Feng et al. (2019) — adv. stock prediction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Gallagher et al. (2022) — ML attacks on TS</a:t>
            </a:r>
          </a:p>
        </p:txBody>
      </p:sp>
      <p:sp>
        <p:nvSpPr>
          <p:cNvPr id="18" name="Card2">
            <a:extLst>
              <a:ext uri="{FF2B5EF4-FFF2-40B4-BE49-F238E27FC236}">
                <a16:creationId xmlns:a16="http://schemas.microsoft.com/office/drawing/2014/main" id="{705D623B-22C1-4076-B361-75865769F6AE}"/>
              </a:ext>
            </a:extLst>
          </p:cNvPr>
          <p:cNvSpPr/>
          <p:nvPr/>
        </p:nvSpPr>
        <p:spPr>
          <a:xfrm>
            <a:off x="1143000" y="4152900"/>
            <a:ext cx="4889500" cy="19685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Strip2">
            <a:extLst>
              <a:ext uri="{FF2B5EF4-FFF2-40B4-BE49-F238E27FC236}">
                <a16:creationId xmlns:a16="http://schemas.microsoft.com/office/drawing/2014/main" id="{EBA87BEE-07EA-4532-B6AB-DF1BB96A0476}"/>
              </a:ext>
            </a:extLst>
          </p:cNvPr>
          <p:cNvSpPr/>
          <p:nvPr/>
        </p:nvSpPr>
        <p:spPr>
          <a:xfrm>
            <a:off x="1143000" y="4152900"/>
            <a:ext cx="48895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Hdr2">
            <a:extLst>
              <a:ext uri="{FF2B5EF4-FFF2-40B4-BE49-F238E27FC236}">
                <a16:creationId xmlns:a16="http://schemas.microsoft.com/office/drawing/2014/main" id="{3DAD0BE3-CFCE-4D95-86A7-0BEF47A5CBE8}"/>
              </a:ext>
            </a:extLst>
          </p:cNvPr>
          <p:cNvSpPr txBox="1"/>
          <p:nvPr/>
        </p:nvSpPr>
        <p:spPr>
          <a:xfrm>
            <a:off x="1371600" y="4381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C2CC"/>
                </a:solidFill>
              </a:rPr>
              <a:t>Regulation &amp; governance</a:t>
            </a:r>
          </a:p>
        </p:txBody>
      </p:sp>
      <p:sp>
        <p:nvSpPr>
          <p:cNvPr id="21" name="Lst2">
            <a:extLst>
              <a:ext uri="{FF2B5EF4-FFF2-40B4-BE49-F238E27FC236}">
                <a16:creationId xmlns:a16="http://schemas.microsoft.com/office/drawing/2014/main" id="{7B4C98D9-9437-4420-8CFC-0B12EFA29169}"/>
              </a:ext>
            </a:extLst>
          </p:cNvPr>
          <p:cNvSpPr txBox="1"/>
          <p:nvPr/>
        </p:nvSpPr>
        <p:spPr>
          <a:xfrm>
            <a:off x="1371600" y="4711700"/>
            <a:ext cx="45720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BIS WP 1194 — Aldasoro et al. (2024)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FSB (2024) — FS implications of AI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Bank of England (2025) — AI in finance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FCA (2023) FS23/6 — AI &amp; ML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EU AI Act — Reg. (EU) 2024/1689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Fed / OCC SR 11-7 (2011) — Model risk</a:t>
            </a:r>
          </a:p>
        </p:txBody>
      </p:sp>
      <p:sp>
        <p:nvSpPr>
          <p:cNvPr id="22" name="Card3">
            <a:extLst>
              <a:ext uri="{FF2B5EF4-FFF2-40B4-BE49-F238E27FC236}">
                <a16:creationId xmlns:a16="http://schemas.microsoft.com/office/drawing/2014/main" id="{0E04D84F-55B1-4DA0-882E-613CCBC5942F}"/>
              </a:ext>
            </a:extLst>
          </p:cNvPr>
          <p:cNvSpPr/>
          <p:nvPr/>
        </p:nvSpPr>
        <p:spPr>
          <a:xfrm>
            <a:off x="6286500" y="4152900"/>
            <a:ext cx="4889500" cy="1968500"/>
          </a:xfrm>
          <a:prstGeom prst="rect">
            <a:avLst/>
          </a:prstGeom>
          <a:solidFill>
            <a:srgbClr val="102C56"/>
          </a:solidFill>
          <a:ln w="12700" cap="flat" cmpd="sng" algn="ctr">
            <a:solidFill>
              <a:srgbClr val="00C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Strip3">
            <a:extLst>
              <a:ext uri="{FF2B5EF4-FFF2-40B4-BE49-F238E27FC236}">
                <a16:creationId xmlns:a16="http://schemas.microsoft.com/office/drawing/2014/main" id="{C1C27F96-532A-4917-B07B-0247DD914E11}"/>
              </a:ext>
            </a:extLst>
          </p:cNvPr>
          <p:cNvSpPr/>
          <p:nvPr/>
        </p:nvSpPr>
        <p:spPr>
          <a:xfrm>
            <a:off x="6286500" y="4152900"/>
            <a:ext cx="4889500" cy="762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" name="Hdr3">
            <a:extLst>
              <a:ext uri="{FF2B5EF4-FFF2-40B4-BE49-F238E27FC236}">
                <a16:creationId xmlns:a16="http://schemas.microsoft.com/office/drawing/2014/main" id="{CE7CFD25-CEE6-42D1-BEB9-1DC0068BB1DB}"/>
              </a:ext>
            </a:extLst>
          </p:cNvPr>
          <p:cNvSpPr txBox="1"/>
          <p:nvPr/>
        </p:nvSpPr>
        <p:spPr>
          <a:xfrm>
            <a:off x="6515100" y="4381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C2CC"/>
                </a:solidFill>
              </a:rPr>
              <a:t>Incidents &amp; data</a:t>
            </a:r>
          </a:p>
        </p:txBody>
      </p:sp>
      <p:sp>
        <p:nvSpPr>
          <p:cNvPr id="25" name="Lst3">
            <a:extLst>
              <a:ext uri="{FF2B5EF4-FFF2-40B4-BE49-F238E27FC236}">
                <a16:creationId xmlns:a16="http://schemas.microsoft.com/office/drawing/2014/main" id="{33CF3E7F-8A80-4D5D-8781-FCBFB1E80F6C}"/>
              </a:ext>
            </a:extLst>
          </p:cNvPr>
          <p:cNvSpPr txBox="1"/>
          <p:nvPr/>
        </p:nvSpPr>
        <p:spPr>
          <a:xfrm>
            <a:off x="6515100" y="4711700"/>
            <a:ext cx="45720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SEC / CFTC (2010) — Flash Crash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SEC (2013) — Knight Capital incident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Danielsson et al. (2022) — systemic AI risk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Data: Yahoo Finance, 2010–2024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10 equities + indices; OHLCV daily</a:t>
            </a:r>
          </a:p>
          <a:p>
            <a:pPr>
              <a:buNone/>
            </a:pPr>
            <a:r>
              <a:rPr lang="en-US" sz="1100" dirty="0">
                <a:solidFill>
                  <a:srgbClr val="D6EAF8"/>
                </a:solidFill>
              </a:rPr>
              <a:t>•  15 engineered features, binary target</a:t>
            </a:r>
          </a:p>
        </p:txBody>
      </p:sp>
      <p:sp>
        <p:nvSpPr>
          <p:cNvPr id="26" name="BotBg">
            <a:extLst>
              <a:ext uri="{FF2B5EF4-FFF2-40B4-BE49-F238E27FC236}">
                <a16:creationId xmlns:a16="http://schemas.microsoft.com/office/drawing/2014/main" id="{EBC76E11-AF02-4D83-8EE4-D13A189C1A37}"/>
              </a:ext>
            </a:extLst>
          </p:cNvPr>
          <p:cNvSpPr/>
          <p:nvPr/>
        </p:nvSpPr>
        <p:spPr>
          <a:xfrm>
            <a:off x="1143000" y="6604000"/>
            <a:ext cx="9906000" cy="254000"/>
          </a:xfrm>
          <a:prstGeom prst="rect">
            <a:avLst/>
          </a:prstGeom>
          <a:solidFill>
            <a:srgbClr val="00C2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" name="BotTxt">
            <a:extLst>
              <a:ext uri="{FF2B5EF4-FFF2-40B4-BE49-F238E27FC236}">
                <a16:creationId xmlns:a16="http://schemas.microsoft.com/office/drawing/2014/main" id="{0429BE5B-1FCF-45CA-A5EF-F495CB6CB204}"/>
              </a:ext>
            </a:extLst>
          </p:cNvPr>
          <p:cNvSpPr txBox="1"/>
          <p:nvPr/>
        </p:nvSpPr>
        <p:spPr>
          <a:xfrm>
            <a:off x="1270000" y="6604000"/>
            <a:ext cx="965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B1E3F"/>
                </a:solidFill>
              </a:rPr>
              <a:t>Full reference list (63 sources) in the dissertation document  ·  Ethics: low-risk secondary-data study, no participants</a:t>
            </a:r>
          </a:p>
        </p:txBody>
      </p:sp>
    </p:spTree>
    <p:extLst>
      <p:ext uri="{BB962C8B-B14F-4D97-AF65-F5344CB8AC3E}">
        <p14:creationId xmlns:p14="http://schemas.microsoft.com/office/powerpoint/2010/main" val="64799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5196425-05b0-4f90-8437-f0126940faa1}">
  <we:reference id="WA200010001" version="1.0.0.1" store="en-US" storeType="OMEX"/>
  <we:alternateReferences/>
  <we:properties>
    <we:property name="Microsoft.Office.CampaignId" value="&quot;none&quot;"/>
    <we:property name="claude.fileId" value="&quot;dc02c49d-1c45-408c-b5e6-d2b9996496b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4020</TotalTime>
  <Words>2316</Words>
  <Application>Microsoft Office PowerPoint</Application>
  <PresentationFormat>Widescreen</PresentationFormat>
  <Paragraphs>482</Paragraphs>
  <Slides>18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priyanka.p.sharma</cp:lastModifiedBy>
  <cp:revision>15</cp:revision>
  <dcterms:created xsi:type="dcterms:W3CDTF">2018-06-07T21:39:02Z</dcterms:created>
  <dcterms:modified xsi:type="dcterms:W3CDTF">2026-05-21T07:43:41Z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